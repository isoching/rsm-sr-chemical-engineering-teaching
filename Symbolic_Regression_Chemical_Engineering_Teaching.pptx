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74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0888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This lecture introduces symbolic regression as a surrogate-modelling method for undergraduate chemical engineers. The central objective is not to obtain an attractive equation: it is to construct an approximation that is accurate enough within a defined operating domain to support engineering calculations and decisions. The lecture progresses from the engineering need to expression search, then a reproducible mathematical example, and finally an illustrative hybrid chemical-process model. Explain at the outset that the Peaks results are computed results from a finite-library experiment, whereas the electrolyser relation is deliberately specified for teaching and is not an industrial fit. The presentation contains editable Office Math equations and native diagram shapes. Expanded explanations, caveats and prompts appear in these speaker notes.</a:t>
            </a:r>
          </a:p>
          <a:p>
            <a:endParaRPr/>
          </a:p>
          <a:p>
            <a:r>
              <a:t>SOURCES</a:t>
            </a:r>
          </a:p>
          <a:p>
            <a:r>
              <a:t>[1] Cranmer, M. (2023). Interpretable Machine Learning for Science with PySR and SymbolicRegression.jl. arXiv:2305.01582.</a:t>
            </a:r>
          </a:p>
          <a:p>
            <a:r>
              <a:t>https://arxiv.org/abs/2305.01582</a:t>
            </a:r>
          </a:p>
          <a:p>
            <a:r>
              <a:t>[8] IDAES documentation. ALAMOPY: ALAMO Python — algebraic surrogate modelling.</a:t>
            </a:r>
          </a:p>
          <a:p>
            <a:r>
              <a:t>https://idaes-pse.readthedocs.io/en/stable/explanations/modeling_extensions/surrogate/api/alamopy/index.html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prerequisite knowledge is basic calculus, least-squares regression and material balances. No previous knowledge of genetic programming is assumed. By the end, students should be able to specify an input–output surrogate task, distinguish structure search from parameter estimation, and explain why an impressive test score alone is insufficient for engineering deployment. The chemical example is intentionally modular: a learnt or assumed unit relationship is combined with exact balances rather than treating an entire plant as an unconstrained black box. Suggested teaching format: pause at the two knowledge checks and ask students to explain their answer before showing the answer in the notes. The material can be taught in two sessions by pausing after the Peaks case.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This distinction is essential. The Peaks benchmark is reproduced using the accompanying numerical script. Its dictionary deliberately includes the generating terms of the target function. It therefore demonstrates restricted symbolic model selection, not a fair comparison of unrestricted genetic-programming algorithms. In the chemical case, all voltage coefficients and the fixed Faradaic efficiency are assumptions chosen to expose engineering trade-offs. The resulting area and power values are consequences of those assumptions, not measurements and not predictions validated against an electrolyser. Likewise, the recycle example assumes a fixed single-pass conversion and ideal product removal. A real green-methanol study would require validated unit models, a complete process model and independent data or high-fidelity verification.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First specify a decision rather than immediately selecting a machine-learning algorithm. The vector x contains independent operating choices: j is current density, WE denotes water electrolysis and R denotes the methanol reactor. The full simulator may solve material and energy balances, reaction kinetics, phase equilibria and recycle convergence. The outputs must be quantities relevant to the intended decision. For example, current density may affect electrolyser area and electricity consumption in opposing directions. Not every process variable is independently adjustable: a current-controlled cell produces a voltage determined by its operating condition. Avoid including dependent quantities as independent decisions without physical justification. The proposed workflow is an example of algebraic surrogate use in process modelling, not a complete specification of a particular plant.</a:t>
            </a:r>
          </a:p>
          <a:p>
            <a:endParaRPr/>
          </a:p>
          <a:p>
            <a:r>
              <a:t>SOURCES</a:t>
            </a:r>
          </a:p>
          <a:p>
            <a:r>
              <a:t>[8] IDAES documentation. ALAMOPY: ALAMO Python — algebraic surrogate modelling.</a:t>
            </a:r>
          </a:p>
          <a:p>
            <a:r>
              <a:t>https://idaes-pse.readthedocs.io/en/stable/explanations/modeling_extensions/surrogate/api/alamopy/index.html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notation HF means high fidelity. A surrogate approximates a specified mapping over a specified operating domain; it does not automatically replace every physical equation. The timing example is arithmetic: 30 seconds multiplied by 10,000 is 300,000 seconds, or approximately 83.3 hours of serial computation. It is not an observed runtime for Aspen, gPROMS or any particular solver. Savings are useful when enough later evaluations are required to justify the cost of generating training data and developing the model. A practical workflow uses the surrogate for screening or optimisation and then checks a much smaller number of key candidates with the high-fidelity model. Surrogate training itself can also be expensive, especially when searching a large expression space.</a:t>
            </a:r>
          </a:p>
          <a:p>
            <a:endParaRPr/>
          </a:p>
          <a:p>
            <a:r>
              <a:t>SOURCES</a:t>
            </a:r>
          </a:p>
          <a:p>
            <a:r>
              <a:t>[8] IDAES documentation. ALAMOPY: ALAMO Python — algebraic surrogate modelling.</a:t>
            </a:r>
          </a:p>
          <a:p>
            <a:r>
              <a:t>https://idaes-pse.readthedocs.io/en/stable/explanations/modeling_extensions/surrogate/api/alamopy/index.html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This is a pointwise algebraic identity, obtained by adding and subtracting the simulator output. It distinguishes approximation error from the original simulator's discrepancy relative to the real system. Reproducing a flawed simulator accurately cannot validate that simulator. The displayed identity concerns signed errors at the same input; it is not an assertion that the corresponding RMSE values add, because squared errors contain a cross term. The same reasoning applies component by component for a vector output. When teaching, ask students what evidence is required for each term: simulator-to-surrogate validation assesses approximation, whereas experiment-to-simulator comparison addresses fidelity to reality.</a:t>
            </a:r>
          </a:p>
          <a:p>
            <a:endParaRPr/>
          </a:p>
          <a:p>
            <a:r>
              <a:t>TEACHING CUE</a:t>
            </a:r>
          </a:p>
          <a:p>
            <a:r>
              <a:t>Ask: what does an R² of 1 against a simulator prove—and what does it not prove?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In the response-surface example, X denotes reactor conversion, T temperature and P pressure. The six-term polynomial structure is fixed in advance; least squares estimates its six coefficients. The exponential example is nonlinear in its parameters but still has a fixed structure. Finding a and b does not constitute a search over mathematical structures. Coefficients must carry the units required for dimensional consistency; for example b has temperature units if T is dimensional. In practice, centre and scale inputs to improve conditioning. The purpose of this slide is to separate nonlinearity in input variables, nonlinearity in parameters, and a genuinely unknown expression structure. These are distinct ideas.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These candidates are illustrations of different functional forms, not alternative kinetic models validated for methanol synthesis. Symbolic regression may change the operators, arrangement of variables and inclusion of interactions, while optimising the associated numerical constants. The two-layer description is a useful conceptual model rather than a requirement that every software package uses a formally nested optimiser. Evolutionary methods often interleave structure changes, simplification and constant fitting. A saturation expression is only meaningful over a domain in which its denominator is non-zero, and the parameters must ensure dimensional consistency. Candidate simplicity, interpretability and physical admissibility are separate considerations from training fit.</a:t>
            </a:r>
          </a:p>
          <a:p>
            <a:endParaRPr/>
          </a:p>
          <a:p>
            <a:r>
              <a:t>SOURCES</a:t>
            </a:r>
          </a:p>
          <a:p>
            <a:r>
              <a:t>[1] Cranmer, M. (2023). Interpretable Machine Learning for Science with PySR and SymbolicRegression.jl. arXiv:2305.01582.</a:t>
            </a:r>
          </a:p>
          <a:p>
            <a:r>
              <a:t>https://arxiv.org/abs/2305.01582</a:t>
            </a:r>
          </a:p>
          <a:p>
            <a:r>
              <a:t>[2] gplearn documentation. Introduction to Genetic Programming; API reference (protected operators).</a:t>
            </a:r>
          </a:p>
          <a:p>
            <a:r>
              <a:t>https://gplearn.readthedocs.io/en/stable/intro.html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Use z for a scalar output and bold x for its input vector. S indexes an expression structure; theta collects the numeric constants inside that expression. For example, a + b ln(1 + cx) contains the chosen logarithmic structure and three adjustable coefficients. Adding a new term is a structural change, whereas moving an existing coefficient from one value to another is a parameter change. Both choices influence predictive accuracy. In many chemical applications it is helpful to train one model per target or to couple several constrained unit models rather than fitting unrelated outputs independently. This lecture uses scalar notation for clarity, then reconnects the outputs through balances.</a:t>
            </a:r>
          </a:p>
          <a:p>
            <a:endParaRPr/>
          </a:p>
          <a:p>
            <a:r>
              <a:t>SOURCES</a:t>
            </a:r>
          </a:p>
          <a:p>
            <a:r>
              <a:t>[1] Cranmer, M. (2023). Interpretable Machine Learning for Science with PySR and SymbolicRegression.jl. arXiv:2305.01582.</a:t>
            </a:r>
          </a:p>
          <a:p>
            <a:r>
              <a:t>https://arxiv.org/abs/2305.01582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error is a mean squared residual normalised by an output scale such as the training standard deviation. The scale must be calculated from training data only and must be non-zero. Normalisation makes the error dimensionless; it does not remove noise or guarantee equal engineering relevance across targets. Complexity may count expression-tree nodes or assign different costs to operators. Lambda sets how much additional structure is accepted for an improvement in error. Alternatively, maintain an error–complexity Pareto set instead of collapsing both criteria into one number. Avoid assuming that the number of additive terms and the number of tree nodes are interchangeable. A single highly nested term can contain many operations.</a:t>
            </a:r>
          </a:p>
          <a:p>
            <a:endParaRPr/>
          </a:p>
          <a:p>
            <a:r>
              <a:t>SOURCES</a:t>
            </a:r>
          </a:p>
          <a:p>
            <a:r>
              <a:t>[1] Cranmer, M. (2023). Interpretable Machine Learning for Science with PySR and SymbolicRegression.jl. arXiv:2305.01582.</a:t>
            </a:r>
          </a:p>
          <a:p>
            <a:r>
              <a:t>https://arxiv.org/abs/2305.01582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Terminals are the leaves of an expression tree: variables and constants. Operators form its internal nodes. Including exponential terms may help describe temperature-sensitive relationships, while division permits rational and saturation-like forms. An unrestricted menu is usually inefficient and can generate invalid candidates: logarithms require suitable arguments, denominators must not vanish and exponentials may overflow. Physical units and known constraints can substantially restrict the search space. The chosen grammar must be expressive enough for the intended relationship, but including the correct building blocks does not guarantee that a finite search will discover the target expression. Explain the difference between representability and successful discovery.</a:t>
            </a:r>
          </a:p>
          <a:p>
            <a:endParaRPr/>
          </a:p>
          <a:p>
            <a:r>
              <a:t>SOURCES</a:t>
            </a:r>
          </a:p>
          <a:p>
            <a:r>
              <a:t>[2] gplearn documentation. Introduction to Genetic Programming; API reference (protected operators).</a:t>
            </a:r>
          </a:p>
          <a:p>
            <a:r>
              <a:t>https://gplearn.readthedocs.io/en/stable/intro.html</a:t>
            </a:r>
          </a:p>
          <a:p>
            <a:r>
              <a:t>[7] Tenachi, W., Ibata, R. &amp; Diakogiannis, F. I. (2023). Deep symbolic regression for physics guided by units constraints: toward the automated discovery of physical laws. ApJ 959, 99.</a:t>
            </a:r>
          </a:p>
          <a:p>
            <a:r>
              <a:t>https://doi.org/10.3847/1538-4357/ad014c</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Read the expression from the leaves upwards. Multiply a by x, then add b. The tree provides a structured data representation that makes local changes possible. Replacing the leaf b by a subtree representing exp(-y²) changes the formula in a well-defined way. Trees also make complexity measures concrete: one possible measure is simply the number of nodes, although operator-weighted measures are common. Single letters in the nodes denote terminals; they are not distinct learnt laws. This diagram is intentionally small so that students can trace every evaluation. Ask them to sketch the tree for (x + y)² and compare its structure with x² + y².</a:t>
            </a:r>
          </a:p>
          <a:p>
            <a:endParaRPr/>
          </a:p>
          <a:p>
            <a:r>
              <a:t>TEACHING CUE</a:t>
            </a:r>
          </a:p>
          <a:p>
            <a:r>
              <a:t>Ask a student to evaluate this tree from the bottom upwards, then replace b by y².</a:t>
            </a:r>
          </a:p>
          <a:p>
            <a:endParaRPr/>
          </a:p>
          <a:p>
            <a:r>
              <a:t>SOURCES</a:t>
            </a:r>
          </a:p>
          <a:p>
            <a:r>
              <a:t>[2] gplearn documentation. Introduction to Genetic Programming; API reference (protected operators).</a:t>
            </a:r>
          </a:p>
          <a:p>
            <a:r>
              <a:t>https://gplearn.readthedocs.io/en/stable/intro.html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A population is a collection of candidate mathematical expressions. The algorithm generates or maintains variation, evaluates each candidate against data and favours stronger candidates for further modification. Constant fitting and algebraic simplification may be interleaved with structural changes, as in PySR's evolve–simplify–optimise strategy. Evolutionary algorithms are stochastic: different random seeds can yield different equations. There is no guarantee of finding a globally best formula within a finite compute budget. The final validation stage should not be confused with the training fitness used during search. When introducing the abbreviation GP, make the ambiguity explicit: this slide concerns genetic programming, not Gaussian-process regression, which is a different surrogate-modelling approach.</a:t>
            </a:r>
          </a:p>
          <a:p>
            <a:endParaRPr/>
          </a:p>
          <a:p>
            <a:r>
              <a:t>SOURCES</a:t>
            </a:r>
          </a:p>
          <a:p>
            <a:r>
              <a:t>[1] Cranmer, M. (2023). Interpretable Machine Learning for Science with PySR and SymbolicRegression.jl. arXiv:2305.01582.</a:t>
            </a:r>
          </a:p>
          <a:p>
            <a:r>
              <a:t>https://arxiv.org/abs/2305.01582</a:t>
            </a:r>
          </a:p>
          <a:p>
            <a:r>
              <a:t>[2] gplearn documentation. Introduction to Genetic Programming; API reference (protected operators).</a:t>
            </a:r>
          </a:p>
          <a:p>
            <a:r>
              <a:t>https://gplearn.readthedocs.io/en/stable/intro.html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candidates shown here are starting points, not successful fits. For every candidate, evaluate all training inputs, obtain predictions and calculate residuals. The scoring function provides feedback that favours useful structures while penalising excessive complexity. Random variation by itself is not intelligent search: it becomes a search procedure because candidates are repeatedly assessed against a defined objective. Some implementations use tournament selection or maintain a hall of fame. Exact selection details vary across packages. A model with many terms may reduce training residuals by tracking noise rather than learning a stable response. This is why the validation and complexity controls introduced earlier are required.</a:t>
            </a:r>
          </a:p>
          <a:p>
            <a:endParaRPr/>
          </a:p>
          <a:p>
            <a:r>
              <a:t>SOURCES</a:t>
            </a:r>
          </a:p>
          <a:p>
            <a:r>
              <a:t>[2] gplearn documentation. Introduction to Genetic Programming; API reference (protected operators).</a:t>
            </a:r>
          </a:p>
          <a:p>
            <a:r>
              <a:t>https://gplearn.readthedocs.io/en/stable/intro.html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Crossover replaces a selected subtree in one parent with a subtree taken from another. In this simple example, y is replaced by exp(-y²), while x² is retained. The resulting child is only one possible outcome; a real implementation chooses crossover points according to its own rules. Validity checks may reject children that are too large, dimensionally inconsistent or numerically unsafe. The child must then be fitted, simplified if appropriate, and evaluated. Recombining two reasonably good formulas need not produce a better formula, because useful interactions can be disrupted. The key point is structured recombination followed by objective assessment, rather than an assumption that biological terminology itself guarantees progress.</a:t>
            </a:r>
          </a:p>
          <a:p>
            <a:endParaRPr/>
          </a:p>
          <a:p>
            <a:r>
              <a:t>SOURCES</a:t>
            </a:r>
          </a:p>
          <a:p>
            <a:r>
              <a:t>[2] gplearn documentation. Introduction to Genetic Programming; API reference (protected operators).</a:t>
            </a:r>
          </a:p>
          <a:p>
            <a:r>
              <a:t>https://gplearn.readthedocs.io/en/stable/intro.html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A mutation might replace an operator, alter a terminal, add or delete a subtree, or change a constant. Adding a shift c to an exponential is a structural change because it introduces a new degree of freedom and arrangement. Optimising the current values of a, b and c is a continuous parameter-estimation problem. Some parameter fits are linear least squares, others require nonlinear optimisation. Local optimisers may depend on initial guesses. Therefore, the apparent quality of a candidate can reflect both its structure and how well its constants have been fitted. Symbolic regression is not simply generating a large list of expressions with arbitrary numbers and selecting one without coefficient estimation.</a:t>
            </a:r>
          </a:p>
          <a:p>
            <a:endParaRPr/>
          </a:p>
          <a:p>
            <a:r>
              <a:t>SOURCES</a:t>
            </a:r>
          </a:p>
          <a:p>
            <a:r>
              <a:t>[1] Cranmer, M. (2023). Interpretable Machine Learning for Science with PySR and SymbolicRegression.jl. arXiv:2305.01582.</a:t>
            </a:r>
          </a:p>
          <a:p>
            <a:r>
              <a:t>https://arxiv.org/abs/2305.01582</a:t>
            </a:r>
          </a:p>
          <a:p>
            <a:r>
              <a:t>[2] gplearn documentation. Introduction to Genetic Programming; API reference (protected operators).</a:t>
            </a:r>
          </a:p>
          <a:p>
            <a:r>
              <a:t>https://gplearn.readthedocs.io/en/stable/intro.html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plotted points are invented solely to illustrate Pareto dominance. They are not results of the Peaks experiment or a genetic-programming run. A candidate is non-dominated when another candidate cannot improve one objective without worsening the other. In a two-objective error–complexity problem, useful candidates often trace a decreasing frontier. Selecting a knee is a heuristic, not a physical law. Engineering tolerance may make a simple model sufficient even if a more complex model has slightly lower error. When validation data are used repeatedly during model selection, the independent test set remains important as an untouched evaluation. Distinguish this model-selection Pareto problem from the later energy–cost–carbon process-design Pareto problem.</a:t>
            </a:r>
          </a:p>
          <a:p>
            <a:endParaRPr/>
          </a:p>
          <a:p>
            <a:r>
              <a:t>SOURCES</a:t>
            </a:r>
          </a:p>
          <a:p>
            <a:r>
              <a:t>[1] Cranmer, M. (2023). Interpretable Machine Learning for Science with PySR and SymbolicRegression.jl. arXiv:2305.01582.</a:t>
            </a:r>
          </a:p>
          <a:p>
            <a:r>
              <a:t>https://arxiv.org/abs/2305.01582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Training data determine fitted coefficients and any learnt preprocessing. Validation data support tuning and candidate selection. Test data provide an evaluation after the development decisions have been fixed. Choosing a random seed, a threshold or an operator set because it scores better on the test set contaminates that test. Scaling and feature selection performed before the split can also leak information. Random splits are not always appropriate: nearby observations from one experiment or trajectory may be strongly correlated. Grouped or time-aware splits should reflect the intended deployment question. If active learning adds new development data, do not silently absorb the original lockbox into training while continuing to report it as independent.</a:t>
            </a:r>
          </a:p>
          <a:p>
            <a:endParaRPr/>
          </a:p>
          <a:p>
            <a:r>
              <a:t>SOURCES</a:t>
            </a:r>
          </a:p>
          <a:p>
            <a:r>
              <a:t>[6] scikit-learn documentation. Common pitfalls and recommended practices: preprocessing and data leakage.</a:t>
            </a:r>
          </a:p>
          <a:p>
            <a:r>
              <a:t>https://scikit-learn.org/stable/common_pitfalls.html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Answers. (1) No: fitting a and b in a preselected exponential is fixed-structure regression, even if the model is nonlinear. Symbolic regression additionally searches the expression structure. (2) No: the target may be representable in the chosen grammar, but a finite stochastic search may fail to discover it. Data quality, search budget, conditioning, constants and constraints all matter. (3) Validation data choose the model; test data evaluate the final, frozen choice. Training data estimate the coefficients and support the search. Ask students to explain each answer in one sentence. This checkpoint is a good place to correct the misconception that symbolic regression automatically reveals true physical laws.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Peaks is a standard MATLAB example function built from translated and scaled Gaussian terms multiplied by polynomials. It is useful here because students can visualise a genuinely nonlinear response with just two inputs. We use the square domain from -3 to 3 in both coordinates. Although the target expression is known to us, the regression algorithm is supplied only with input–output samples. In a chemical application, those labels would come from experiments or a high-fidelity simulator. This example isolates model representation and selection without experimental noise, failed runs or uncertain reference-model physics. The absence of those complications is deliberate and limits the conclusions that can be drawn.</a:t>
            </a:r>
          </a:p>
          <a:p>
            <a:endParaRPr/>
          </a:p>
          <a:p>
            <a:r>
              <a:t>SOURCES</a:t>
            </a:r>
          </a:p>
          <a:p>
            <a:r>
              <a:t>[4] MathWorks. MATLAB documentation: peaks — Peaks function.</a:t>
            </a:r>
          </a:p>
          <a:p>
            <a:r>
              <a:t>https://www.mathworks.com/help/matlab/ref/peaks.html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three displayed lines form one equation. The first Gaussian envelope is centred at (0, -1), the second at (0, 0), and the third at (-1, 0), before accounting for the polynomial factors. A Gaussian envelope is largest near its centre and decays away from it. Multiplication by (1-x)² or by the polynomial in the second term changes the local amplitude and shape. This provides an intuitive reason why a single quadratic surface may struggle. At the origin, the exact value is 3/e - 1/(3e) = 8/(3e), approximately 0.9810. Emphasise that an unsuitable function family cannot be repaired simply by fitting its coefficients more carefully.</a:t>
            </a:r>
          </a:p>
          <a:p>
            <a:endParaRPr/>
          </a:p>
          <a:p>
            <a:r>
              <a:t>SOURCES</a:t>
            </a:r>
          </a:p>
          <a:p>
            <a:r>
              <a:t>[4] MathWorks. MATLAB documentation: peaks — Peaks function.</a:t>
            </a:r>
          </a:p>
          <a:p>
            <a:r>
              <a:t>https://www.mathworks.com/help/matlab/ref/peaks.html</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plot shows the actual 600-point training design. Three separate two-dimensional Latin-hypercube designs are generated with seeds 42, 43 and 44, then mapped from the unit square to [-3, 3]². Each response is calculated from the exact Peaks function, with no added noise. LHS stratifies each marginal input range and places one sample within each interval, but it is not a full factorial design and does not cover all combinations. Training, validation and test designs are separate. In a real process application, sample counts should follow dimensionality, nonlinearity, noise, convergence behaviour and learning curves; the numbers used here are not a universal recommendation. The test set is never used to fit, choose a threshold or select a random seed.</a:t>
            </a:r>
          </a:p>
          <a:p>
            <a:endParaRPr/>
          </a:p>
          <a:p>
            <a:r>
              <a:t>SOURCES</a:t>
            </a:r>
          </a:p>
          <a:p>
            <a:r>
              <a:t>[5] SciPy documentation. scipy.stats.qmc.LatinHypercube.</a:t>
            </a:r>
          </a:p>
          <a:p>
            <a:r>
              <a:t>https://docs.scipy.org/doc/scipy/reference/generated/scipy.stats.qmc.LatinHypercube.html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Both baselines are ordinary least-squares fits to the same 600 training points. The quadratic polynomial has six monomials: a constant, two linear terms and three second-order terms. For two variables, a polynomial of total degree at most d has (d+1)(d+2)/2 terms, so degree five gives 21. Higher degree improves expressiveness but may still be inefficient for spatially localised features. The comparison does not imply that polynomials are generally poor surrogates: low-order response surfaces can be excellent over sufficiently local operating regions. The aim here is to establish a transparent reference before using a representation specifically suited to the Peaks function.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Each candidate is a monomial multiplied by a Gaussian envelope. There are 21 monomials of total degree up to five, combined with nine specified centres, giving 189 columns in the candidate library. The Gaussian width is fixed in advance. The model is linear in the coefficients multiplying these nonlinear candidate functions. This is a deliberately restricted symbolic-model-selection problem: it asks which supplied terms to retain. The dictionary contains the exact generating terms of Peaks by construction. Neither the Gaussian centres nor the widths are discovered by an unrestricted expression-tree search. Sparse-library identification is conceptually related to SINDy, but this example approximates a static scalar surface rather than identifying a differential equation.</a:t>
            </a:r>
          </a:p>
          <a:p>
            <a:endParaRPr/>
          </a:p>
          <a:p>
            <a:r>
              <a:t>SOURCES</a:t>
            </a:r>
          </a:p>
          <a:p>
            <a:r>
              <a:t>[3] Brunton, S. L., Proctor, J. L. &amp; Kutz, J. N. (2016). Discovering governing equations from data by sparse identification of nonlinear dynamical systems. PNAS 113, 3932–3937.</a:t>
            </a:r>
          </a:p>
          <a:p>
            <a:r>
              <a:t>https://doi.org/10.1073/pnas.1517384113</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Rows correspond to training observations and columns correspond to candidate functions. The matrix has 600 rows and 189 columns. Once the inputs and dictionary are fixed, fitting coefficients is a linear regression problem even though the basis functions are nonlinear in x and y. A dense least-squares solution allows every candidate column to contribute. A sparse solution retains only a subset of non-zero coefficients. For this teaching experiment, selection uses coefficient thresholding and refitting, not a genetic algorithm. Correlated or nearly dependent columns can produce unstable coefficient estimates. This matters here because the dictionary is highly ill-conditioned; the later numerical caveat is not optional.</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training dictionary columns are scaled by their Euclidean norms. A dense least-squares solution is calculated with a relative cutoff of 10^-12, then converted back to the original coefficient basis. Candidate absolute coefficient thresholds are 10^-5, 10^-4, 10^-3, 10^-2, 0.1, 0.5, 1, 2 and 5. For each threshold, the active columns are refitted using the original training dictionary. Validation RMSE selects candidates, with a numerical equivalence tolerance of 10^-10; the simplest eligible model is preferred. The selected threshold in this run is 10^-5 and seven terms remain. Thresholding unscaled coefficients is a specific teaching choice, not a universal scale-invariant sparse-regression recipe. Appropriate regularisation and stability analysis are needed for noisy industrial data.</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first envelope contributes three active terms with coefficients 3, -6 and 3. The central envelope contributes -2x, 10x³ and 10y⁵. The final envelope contributes the constant factor -1/3. These are seven active dictionary terms in total. Factor 3-6x+3x² as 3(1-x)²; factor -2x+10x³+10y⁵ as -10(x/5-x³-y⁵). The result is algebraically the same target formula. Computed coefficients agree within floating-point precision. This is not independent discovery of the Gaussian locations or a proof of noise robustness: the correct terms were available from the beginning. Also distinguish the seven additive library terms from the number of operations or expression-tree nodes.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reproduced test RMSEs are approximately 1.6958557 for the quadratic polynomial and 1.2169658 for the degree-five polynomial. Their R² values are 0.1803155 and 0.5778900. The restricted-library fit has an RMSE near 10^-15 in this noise-free calculation; reporting it as less than 10^-12 avoids attaching meaning to insignificant machine-precision differences. The table's term count is not a universal measure of complexity across model families. These are performance results for this particular function, sampling design and favourable dictionary. They should not be presented as evidence that symbolic regression always outperforms response-surface methods or that an industrial process can be recovered exactly.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slice uses continuously spaced x values with y fixed at 1 and evaluates all trained models without refitting. The reference and the restricted symbolic model coincide, shown with line and hollow markers to make both visible. The quadratic model misses the local trough and peak structure. The degree-five polynomial is more flexible but still shows substantial shape error. This plot helps students connect the test metrics with a physical-looking response surface. A single slice is not a complete validation: it is an interpretable diagnostic alongside the two-dimensional test results. In a chemical problem, inspect analogous operating slices near high load, boundaries and the conditions recommended by the optimiser.</a:t>
            </a:r>
          </a:p>
          <a:p>
            <a:endParaRPr/>
          </a:p>
          <a:p>
            <a:r>
              <a:t>TEACHING CUE</a:t>
            </a:r>
          </a:p>
          <a:p>
            <a:r>
              <a:t>Ask: where would the quadratic model give the wrong engineering trend?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scaled training dictionary has a condition number of approximately 1.5455 × 10^11, indicating severe near-collinearity. Exact recovery in a favourable noise-free problem does not imply stable coefficient identification when the labels are perturbed. The appropriate next experiments would add controlled noise, alter the dictionary, repeat the sampling and evaluate term-selection stability using training and validation data. A new test protocol would then be required for the final chosen procedure. A different target function may not be represented sparsely by this library. The general lesson is that representation, data and model-selection design jointly determine success. Do not call this numerical experiment a measured result for PySR or gplearn.</a:t>
            </a:r>
          </a:p>
          <a:p>
            <a:endParaRPr/>
          </a:p>
          <a:p>
            <a:r>
              <a:t>SOURCES</a:t>
            </a:r>
          </a:p>
          <a:p>
            <a:r>
              <a:t>[3] Brunton, S. L., Proctor, J. L. &amp; Kutz, J. N. (2016). Discovering governing equations from data by sparse identification of nonlinear dynamical systems. PNAS 113, 3932–3937.</a:t>
            </a:r>
          </a:p>
          <a:p>
            <a:r>
              <a:t>https://doi.org/10.1073/pnas.1517384113</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This is an editable conceptual process diagram, not a detailed process-flow diagram for a validated plant. Hydrogen from water electrolysis is compressed and combined with carbon dioxide. The synthesis product is cooled and separated; liquid product proceeds to purification while unreacted gas is partly recycled and partly purged. The system couples electrochemical performance, reaction, separation and recycle convergence. Changing reactor conversion changes the circulating flow; that altered inlet flow and composition can in turn change conversion. This feedback is the main conceptual step beyond a direct two-input function. A real plant may require CO₂ capture, additional compression, heat integration, water treatment and further auxiliaries, which are not all shown here.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A hybrid model combines known physical relationships with data-based approximations for selected difficult relationships. The surrogate need not relearn conservation of carbon or charge. For example, learn a cell-voltage relation but calculate hydrogen production from Faraday's law; learn reactor conversion but calculate component consumption from stoichiometry. This approach does not guarantee perfect physics: unit constraints, closure assumptions and the original high-fidelity models still require scrutiny. Alternatively, a full-plant input–output surrogate can be useful for screening, but conservation and coupled-output consistency must then be addressed explicitly. This lecture chooses the modular route to make the engineering reasoning visible to undergraduate students.</a:t>
            </a:r>
          </a:p>
          <a:p>
            <a:endParaRPr/>
          </a:p>
          <a:p>
            <a:r>
              <a:t>SOURCES</a:t>
            </a:r>
          </a:p>
          <a:p>
            <a:r>
              <a:t>[8] IDAES documentation. ALAMOPY: ALAMO Python — algebraic surrogate modelling.</a:t>
            </a:r>
          </a:p>
          <a:p>
            <a:r>
              <a:t>https://idaes-pse.readthedocs.io/en/stable/explanations/modeling_extensions/surrogate/api/alamopy/index.html</a:t>
            </a:r>
          </a:p>
          <a:p>
            <a:r>
              <a:t>[9] de Carvalho Servia, M. Á. et al. (2025). Constraint-Guided Symbolic Regression for Data-Efficient Kinetic Model Discovery. arXiv:2507.02730 (preprint).</a:t>
            </a:r>
          </a:p>
          <a:p>
            <a:r>
              <a:t>https://arxiv.org/abs/2507.02730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U is single-cell voltage and eta_F is Faradaic efficiency. X_sp is single-pass reactor conversion, z_in the inlet composition vector, and n_dot_in the inlet molar flow. These equations specify surrogate targets, not trained formulas. In a current-controlled experiment, the voltage responds to current density and other conditions. Treating current density and voltage as independent optimisation variables without an additional physical constraint can create impossible operating points. For a voltage-controlled experiment, the input–output specification may instead be reversed. Include inlet composition and flow in a reactor surrogate when they vary through recycle coupling; a model of conversion against only temperature and pressure may be insufficient.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Start with an explicit domain and feasibility rules. Collect both outputs and diagnostic metadata. Numerical non-convergence, physical infeasibility and low performance are different outcomes; a simulator failure does not establish that the true product rate is zero. In difficult domains, consider a separate feasibility classifier or a structured failure-handling policy rather than forcing all outcomes into one continuous regressor. Use sampling and learning curves to determine whether additional data are needed, rather than borrowing the Peaks sample count. Group observations by scenario when assessing generalisation to new scenarios. Sampling only along a narrow line can confound the apparent influence of two process variables, limiting interpretation even when the fitted equation is short.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j0 and P0 are positive reference values with the same units as current density and pressure. T0 is a reference temperature and delta T is a non-zero temperature scale. Their numerical choices must be documented. Pressure ratios should use an appropriate absolute pressure definition when physical thermodynamic relations require it. Logarithms and exponentials require dimensionless arguments; unit-aware symbolic regression can enforce compatible expressions during search. Scaling also influences numerical conditioning and the meaning of coefficients. It does not by itself prove the physical validity of a chosen mathematical form. The teaching model uses j0 = 0.30 A cm^-2 and later fixes temperature and pressure at their reference conditions.</a:t>
            </a:r>
          </a:p>
          <a:p>
            <a:endParaRPr/>
          </a:p>
          <a:p>
            <a:r>
              <a:t>SOURCES</a:t>
            </a:r>
          </a:p>
          <a:p>
            <a:r>
              <a:t>[7] Tenachi, W., Ibata, R. &amp; Diakogiannis, F. I. (2023). Deep symbolic regression for physics guided by units constraints: toward the automated discovery of physical laws. ApJ 959, 99.</a:t>
            </a:r>
          </a:p>
          <a:p>
            <a:r>
              <a:t>https://doi.org/10.3847/1538-4357/ad014c</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logistic transformation maps any finite real-valued inner prediction to a number strictly between zero and one. It can therefore prevent negative efficiencies and efficiencies above unity. Symbolic regression searches the inner function g rather than eta_F directly. This does not enforce conservation, correct derivatives, a particular electrochemical mechanism or valid extrapolation. Exact boundary observations of zero or one require care when transforming labels with the inverse logit, and numerical implementations should avoid overflow in the exponential. Loss definitions and weighting should reflect the target quantity and engineering tolerance. In the worked calculation that follows, efficiency is fixed at an assumed 0.96 to isolate the current-density trade-off.</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Every coefficient on this slide is an explicit teaching assumption. The left side U/(1 V) is dimensionless, so the coefficients on the right are dimensionless. The normalised inputs were defined on the previous slides. At the reference temperature and pressure, the temperature and log-pressure contributions vanish. The remaining relation is 1.55 + 0.11 ln(1+j_tilde) + 0.20 j_tilde. At j = 0.30 A cm^-2, j_tilde = 1 and U = 1.826246 V. At j = 0.60 A cm^-2, j_tilde = 2 and U = 2.070847 V. The shape is intended to illustrate increasing electrical losses with increasing load, not to identify a unique electrochemical mechanism.</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Differentiate with respect to the dimensionless current density. Both terms are positive for positive j_tilde, so this relation predicts increasing voltage over the positive-current domain. The curve is generated directly from the assumed equation and is not a regression-validation plot. An analytic expression allows quick inspection of derivatives, limiting behaviour and curvature, which is useful for debugging and optimisation. However, the presence of a logarithm does not establish that a specific activation mechanism has been discovered. Multiple expressions may fit a limited dataset well. Mechanistic attribution requires independent physical arguments and evidence. Also, fitting function values does not automatically guarantee accurate derivatives when the surrogate is trained on real data.</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Current is charge per unit time. Dividing current by the Faraday constant gives molar electron flow; dividing by two gives the ideal molar hydrogen production. Faradaic efficiency accounts for the fraction of charge associated with hydrogen generation. A_Sigma is the sum of active areas across cells operating at the same current density and efficiency. For a series stack, j A_Sigma is the sum of cell currents, not the stack-terminal current. This definition allows both total production and total power to be expressed without omitting the number of cells. Use consistent units: 1 A cm^-2 = 10,000 A m^-2. The NIST Faraday constant is approximately 96485.33212 C mol^-1; the calculations use this rounded value.</a:t>
            </a:r>
          </a:p>
          <a:p>
            <a:endParaRPr/>
          </a:p>
          <a:p>
            <a:r>
              <a:t>SOURCES</a:t>
            </a:r>
          </a:p>
          <a:p>
            <a:r>
              <a:t>[10] NIST. CODATA value: Faraday constant.</a:t>
            </a:r>
          </a:p>
          <a:p>
            <a:r>
              <a:t>https://physics.nist.gov/cgi-bin/cuu/Value?eqf=</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Rearrange Faraday's law to calculate total required active area for a fixed hydrogen production rate. With fixed efficiency, area is inversely proportional to current density. Total direct-current power is the sum over identical cells, U j A_Sigma. Substituting the area expression shows that, at fixed hydrogen production, power depends on the cell-voltage-to-efficiency ratio. Current density still matters indirectly through its effect on voltage and efficiency. Therefore, operating at a larger current density can reduce electrode area while increasing specific electrical demand. When efficiency varies, the simple halving-of-area conclusion must be revisited using eta_F(j). This is an engineering consequence obtained by combining a performance relation with a conservation law.</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Assume a molar hydrogen production of 1 mol s^-1 and eta_F = 0.96 at both operating points. Convert current density from A cm^-2 to A m^-2 before calculating area. At 0.30 A cm^-2, area is 67.0037 m² and DC power is 367.0958 kW. At 0.60 A cm^-2, area is 33.5019 m² and DC power is 416.2633 kW. Using a teaching hydrogen molar mass of 0.002016 kg mol^-1, the production rate is 7.2576 kg h^-1. Dividing kW by kg h^-1 gives 50.5809 and 57.3555 kWh kg^-1. The electricity increase is about 13.39%. These values omit rectification losses, compression and balance-of-plant electricity. Area is a scale indicator, not total plant capital cost.</a:t>
            </a:r>
          </a:p>
          <a:p>
            <a:endParaRPr/>
          </a:p>
          <a:p>
            <a:r>
              <a:t>TEACHING CUE</a:t>
            </a:r>
          </a:p>
          <a:p>
            <a:r>
              <a:t>Ask students to reproduce the first area calculation, including the current-density unit conversion.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electrical calculation is a direct-current stack-level quantity under identical-cell assumptions. A system-level efficiency or specific energy consumption must include all components within its stated boundary. Compare like with like: DC electrolysis electricity, AC input electricity and total process energy are not interchangeable. Similarly, an area proxy may capture one part of electrochemical equipment scale, but costs also depend on pressure, materials, balance of plant, installation, controls and other equipment. A rigorous economic model requires an explicit costing basis, not a blanket proportionality between electrode area and plant CAPEX. These distinctions keep the illustrative result useful without overstating its industrial meaning.</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Define X as the single-pass CO₂ conversion and phi as the fraction of unreacted gas that is purged. The remaining fraction, 1-phi, is recycled. Product removal is ideal, no side reactions occur and X is held fixed. Let F0 be the fresh CO₂ molar flow and F_in the CO₂ molar flow entering the reactor. These symbols refer to CO₂ flow, not the total gas flow. Under these assumptions, the recycle is (1-phi)(1-X)F_in. A real methanol loop can include other carbon species and composition-dependent conversion, so the simple result is only an idealised material-balance demonstration. The following derivation shows why single-pass conversion cannot be equated to overall plant conversion.</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Begin with the fresh-plus-recycle inlet balance. Move the recycle term to the left and factor F_in: F_in[1-(1-phi)(1-X)] = F0. Expand the bracket to obtain X + phi(1-X). Divide by this positive denominator to obtain the inlet-to-fresh ratio. The converted CO₂ flow is XF_in; divide it by fresh CO₂ flow to obtain overall conversion. As phi approaches one, there is no recycle and overall conversion approaches X. As phi approaches zero with X greater than zero, the idealised overall conversion approaches one, but circulation can be very large when X is small. The combination X = 0 and phi = 0 is singular and cannot sustain a finite steady state with positive fresh feed.</a:t>
            </a:r>
          </a:p>
          <a:p>
            <a:endParaRPr/>
          </a:p>
          <a:p>
            <a:r>
              <a:t>TEACHING CUE</a:t>
            </a:r>
          </a:p>
          <a:p>
            <a:r>
              <a:t>Ask students to test the limiting case φ = 1 before substituting numbers.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For X = 0.20 and phi = 0.02, the denominator is 0.20 + 0.02(0.80) = 0.216. The overall conversion is 0.20/0.216 = 0.925926, or 92.6%, and F_in/F0 is 1/0.216 = 4.62963. This is the ratio for CO₂ flow, not automatically the total reactor-gas-flow ratio. The plot shows how the same idealised balance responds to purge fraction at two fixed single-pass conversions. It is derived from the equation rather than fitted data. Higher circulation may affect reactor sizing and compression demand in a real process, but this simplified calculation does not quantify those costs. Composition, kinetics, equilibrium and separation behaviour would have to be coupled to determine actual system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In the earlier algebraic example, X was fixed, allowing a closed-form solution. In a realistic unit surrogate, conversion depends on inlet composition and flow, which change when the recycle changes. Start with an inlet-state estimate, evaluate the surrogate, solve the balances and separation relationships, update the recycle and repeat until an appropriate residual tolerance is met. Damping or more advanced numerical solvers may be needed. Monitor whether each iterated state remains inside the surrogate's valid domain; an optimiser or a recycle solver may evaluate intermediate states that were not represented in training. A faster unit model reduces evaluation cost but does not guarantee convergence of the full flowsheet.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SEC_el is an electricity-specific metric. With power expressed in kW and methanol production in kg h^-1, the ratio is kWh kg^-1. Thermal duties should not be added directly to electrical power without defining an energy accounting convention, such as separate utilities or an explicit equivalent-energy basis. The electrical power terms are denoted W_dot to distinguish them from the operating pressures P introduced earlier. The WE subscript identifies the water-electrolysis unit. Other objectives may include carbon utilisation and a capital-scale indicator. Their definitions and boundaries must be fixed before comparing alternatives.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At the model-development stage, candidates are equations and the trade-off is usually between fit and complexity, subject to validity requirements. At the process-design stage, candidates are operating points or equipment choices and the trade-off concerns engineering performance. The model-selection frontier is not the process-design frontier. A small error reduction may or may not matter for a particular engineering decision. Conversely, a surrogate can have a good average error while distorting the region near the predicted process Pareto set. This motivates local verification of selected process candidates and, where necessary, additional high-fidelity sampling around decision-relevant regions.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A process optimiser actively seeks apparently favourable parts of the surrogate surface. It can therefore expose errors that are not obvious from average test metrics. After optimisation, rerun important candidates through the original simulator and check both feasibility and objective values. A point that looked optimal under the surrogate may be infeasible or dominated after verification. Additional high-fidelity evaluations can be added to the development dataset, followed by refitting and renewed validation. Preserve an independent evaluation set or clearly declare a new protocol; do not continue calling previously used development data an untouched test. Robust engineering conclusions require verification of the decisions, not just a regression plot.</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RMSE retains the output unit and therefore helps connect prediction error with engineering tolerance. R² measures the fraction of output variance explained relative to the mean predictor; its value depends on the test distribution and can be negative. Neither metric guarantees small worst-case error, correct derivatives or accurate rankings between closely competing operating points. Inspect residuals against each input and against predicted output, quantify maximum or high-quantile error when relevant, and examine decision-sensitive regions. The parity plot is calculated from the independent Peaks test design; only a subset of exact-fit markers is shown for readability. A small absolute voltage bias near the selected operating point can change an energy comparison even when a global fit looks strong.</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These current-density values illustrate a hypothetical training domain and an extrapolation; they do not establish a safe operating range for any real electrolyser. A symbolic equation may remain algebraically evaluable outside its training domain, but its predictive validity has not thereby been demonstrated. Extrapolation can also occur within each marginal range if a new combination lies outside the jointly sampled region. Mathematical domain restrictions and data-support restrictions are separate: the logarithm may remain defined even when the operating condition is unsupported by data. A deployment implementation should record bounds, applicability assumptions and relevant scenario restrictions, and should reject or flag unsupported evaluations.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Physical range checks should be combined with conservation checks and numerical-domain tests. Protected operators deserve particular attention: some genetic-programming implementations return a specified value when a divisor is too close to zero. Replacing that operator by ordinary division when exporting the equation changes its meaning. Preserve exact operator definitions, preprocessing and units in deployment. Evaluate denominator margins and exponent magnitudes throughout the intended region, including intermediate states encountered by numerical solvers. Derivatives may be important when the surrogate is used inside optimisation or sensitivity analysis, so validate them when they support a decision. These checks reduce risk but cannot prove validity for every unseen operating state.</a:t>
            </a:r>
          </a:p>
          <a:p>
            <a:endParaRPr/>
          </a:p>
          <a:p>
            <a:r>
              <a:t>SOURCES</a:t>
            </a:r>
          </a:p>
          <a:p>
            <a:r>
              <a:t>[2] gplearn documentation. Introduction to Genetic Programming; API reference (protected operators).</a:t>
            </a:r>
          </a:p>
          <a:p>
            <a:r>
              <a:t>https://gplearn.readthedocs.io/en/stable/intro.html</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A static mapping assumes that the supplied inputs are enough to determine the output under the stated conditions. If two experiments have identical current inputs but different internal temperatures, inventories or catalyst states because of their histories, a static model of the current inputs alone is insufficient. Introduce state variables, lagged information or an explicit dynamic formulation as appropriate. Similarly, a process with multiple steady states may have more than one output at the same manipulated inputs. The dataset and model must distinguish operating branches, or a regressor may average them into a response that is not physically realised. A successful steady-state fit is not evidence of dynamic-control suitability.</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These four checks bring the modelling and engineering objectives together. Prediction concerns independent data and an application-specific tolerance. Physics concerns bounds, conservation, units and plausible trends. Numerics concerns the exact deployed expression and its behaviour throughout the intended domain. Decision validation concerns whether recommended designs remain advantageous under high-fidelity or experimental verification. Also document data provenance, sampling, random seeds, model selection, failure handling and software implementation. None of these alone is sufficient. A model may pass a test-data metric but fail a balance, or pass a balance but distort a process ranking. The acceptance standard should be chosen before using the model to justify a preferred design.</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Return to the central distinction: symbolic regression jointly searches mathematical structure and coefficients, but a useful surrogate is defined by its intended engineering role. The Peaks example demonstrates how a representation containing the correct functional components can be extremely efficient, while its conditioning and favourable construction limit generalisation. The chemical case demonstrates how a compact response relation can be combined with exact balances to expose meaningful design trade-offs. The complete workflow begins with a decision, not an algorithm brand, and ends with verified engineering consequences, not merely a compact equation. Students should now be able to outline a small surrogate project and identify the evidence needed before using it for optimisation.</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Exercise answers. (1) The computation is finite-library selection, not a genetic-programming benchmark. The dictionary contains the exact generating terms and the data are noise-free; the result provides no universal recovery guarantee or noise-stability demonstration. (2) At fixed hydrogen production, A2/A1 = eta_F,1 j1 / (eta_F,2 j2). If j2 = 2 j1, the ratio is eta_F,1/(2 eta_F,2), so exactly one-half only follows when efficiencies are equal. Total DC power at fixed production varies with U/eta_F. (3) The denominator is 0.30 + 0.02 × 0.70 = 0.314. Overall conversion is 0.30/0.314 = 0.955414, or 95.54%; the inlet-to-fresh CO₂ ratio is 1/0.314 = 3.18471. Compare these with 92.59% and 4.62963 at X = 0.20. Keep the idealised assumptions explicit when interpreting the comparison.</a:t>
            </a:r>
          </a:p>
          <a:p>
            <a:endParaRPr/>
          </a:p>
          <a:p>
            <a:r>
              <a:t>TEACHING CUE</a:t>
            </a:r>
          </a:p>
          <a:p>
            <a:r>
              <a:t>Use these questions for a short discussion or an assessed calculation. Answers are in the notes, not on the slide.</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existing script supplied with the tutorial reproduces the polynomial baselines, restricted-library selection and the illustrative chemical calculations. It requires Python 3.10 or newer, NumPy and SciPy; Matplotlib is required only when plotting. Running the command writes a JSON results file and the two original Peaks figures into the selected output directory. The deck contains additional diagnostic illustrations created from the same functions and assumptions. The script does not install or run PySR, and it does not fit Aspen or experimental process data. Record the package versions in a real study. Small changes at machine precision may occur across numerical libraries; the meaningful conclusion is the reported near-zero error under the explicitly favourable assumptions.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sources support the algorithmic principles, reference function, sampling method, validation practice and selected physical constraints. The chemical voltage coefficients, runtime example, Pareto schematic and idealised recycle scenario are teaching constructs, not empirical results from these publications. The finite-library Peaks calculation is provided by the tutorial script. Source [3] concerns sparse identification of dynamical systems and is cited for the sparse-library principle; this lecture's numerical fit is static. Source [9] is cited as a 2025 preprint, not as a claim of a later publication status. Official online documentation was consulted when preparing this teaching deck. The main mathematical derivations and worked arithmetic are explained in the corresponding notes.</a:t>
            </a:r>
          </a:p>
          <a:p>
            <a:endParaRPr/>
          </a:p>
          <a:p>
            <a:r>
              <a:t>SOURCES</a:t>
            </a:r>
          </a:p>
          <a:p>
            <a:r>
              <a:t>[1] Cranmer, M. (2023). Interpretable Machine Learning for Science with PySR and SymbolicRegression.jl. arXiv:2305.01582.</a:t>
            </a:r>
          </a:p>
          <a:p>
            <a:r>
              <a:t>https://arxiv.org/abs/2305.01582</a:t>
            </a:r>
          </a:p>
          <a:p>
            <a:r>
              <a:t>[2] gplearn documentation. Introduction to Genetic Programming; API reference (protected operators).</a:t>
            </a:r>
          </a:p>
          <a:p>
            <a:r>
              <a:t>https://gplearn.readthedocs.io/en/stable/intro.html</a:t>
            </a:r>
          </a:p>
          <a:p>
            <a:r>
              <a:t>[3] Brunton, S. L., Proctor, J. L. &amp; Kutz, J. N. (2016). Discovering governing equations from data by sparse identification of nonlinear dynamical systems. PNAS 113, 3932–3937.</a:t>
            </a:r>
          </a:p>
          <a:p>
            <a:r>
              <a:t>https://doi.org/10.1073/pnas.1517384113</a:t>
            </a:r>
          </a:p>
          <a:p>
            <a:r>
              <a:t>[4] MathWorks. MATLAB documentation: peaks — Peaks function.</a:t>
            </a:r>
          </a:p>
          <a:p>
            <a:r>
              <a:t>https://www.mathworks.com/help/matlab/ref/peaks.html</a:t>
            </a:r>
          </a:p>
          <a:p>
            <a:r>
              <a:t>[5] SciPy documentation. scipy.stats.qmc.LatinHypercube.</a:t>
            </a:r>
          </a:p>
          <a:p>
            <a:r>
              <a:t>https://docs.scipy.org/doc/scipy/reference/generated/scipy.stats.qmc.LatinHypercube.html</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NOTES</a:t>
            </a:r>
          </a:p>
          <a:p>
            <a:endParaRPr/>
          </a:p>
          <a:p>
            <a:r>
              <a:t>The sources support the algorithmic principles, reference function, sampling method, validation practice and selected physical constraints. The chemical voltage coefficients, runtime example, Pareto schematic and idealised recycle scenario are teaching constructs, not empirical results from these publications. The finite-library Peaks calculation is provided by the tutorial script. Source [3] concerns sparse identification of dynamical systems and is cited for the sparse-library principle; this lecture's numerical fit is static. Source [9] is cited as a 2025 preprint, not as a claim of a later publication status. Official online documentation was consulted when preparing this teaching deck. The main mathematical derivations and worked arithmetic are explained in the corresponding notes.</a:t>
            </a:r>
          </a:p>
          <a:p>
            <a:endParaRPr/>
          </a:p>
          <a:p>
            <a:r>
              <a:t>SOURCES</a:t>
            </a:r>
          </a:p>
          <a:p>
            <a:r>
              <a:t>[6] scikit-learn documentation. Common pitfalls and recommended practices: preprocessing and data leakage.</a:t>
            </a:r>
          </a:p>
          <a:p>
            <a:r>
              <a:t>https://scikit-learn.org/stable/common_pitfalls.html</a:t>
            </a:r>
          </a:p>
          <a:p>
            <a:r>
              <a:t>[7] Tenachi, W., Ibata, R. &amp; Diakogiannis, F. I. (2023). Deep symbolic regression for physics guided by units constraints: toward the automated discovery of physical laws. ApJ 959, 99.</a:t>
            </a:r>
          </a:p>
          <a:p>
            <a:r>
              <a:t>https://doi.org/10.3847/1538-4357/ad014c</a:t>
            </a:r>
          </a:p>
          <a:p>
            <a:r>
              <a:t>[8] IDAES documentation. ALAMOPY: ALAMO Python — algebraic surrogate modelling.</a:t>
            </a:r>
          </a:p>
          <a:p>
            <a:r>
              <a:t>https://idaes-pse.readthedocs.io/en/stable/explanations/modeling_extensions/surrogate/api/alamopy/index.html</a:t>
            </a:r>
          </a:p>
          <a:p>
            <a:r>
              <a:t>[9] de Carvalho Servia, M. Á. et al. (2025). Constraint-Guided Symbolic Regression for Data-Efficient Kinetic Model Discovery. arXiv:2507.02730 (preprint).</a:t>
            </a:r>
          </a:p>
          <a:p>
            <a:r>
              <a:t>https://arxiv.org/abs/2507.02730</a:t>
            </a:r>
          </a:p>
          <a:p>
            <a:r>
              <a:t>[10] NIST. CODATA value: Faraday constant.</a:t>
            </a:r>
          </a:p>
          <a:p>
            <a:r>
              <a:t>https://physics.nist.gov/cgi-bin/cuu/Value?eqf=</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image" Target="../media/image60.png"/><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s://arxiv.org/abs/2305.01582" TargetMode="External"/><Relationship Id="rId7" Type="http://schemas.openxmlformats.org/officeDocument/2006/relationships/hyperlink" Target="https://docs.scipy.org/doc/scipy/reference/generated/scipy.stats.qmc.LatinHypercube.html" TargetMode="External"/><Relationship Id="rId2" Type="http://schemas.openxmlformats.org/officeDocument/2006/relationships/notesSlide" Target="../notesSlides/notesSlide58.xml"/><Relationship Id="rId1" Type="http://schemas.openxmlformats.org/officeDocument/2006/relationships/slideLayout" Target="../slideLayouts/slideLayout7.xml"/><Relationship Id="rId6" Type="http://schemas.openxmlformats.org/officeDocument/2006/relationships/hyperlink" Target="https://www.mathworks.com/help/matlab/ref/peaks.html" TargetMode="External"/><Relationship Id="rId5" Type="http://schemas.openxmlformats.org/officeDocument/2006/relationships/hyperlink" Target="https://doi.org/10.1073/pnas.1517384113" TargetMode="External"/><Relationship Id="rId4" Type="http://schemas.openxmlformats.org/officeDocument/2006/relationships/hyperlink" Target="https://gplearn.readthedocs.io/en/stable/intro.html"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s://scikit-learn.org/stable/common_pitfalls.html" TargetMode="External"/><Relationship Id="rId7" Type="http://schemas.openxmlformats.org/officeDocument/2006/relationships/hyperlink" Target="https://physics.nist.gov/cgi-bin/cuu/Value?eqf=" TargetMode="External"/><Relationship Id="rId2" Type="http://schemas.openxmlformats.org/officeDocument/2006/relationships/notesSlide" Target="../notesSlides/notesSlide59.xml"/><Relationship Id="rId1" Type="http://schemas.openxmlformats.org/officeDocument/2006/relationships/slideLayout" Target="../slideLayouts/slideLayout7.xml"/><Relationship Id="rId6" Type="http://schemas.openxmlformats.org/officeDocument/2006/relationships/hyperlink" Target="https://arxiv.org/abs/2507.02730" TargetMode="External"/><Relationship Id="rId5" Type="http://schemas.openxmlformats.org/officeDocument/2006/relationships/hyperlink" Target="https://idaes-pse.readthedocs.io/en/stable/explanations/modeling_extensions/surrogate/api/alamopy/index.html" TargetMode="External"/><Relationship Id="rId4" Type="http://schemas.openxmlformats.org/officeDocument/2006/relationships/hyperlink" Target="https://doi.org/10.3847/1538-4357/ad014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TEACHING EDITION • UNDERGRADUATE CHEMICAL ENGINEERING</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Symbolic regression</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01</a:t>
            </a:r>
          </a:p>
        </p:txBody>
      </p:sp>
      <p:sp>
        <p:nvSpPr>
          <p:cNvPr id="8" name="TextBox 7"/>
          <p:cNvSpPr txBox="1"/>
          <p:nvPr/>
        </p:nvSpPr>
        <p:spPr>
          <a:xfrm>
            <a:off x="585216" y="1499616"/>
            <a:ext cx="6400800" cy="1417320"/>
          </a:xfrm>
          <a:prstGeom prst="rect">
            <a:avLst/>
          </a:prstGeom>
          <a:noFill/>
          <a:effectLst/>
        </p:spPr>
        <p:txBody>
          <a:bodyPr wrap="square" lIns="0" tIns="0" rIns="0" bIns="0" anchor="t">
            <a:noAutofit/>
          </a:bodyPr>
          <a:lstStyle/>
          <a:p>
            <a:pPr algn="l">
              <a:lnSpc>
                <a:spcPct val="107000"/>
              </a:lnSpc>
              <a:spcBef>
                <a:spcPts val="0"/>
              </a:spcBef>
              <a:spcAft>
                <a:spcPts val="400"/>
              </a:spcAft>
            </a:pPr>
            <a:r>
              <a:rPr lang="en-GB" sz="3400" b="1">
                <a:solidFill>
                  <a:srgbClr val="173042"/>
                </a:solidFill>
                <a:latin typeface="Arial"/>
              </a:rPr>
              <a:t>From data to interpretable</a:t>
            </a:r>
          </a:p>
          <a:p>
            <a:pPr algn="l">
              <a:lnSpc>
                <a:spcPct val="107000"/>
              </a:lnSpc>
              <a:spcBef>
                <a:spcPts val="0"/>
              </a:spcBef>
              <a:spcAft>
                <a:spcPts val="0"/>
              </a:spcAft>
            </a:pPr>
            <a:r>
              <a:rPr lang="en-GB" sz="3400" b="1">
                <a:solidFill>
                  <a:srgbClr val="173042"/>
                </a:solidFill>
                <a:latin typeface="Arial"/>
              </a:rPr>
              <a:t>surrogate models</a:t>
            </a:r>
          </a:p>
        </p:txBody>
      </p:sp>
      <p:sp>
        <p:nvSpPr>
          <p:cNvPr id="9" name="TextBox 8"/>
          <p:cNvSpPr txBox="1"/>
          <p:nvPr/>
        </p:nvSpPr>
        <p:spPr>
          <a:xfrm>
            <a:off x="603504" y="3182112"/>
            <a:ext cx="6309360" cy="950976"/>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300" b="0">
                <a:solidFill>
                  <a:srgbClr val="617481"/>
                </a:solidFill>
                <a:latin typeface="Arial"/>
              </a:rPr>
              <a:t>Principles, a Peaks benchmark and a</a:t>
            </a:r>
          </a:p>
          <a:p>
            <a:pPr algn="l">
              <a:lnSpc>
                <a:spcPct val="113000"/>
              </a:lnSpc>
              <a:spcBef>
                <a:spcPts val="0"/>
              </a:spcBef>
              <a:spcAft>
                <a:spcPts val="0"/>
              </a:spcAft>
            </a:pPr>
            <a:r>
              <a:rPr lang="en-GB" sz="2300" b="0">
                <a:solidFill>
                  <a:srgbClr val="617481"/>
                </a:solidFill>
                <a:latin typeface="Arial"/>
              </a:rPr>
              <a:t>green-methanol process example</a:t>
            </a:r>
          </a:p>
        </p:txBody>
      </p:sp>
      <p:sp>
        <p:nvSpPr>
          <p:cNvPr id="10" name="Rounded Rectangle 9"/>
          <p:cNvSpPr/>
          <p:nvPr/>
        </p:nvSpPr>
        <p:spPr>
          <a:xfrm>
            <a:off x="7644383" y="1508760"/>
            <a:ext cx="3977639" cy="4480560"/>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900416" y="1773936"/>
            <a:ext cx="3474720" cy="32918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300" b="1">
                <a:solidFill>
                  <a:srgbClr val="24777A"/>
                </a:solidFill>
                <a:latin typeface="Arial"/>
              </a:rPr>
              <a:t>THE CENTRAL IDEA</a:t>
            </a:r>
          </a:p>
        </p:txBody>
      </p:sp>
      <mc:AlternateContent xmlns:mc="http://schemas.openxmlformats.org/markup-compatibility/2006">
        <mc:Choice xmlns:a14="http://schemas.microsoft.com/office/drawing/2010/main" Requires="a14">
          <p:sp>
            <p:nvSpPr>
              <p:cNvPr id="12" name="Equation 001" descr="\hat z=g_S(\mathbf{x};\boldsymbol{\theta})"/>
              <p:cNvSpPr txBox="1"/>
              <p:nvPr/>
            </p:nvSpPr>
            <p:spPr>
              <a:xfrm>
                <a:off x="8523935" y="2703957"/>
                <a:ext cx="2181960" cy="444246"/>
              </a:xfrm>
              <a:prstGeom prst="rect">
                <a:avLst/>
              </a:prstGeom>
              <a:noFill/>
              <a:effectLst/>
            </p:spPr>
            <p:txBody>
              <a:bodyPr wrap="none" lIns="0" tIns="0" rIns="0" bIns="0" anchor="ctr">
                <a:noAutofit/>
              </a:bodyPr>
              <a:lstStyle/>
              <a:p>
                <a:pPr algn="ctr">
                  <a:spcBef>
                    <a:spcPts val="0"/>
                  </a:spcBef>
                  <a:spcAft>
                    <a:spcPts val="0"/>
                  </a:spcAft>
                  <a:defRPr sz="3300">
                    <a:latin typeface="Cambria Math"/>
                  </a:defRPr>
                </a:pPr>
                <a14:m>
                  <m:oMathPara xmlns:m="http://schemas.openxmlformats.org/officeDocument/2006/math">
                    <m:oMathParaPr>
                      <m:jc m:val="center"/>
                    </m:oMathParaPr>
                    <m:oMath xmlns:m="http://schemas.openxmlformats.org/officeDocument/2006/math">
                      <m:acc>
                        <m:accPr>
                          <m:chr m:val="̂"/>
                          <m:ctrlPr>
                            <a:rPr lang="en-GB" sz="3300">
                              <a:latin typeface="Cambria Math" panose="02040503050406030204" pitchFamily="18" charset="0"/>
                            </a:rPr>
                          </m:ctrlPr>
                        </m:accPr>
                        <m:e>
                          <m:r>
                            <a:rPr lang="en-GB" sz="3300">
                              <a:latin typeface="Cambria Math"/>
                            </a:rPr>
                            <m:t>𝑧</m:t>
                          </m:r>
                        </m:e>
                      </m:acc>
                      <m:r>
                        <a:rPr lang="en-GB" sz="3300" i="0">
                          <a:latin typeface="Cambria Math"/>
                        </a:rPr>
                        <m:t>=</m:t>
                      </m:r>
                      <m:sSub>
                        <m:sSubPr>
                          <m:ctrlPr>
                            <a:rPr lang="en-GB" sz="3300" i="1">
                              <a:latin typeface="Cambria Math" panose="02040503050406030204" pitchFamily="18" charset="0"/>
                            </a:rPr>
                          </m:ctrlPr>
                        </m:sSubPr>
                        <m:e>
                          <m:r>
                            <a:rPr lang="en-GB" sz="3300">
                              <a:latin typeface="Cambria Math"/>
                            </a:rPr>
                            <m:t>𝑔</m:t>
                          </m:r>
                        </m:e>
                        <m:sub>
                          <m:r>
                            <a:rPr lang="en-GB" sz="3300">
                              <a:latin typeface="Cambria Math"/>
                            </a:rPr>
                            <m:t>𝑆</m:t>
                          </m:r>
                        </m:sub>
                      </m:sSub>
                      <m:d>
                        <m:dPr>
                          <m:ctrlPr>
                            <a:rPr lang="en-GB" sz="3300" i="1">
                              <a:latin typeface="Cambria Math" panose="02040503050406030204" pitchFamily="18" charset="0"/>
                            </a:rPr>
                          </m:ctrlPr>
                        </m:dPr>
                        <m:e>
                          <m:r>
                            <a:rPr lang="en-GB" sz="3300" i="0">
                              <a:latin typeface="Cambria Math"/>
                            </a:rPr>
                            <m:t>𝐱</m:t>
                          </m:r>
                          <m:r>
                            <a:rPr lang="en-GB" sz="3300" i="0">
                              <a:latin typeface="Cambria Math"/>
                            </a:rPr>
                            <m:t>;</m:t>
                          </m:r>
                          <m:r>
                            <a:rPr lang="en-GB" sz="3300" i="0">
                              <a:latin typeface="Cambria Math"/>
                            </a:rPr>
                            <m:t>𝛉</m:t>
                          </m:r>
                        </m:e>
                      </m:d>
                    </m:oMath>
                  </m:oMathPara>
                </a14:m>
                <a:endParaRPr/>
              </a:p>
            </p:txBody>
          </p:sp>
        </mc:Choice>
        <mc:Fallback>
          <p:sp>
            <p:nvSpPr>
              <p:cNvPr id="12" name="Equation 001" descr="\hat z=g_S(\mathbf{x};\boldsymbol{\theta})"/>
              <p:cNvSpPr txBox="1">
                <a:spLocks noRot="1" noChangeAspect="1" noMove="1" noResize="1" noEditPoints="1" noAdjustHandles="1" noChangeArrowheads="1" noChangeShapeType="1" noTextEdit="1"/>
              </p:cNvSpPr>
              <p:nvPr/>
            </p:nvSpPr>
            <p:spPr>
              <a:xfrm>
                <a:off x="8523935" y="2703957"/>
                <a:ext cx="2181960" cy="444246"/>
              </a:xfrm>
              <a:prstGeom prst="rect">
                <a:avLst/>
              </a:prstGeom>
              <a:blipFill>
                <a:blip r:embed="rId3"/>
                <a:stretch>
                  <a:fillRect l="-6977" t="-28571" b="-37143"/>
                </a:stretch>
              </a:blipFill>
              <a:effectLst/>
            </p:spPr>
            <p:txBody>
              <a:bodyPr/>
              <a:lstStyle/>
              <a:p>
                <a:r>
                  <a:rPr lang="zh-CN" altLang="en-US">
                    <a:noFill/>
                  </a:rPr>
                  <a:t> </a:t>
                </a:r>
              </a:p>
            </p:txBody>
          </p:sp>
        </mc:Fallback>
      </mc:AlternateContent>
      <p:sp>
        <p:nvSpPr>
          <p:cNvPr id="13" name="TextBox 12"/>
          <p:cNvSpPr txBox="1"/>
          <p:nvPr/>
        </p:nvSpPr>
        <p:spPr>
          <a:xfrm>
            <a:off x="7955279" y="3895344"/>
            <a:ext cx="3200400" cy="1490472"/>
          </a:xfrm>
          <a:prstGeom prst="rect">
            <a:avLst/>
          </a:prstGeom>
          <a:noFill/>
          <a:effectLst/>
        </p:spPr>
        <p:txBody>
          <a:bodyPr wrap="square" lIns="0" tIns="0" rIns="0" bIns="0" anchor="t">
            <a:noAutofit/>
          </a:bodyPr>
          <a:lstStyle/>
          <a:p>
            <a:pPr algn="l">
              <a:lnSpc>
                <a:spcPct val="118000"/>
              </a:lnSpc>
              <a:spcBef>
                <a:spcPts val="0"/>
              </a:spcBef>
              <a:spcAft>
                <a:spcPts val="400"/>
              </a:spcAft>
            </a:pPr>
            <a:r>
              <a:rPr lang="en-GB" sz="2200" b="1">
                <a:solidFill>
                  <a:srgbClr val="173042"/>
                </a:solidFill>
                <a:latin typeface="Arial"/>
              </a:rPr>
              <a:t>Learn the structure.</a:t>
            </a:r>
          </a:p>
          <a:p>
            <a:pPr algn="l">
              <a:lnSpc>
                <a:spcPct val="118000"/>
              </a:lnSpc>
              <a:spcBef>
                <a:spcPts val="0"/>
              </a:spcBef>
              <a:spcAft>
                <a:spcPts val="400"/>
              </a:spcAft>
            </a:pPr>
            <a:r>
              <a:rPr lang="en-GB" sz="2200" b="1">
                <a:solidFill>
                  <a:srgbClr val="173042"/>
                </a:solidFill>
                <a:latin typeface="Arial"/>
              </a:rPr>
              <a:t>Fit the coefficients.</a:t>
            </a:r>
          </a:p>
          <a:p>
            <a:pPr algn="l">
              <a:lnSpc>
                <a:spcPct val="118000"/>
              </a:lnSpc>
              <a:spcBef>
                <a:spcPts val="0"/>
              </a:spcBef>
              <a:spcAft>
                <a:spcPts val="0"/>
              </a:spcAft>
            </a:pPr>
            <a:r>
              <a:rPr lang="en-GB" sz="2200" b="1">
                <a:solidFill>
                  <a:srgbClr val="173042"/>
                </a:solidFill>
                <a:latin typeface="Arial"/>
              </a:rPr>
              <a:t>Validate the decisions.</a:t>
            </a:r>
          </a:p>
        </p:txBody>
      </p:sp>
      <p:sp>
        <p:nvSpPr>
          <p:cNvPr id="14" name="TextBox 13"/>
          <p:cNvSpPr txBox="1"/>
          <p:nvPr/>
        </p:nvSpPr>
        <p:spPr>
          <a:xfrm>
            <a:off x="603504" y="5193792"/>
            <a:ext cx="6492240" cy="42062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00" b="1">
                <a:solidFill>
                  <a:srgbClr val="173042"/>
                </a:solidFill>
                <a:latin typeface="Arial"/>
              </a:rPr>
              <a:t>Yuanjing Zhao  |  University of Surrey</a:t>
            </a:r>
          </a:p>
        </p:txBody>
      </p:sp>
      <p:sp>
        <p:nvSpPr>
          <p:cNvPr id="15" name="TextBox 14"/>
          <p:cNvSpPr txBox="1"/>
          <p:nvPr/>
        </p:nvSpPr>
        <p:spPr>
          <a:xfrm>
            <a:off x="603504" y="5733288"/>
            <a:ext cx="6492240" cy="42062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500" b="0">
                <a:solidFill>
                  <a:srgbClr val="617481"/>
                </a:solidFill>
                <a:latin typeface="Arial"/>
              </a:rPr>
              <a:t>A step-by-step lecture with worked calculations and speaker notes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01 • FOUNDATIONS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What you should be able to do</a:t>
            </a:r>
          </a:p>
        </p:txBody>
      </p:sp>
      <p:sp>
        <p:nvSpPr>
          <p:cNvPr id="5" name="TextBox 4"/>
          <p:cNvSpPr txBox="1"/>
          <p:nvPr/>
        </p:nvSpPr>
        <p:spPr>
          <a:xfrm>
            <a:off x="548640" y="1280160"/>
            <a:ext cx="10972800" cy="4572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750" b="0">
                <a:solidFill>
                  <a:srgbClr val="617481"/>
                </a:solidFill>
                <a:latin typeface="Arial"/>
              </a:rPr>
              <a:t>Five questions organise the lecture.</a:t>
            </a:r>
          </a:p>
        </p:txBody>
      </p:sp>
      <p:cxnSp>
        <p:nvCxnSpPr>
          <p:cNvPr id="6" name="Connector 5"/>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8" name="TextBox 7"/>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02</a:t>
            </a:r>
          </a:p>
        </p:txBody>
      </p:sp>
      <p:sp>
        <p:nvSpPr>
          <p:cNvPr id="9" name="TextBox 8"/>
          <p:cNvSpPr txBox="1"/>
          <p:nvPr/>
        </p:nvSpPr>
        <p:spPr>
          <a:xfrm>
            <a:off x="603504" y="1847088"/>
            <a:ext cx="512064" cy="3931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24777A"/>
                </a:solidFill>
                <a:latin typeface="Arial"/>
              </a:rPr>
              <a:t>01</a:t>
            </a:r>
          </a:p>
        </p:txBody>
      </p:sp>
      <p:sp>
        <p:nvSpPr>
          <p:cNvPr id="10" name="TextBox 9"/>
          <p:cNvSpPr txBox="1"/>
          <p:nvPr/>
        </p:nvSpPr>
        <p:spPr>
          <a:xfrm>
            <a:off x="1325880" y="1847088"/>
            <a:ext cx="3246120" cy="38404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173042"/>
                </a:solidFill>
                <a:latin typeface="Arial"/>
              </a:rPr>
              <a:t>Why a surrogate?</a:t>
            </a:r>
          </a:p>
        </p:txBody>
      </p:sp>
      <p:sp>
        <p:nvSpPr>
          <p:cNvPr id="11" name="TextBox 10"/>
          <p:cNvSpPr txBox="1"/>
          <p:nvPr/>
        </p:nvSpPr>
        <p:spPr>
          <a:xfrm>
            <a:off x="4800600" y="1847088"/>
            <a:ext cx="6629400" cy="53035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Connect an expensive calculation to an engineering decision.</a:t>
            </a:r>
          </a:p>
        </p:txBody>
      </p:sp>
      <p:sp>
        <p:nvSpPr>
          <p:cNvPr id="12" name="TextBox 11"/>
          <p:cNvSpPr txBox="1"/>
          <p:nvPr/>
        </p:nvSpPr>
        <p:spPr>
          <a:xfrm>
            <a:off x="603504" y="2596896"/>
            <a:ext cx="512064" cy="3931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24777A"/>
                </a:solidFill>
                <a:latin typeface="Arial"/>
              </a:rPr>
              <a:t>02</a:t>
            </a:r>
          </a:p>
        </p:txBody>
      </p:sp>
      <p:sp>
        <p:nvSpPr>
          <p:cNvPr id="13" name="TextBox 12"/>
          <p:cNvSpPr txBox="1"/>
          <p:nvPr/>
        </p:nvSpPr>
        <p:spPr>
          <a:xfrm>
            <a:off x="1325880" y="2596896"/>
            <a:ext cx="3246120" cy="38404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173042"/>
                </a:solidFill>
                <a:latin typeface="Arial"/>
              </a:rPr>
              <a:t>What is being learnt?</a:t>
            </a:r>
          </a:p>
        </p:txBody>
      </p:sp>
      <p:sp>
        <p:nvSpPr>
          <p:cNvPr id="14" name="TextBox 13"/>
          <p:cNvSpPr txBox="1"/>
          <p:nvPr/>
        </p:nvSpPr>
        <p:spPr>
          <a:xfrm>
            <a:off x="4800600" y="2596896"/>
            <a:ext cx="6629400" cy="53035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Distinguish formula structure from numerical coefficients.</a:t>
            </a:r>
          </a:p>
        </p:txBody>
      </p:sp>
      <p:sp>
        <p:nvSpPr>
          <p:cNvPr id="15" name="TextBox 14"/>
          <p:cNvSpPr txBox="1"/>
          <p:nvPr/>
        </p:nvSpPr>
        <p:spPr>
          <a:xfrm>
            <a:off x="603504" y="3346704"/>
            <a:ext cx="512064" cy="3931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24777A"/>
                </a:solidFill>
                <a:latin typeface="Arial"/>
              </a:rPr>
              <a:t>03</a:t>
            </a:r>
          </a:p>
        </p:txBody>
      </p:sp>
      <p:sp>
        <p:nvSpPr>
          <p:cNvPr id="16" name="TextBox 15"/>
          <p:cNvSpPr txBox="1"/>
          <p:nvPr/>
        </p:nvSpPr>
        <p:spPr>
          <a:xfrm>
            <a:off x="1325880" y="3346704"/>
            <a:ext cx="3246120" cy="38404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5" b="1">
                <a:solidFill>
                  <a:srgbClr val="173042"/>
                </a:solidFill>
                <a:latin typeface="Arial"/>
              </a:rPr>
              <a:t>How does the search work?</a:t>
            </a:r>
          </a:p>
        </p:txBody>
      </p:sp>
      <p:sp>
        <p:nvSpPr>
          <p:cNvPr id="17" name="TextBox 16"/>
          <p:cNvSpPr txBox="1"/>
          <p:nvPr/>
        </p:nvSpPr>
        <p:spPr>
          <a:xfrm>
            <a:off x="4800600" y="3346704"/>
            <a:ext cx="6629400" cy="53035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Follow candidate generation, selection and parameter fitting.</a:t>
            </a:r>
          </a:p>
        </p:txBody>
      </p:sp>
      <p:sp>
        <p:nvSpPr>
          <p:cNvPr id="18" name="TextBox 17"/>
          <p:cNvSpPr txBox="1"/>
          <p:nvPr/>
        </p:nvSpPr>
        <p:spPr>
          <a:xfrm>
            <a:off x="603504" y="4096512"/>
            <a:ext cx="512064" cy="3931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24777A"/>
                </a:solidFill>
                <a:latin typeface="Arial"/>
              </a:rPr>
              <a:t>04</a:t>
            </a:r>
          </a:p>
        </p:txBody>
      </p:sp>
      <p:sp>
        <p:nvSpPr>
          <p:cNvPr id="19" name="TextBox 18"/>
          <p:cNvSpPr txBox="1"/>
          <p:nvPr/>
        </p:nvSpPr>
        <p:spPr>
          <a:xfrm>
            <a:off x="1325880" y="4096512"/>
            <a:ext cx="3246120" cy="38404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752" b="1">
                <a:solidFill>
                  <a:srgbClr val="173042"/>
                </a:solidFill>
                <a:latin typeface="Arial"/>
              </a:rPr>
              <a:t>What do the examples show?</a:t>
            </a:r>
          </a:p>
        </p:txBody>
      </p:sp>
      <p:sp>
        <p:nvSpPr>
          <p:cNvPr id="20" name="TextBox 19"/>
          <p:cNvSpPr txBox="1"/>
          <p:nvPr/>
        </p:nvSpPr>
        <p:spPr>
          <a:xfrm>
            <a:off x="4800600" y="4096512"/>
            <a:ext cx="6629400" cy="53035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Interpret Peaks results and coupled process calculations.</a:t>
            </a:r>
          </a:p>
        </p:txBody>
      </p:sp>
      <p:sp>
        <p:nvSpPr>
          <p:cNvPr id="21" name="TextBox 20"/>
          <p:cNvSpPr txBox="1"/>
          <p:nvPr/>
        </p:nvSpPr>
        <p:spPr>
          <a:xfrm>
            <a:off x="603504" y="4846320"/>
            <a:ext cx="512064" cy="3931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24777A"/>
                </a:solidFill>
                <a:latin typeface="Arial"/>
              </a:rPr>
              <a:t>05</a:t>
            </a:r>
          </a:p>
        </p:txBody>
      </p:sp>
      <p:sp>
        <p:nvSpPr>
          <p:cNvPr id="22" name="TextBox 21"/>
          <p:cNvSpPr txBox="1"/>
          <p:nvPr/>
        </p:nvSpPr>
        <p:spPr>
          <a:xfrm>
            <a:off x="1325880" y="4846320"/>
            <a:ext cx="3246120" cy="38404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989" b="1">
                <a:solidFill>
                  <a:srgbClr val="173042"/>
                </a:solidFill>
                <a:latin typeface="Arial"/>
              </a:rPr>
              <a:t>When should you trust it?</a:t>
            </a:r>
          </a:p>
        </p:txBody>
      </p:sp>
      <p:sp>
        <p:nvSpPr>
          <p:cNvPr id="23" name="TextBox 22"/>
          <p:cNvSpPr txBox="1"/>
          <p:nvPr/>
        </p:nvSpPr>
        <p:spPr>
          <a:xfrm>
            <a:off x="4800600" y="4846320"/>
            <a:ext cx="6629400" cy="53035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Check unseen data, physics, numerical safety and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01 • FOUNDATIONS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Two examples, two different kinds of evidence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03</a:t>
            </a:r>
          </a:p>
        </p:txBody>
      </p:sp>
      <p:sp>
        <p:nvSpPr>
          <p:cNvPr id="8" name="Rounded Rectangle 7"/>
          <p:cNvSpPr/>
          <p:nvPr/>
        </p:nvSpPr>
        <p:spPr>
          <a:xfrm>
            <a:off x="566928" y="1645920"/>
            <a:ext cx="5394960" cy="354787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786384" y="1828800"/>
            <a:ext cx="4956048"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CASE 1  •  PEAKS</a:t>
            </a:r>
          </a:p>
        </p:txBody>
      </p:sp>
      <p:sp>
        <p:nvSpPr>
          <p:cNvPr id="10" name="TextBox 9"/>
          <p:cNvSpPr txBox="1"/>
          <p:nvPr/>
        </p:nvSpPr>
        <p:spPr>
          <a:xfrm>
            <a:off x="786384" y="2496312"/>
            <a:ext cx="4956048" cy="2551176"/>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200" b="0">
                <a:solidFill>
                  <a:srgbClr val="173042"/>
                </a:solidFill>
                <a:latin typeface="Arial"/>
              </a:rPr>
              <a:t>A numerical experiment actually computed.</a:t>
            </a:r>
          </a:p>
          <a:p>
            <a:pPr algn="l">
              <a:lnSpc>
                <a:spcPct val="113000"/>
              </a:lnSpc>
              <a:spcBef>
                <a:spcPts val="0"/>
              </a:spcBef>
              <a:spcAft>
                <a:spcPts val="400"/>
              </a:spcAft>
            </a:pPr>
            <a:endParaRPr lang="en-GB" sz="2200" b="0">
              <a:solidFill>
                <a:srgbClr val="173042"/>
              </a:solidFill>
              <a:latin typeface="Arial"/>
            </a:endParaRPr>
          </a:p>
          <a:p>
            <a:pPr algn="l">
              <a:lnSpc>
                <a:spcPct val="113000"/>
              </a:lnSpc>
              <a:spcBef>
                <a:spcPts val="0"/>
              </a:spcBef>
              <a:spcAft>
                <a:spcPts val="0"/>
              </a:spcAft>
            </a:pPr>
            <a:r>
              <a:rPr lang="en-GB" sz="2200" b="0">
                <a:solidFill>
                  <a:srgbClr val="173042"/>
                </a:solidFill>
                <a:latin typeface="Arial"/>
              </a:rPr>
              <a:t>Noise-free samples; fixed candidate library; independent test data.</a:t>
            </a:r>
          </a:p>
        </p:txBody>
      </p:sp>
      <p:sp>
        <p:nvSpPr>
          <p:cNvPr id="11" name="Rounded Rectangle 10"/>
          <p:cNvSpPr/>
          <p:nvPr/>
        </p:nvSpPr>
        <p:spPr>
          <a:xfrm>
            <a:off x="6208776" y="1645920"/>
            <a:ext cx="5394960" cy="3547872"/>
          </a:xfrm>
          <a:prstGeom prst="roundRect">
            <a:avLst>
              <a:gd name="adj" fmla="val 8000"/>
            </a:avLst>
          </a:prstGeom>
          <a:solidFill>
            <a:srgbClr val="F6F1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428232" y="1828800"/>
            <a:ext cx="4956048"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CASE 2  •  GREEN METHANOL</a:t>
            </a:r>
          </a:p>
        </p:txBody>
      </p:sp>
      <p:sp>
        <p:nvSpPr>
          <p:cNvPr id="13" name="TextBox 12"/>
          <p:cNvSpPr txBox="1"/>
          <p:nvPr/>
        </p:nvSpPr>
        <p:spPr>
          <a:xfrm>
            <a:off x="6428232" y="2496312"/>
            <a:ext cx="4956048" cy="2551176"/>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200" b="0">
                <a:solidFill>
                  <a:srgbClr val="173042"/>
                </a:solidFill>
                <a:latin typeface="Arial"/>
              </a:rPr>
              <a:t>An illustrative engineering calculation.</a:t>
            </a:r>
          </a:p>
          <a:p>
            <a:pPr algn="l">
              <a:lnSpc>
                <a:spcPct val="113000"/>
              </a:lnSpc>
              <a:spcBef>
                <a:spcPts val="0"/>
              </a:spcBef>
              <a:spcAft>
                <a:spcPts val="400"/>
              </a:spcAft>
            </a:pPr>
            <a:endParaRPr lang="en-GB" sz="2200" b="0">
              <a:solidFill>
                <a:srgbClr val="173042"/>
              </a:solidFill>
              <a:latin typeface="Arial"/>
            </a:endParaRPr>
          </a:p>
          <a:p>
            <a:pPr algn="l">
              <a:lnSpc>
                <a:spcPct val="113000"/>
              </a:lnSpc>
              <a:spcBef>
                <a:spcPts val="0"/>
              </a:spcBef>
              <a:spcAft>
                <a:spcPts val="0"/>
              </a:spcAft>
            </a:pPr>
            <a:r>
              <a:rPr lang="en-GB" sz="2200" b="0">
                <a:solidFill>
                  <a:srgbClr val="173042"/>
                </a:solidFill>
                <a:latin typeface="Arial"/>
              </a:rPr>
              <a:t>Assumed voltage relation; exact balances; no fitted plant or experimental dataset.</a:t>
            </a:r>
          </a:p>
        </p:txBody>
      </p:sp>
      <p:sp>
        <p:nvSpPr>
          <p:cNvPr id="14" name="Rounded Rectangle 13"/>
          <p:cNvSpPr/>
          <p:nvPr/>
        </p:nvSpPr>
        <p:spPr>
          <a:xfrm>
            <a:off x="530352" y="5586984"/>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731520" y="5673852"/>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Keep computational evidence separate from teaching assumptions.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01 • FOUNDATIONS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Begin with an engineering question</a:t>
            </a:r>
          </a:p>
        </p:txBody>
      </p:sp>
      <p:sp>
        <p:nvSpPr>
          <p:cNvPr id="5" name="TextBox 4"/>
          <p:cNvSpPr txBox="1"/>
          <p:nvPr/>
        </p:nvSpPr>
        <p:spPr>
          <a:xfrm>
            <a:off x="548640" y="1280160"/>
            <a:ext cx="10972800" cy="4572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750" b="0">
                <a:solidFill>
                  <a:srgbClr val="617481"/>
                </a:solidFill>
                <a:latin typeface="Arial"/>
              </a:rPr>
              <a:t>How should we operate an integrated green-methanol process?</a:t>
            </a:r>
          </a:p>
        </p:txBody>
      </p:sp>
      <p:cxnSp>
        <p:nvCxnSpPr>
          <p:cNvPr id="6" name="Connector 5"/>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8" name="TextBox 7"/>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04</a:t>
            </a:r>
          </a:p>
        </p:txBody>
      </p:sp>
      <p:sp>
        <p:nvSpPr>
          <p:cNvPr id="9" name="TextBox 8"/>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Context: [8]. Process layout and notation are teaching schematics.</a:t>
            </a:r>
          </a:p>
        </p:txBody>
      </p:sp>
      <p:sp>
        <p:nvSpPr>
          <p:cNvPr id="10" name="Rounded Rectangle 9"/>
          <p:cNvSpPr/>
          <p:nvPr/>
        </p:nvSpPr>
        <p:spPr>
          <a:xfrm>
            <a:off x="621792" y="1892807"/>
            <a:ext cx="2834640" cy="731520"/>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31520" y="1947672"/>
            <a:ext cx="2615184" cy="621792"/>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900" b="1">
                <a:solidFill>
                  <a:srgbClr val="173042"/>
                </a:solidFill>
                <a:latin typeface="Arial"/>
              </a:rPr>
              <a:t>Operating conditions</a:t>
            </a:r>
          </a:p>
        </p:txBody>
      </p:sp>
      <p:sp>
        <p:nvSpPr>
          <p:cNvPr id="12" name="Rounded Rectangle 11"/>
          <p:cNvSpPr/>
          <p:nvPr/>
        </p:nvSpPr>
        <p:spPr>
          <a:xfrm>
            <a:off x="4645152" y="1892807"/>
            <a:ext cx="2880360" cy="731520"/>
          </a:xfrm>
          <a:prstGeom prst="roundRect">
            <a:avLst>
              <a:gd name="adj" fmla="val 8000"/>
            </a:avLst>
          </a:prstGeom>
          <a:solidFill>
            <a:srgbClr val="EAF0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4754880" y="1947672"/>
            <a:ext cx="2660904" cy="621792"/>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900" b="1">
                <a:solidFill>
                  <a:srgbClr val="173042"/>
                </a:solidFill>
                <a:latin typeface="Arial"/>
              </a:rPr>
              <a:t>High-fidelity model</a:t>
            </a:r>
          </a:p>
        </p:txBody>
      </p:sp>
      <p:sp>
        <p:nvSpPr>
          <p:cNvPr id="14" name="Rounded Rectangle 13"/>
          <p:cNvSpPr/>
          <p:nvPr/>
        </p:nvSpPr>
        <p:spPr>
          <a:xfrm>
            <a:off x="8686800" y="1892807"/>
            <a:ext cx="2852928" cy="731520"/>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8796528" y="1947672"/>
            <a:ext cx="2633472" cy="621792"/>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50" b="1">
                <a:solidFill>
                  <a:srgbClr val="173042"/>
                </a:solidFill>
                <a:latin typeface="Arial"/>
              </a:rPr>
              <a:t>Engineering performance</a:t>
            </a:r>
          </a:p>
        </p:txBody>
      </p:sp>
      <p:cxnSp>
        <p:nvCxnSpPr>
          <p:cNvPr id="16" name="Connector 15"/>
          <p:cNvCxnSpPr/>
          <p:nvPr/>
        </p:nvCxnSpPr>
        <p:spPr>
          <a:xfrm>
            <a:off x="3502152" y="2258568"/>
            <a:ext cx="1033272"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7571231" y="2258568"/>
            <a:ext cx="1014985"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Equation 002" descr="\mathbf{x}=[j,T_{\mathrm{WE}},P_{\mathrm{WE}},T_{\mathrm{R}},P_{\mathrm{R}},\ldots]"/>
              <p:cNvSpPr txBox="1"/>
              <p:nvPr/>
            </p:nvSpPr>
            <p:spPr>
              <a:xfrm>
                <a:off x="3709111" y="3197352"/>
                <a:ext cx="4779873" cy="381000"/>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r>
                        <a:rPr lang="en-GB" sz="3000" i="0">
                          <a:latin typeface="Cambria Math"/>
                        </a:rPr>
                        <m:t>𝐱</m:t>
                      </m:r>
                      <m:r>
                        <a:rPr lang="en-GB" sz="3000" i="0">
                          <a:latin typeface="Cambria Math"/>
                        </a:rPr>
                        <m:t>=</m:t>
                      </m:r>
                      <m:d>
                        <m:dPr>
                          <m:begChr m:val="["/>
                          <m:endChr m:val="]"/>
                          <m:ctrlPr>
                            <a:rPr lang="en-GB" sz="3000" i="1">
                              <a:latin typeface="Cambria Math" panose="02040503050406030204" pitchFamily="18" charset="0"/>
                            </a:rPr>
                          </m:ctrlPr>
                        </m:dPr>
                        <m:e>
                          <m:r>
                            <a:rPr lang="en-GB" sz="3000">
                              <a:latin typeface="Cambria Math"/>
                            </a:rPr>
                            <m:t>𝑗</m:t>
                          </m:r>
                          <m:r>
                            <a:rPr lang="en-GB" sz="3000" i="0">
                              <a:latin typeface="Cambria Math"/>
                            </a:rPr>
                            <m:t>,</m:t>
                          </m:r>
                          <m:sSub>
                            <m:sSubPr>
                              <m:ctrlPr>
                                <a:rPr lang="en-GB" sz="3000" i="1">
                                  <a:latin typeface="Cambria Math" panose="02040503050406030204" pitchFamily="18" charset="0"/>
                                </a:rPr>
                              </m:ctrlPr>
                            </m:sSubPr>
                            <m:e>
                              <m:r>
                                <a:rPr lang="en-GB" sz="3000">
                                  <a:latin typeface="Cambria Math"/>
                                </a:rPr>
                                <m:t>𝑇</m:t>
                              </m:r>
                            </m:e>
                            <m:sub>
                              <m:r>
                                <m:rPr>
                                  <m:sty m:val="p"/>
                                </m:rPr>
                                <a:rPr lang="en-GB" sz="3000" i="0">
                                  <a:latin typeface="Cambria Math"/>
                                </a:rPr>
                                <m:t>WE</m:t>
                              </m:r>
                            </m:sub>
                          </m:sSub>
                          <m:r>
                            <a:rPr lang="en-GB" sz="3000" i="0">
                              <a:latin typeface="Cambria Math"/>
                            </a:rPr>
                            <m:t>,</m:t>
                          </m:r>
                          <m:sSub>
                            <m:sSubPr>
                              <m:ctrlPr>
                                <a:rPr lang="en-GB" sz="3000" i="1">
                                  <a:latin typeface="Cambria Math" panose="02040503050406030204" pitchFamily="18" charset="0"/>
                                </a:rPr>
                              </m:ctrlPr>
                            </m:sSubPr>
                            <m:e>
                              <m:r>
                                <a:rPr lang="en-GB" sz="3000">
                                  <a:latin typeface="Cambria Math"/>
                                </a:rPr>
                                <m:t>𝑃</m:t>
                              </m:r>
                            </m:e>
                            <m:sub>
                              <m:r>
                                <m:rPr>
                                  <m:sty m:val="p"/>
                                </m:rPr>
                                <a:rPr lang="en-GB" sz="3000" i="0">
                                  <a:latin typeface="Cambria Math"/>
                                </a:rPr>
                                <m:t>WE</m:t>
                              </m:r>
                            </m:sub>
                          </m:sSub>
                          <m:r>
                            <a:rPr lang="en-GB" sz="3000" i="0">
                              <a:latin typeface="Cambria Math"/>
                            </a:rPr>
                            <m:t>,</m:t>
                          </m:r>
                          <m:sSub>
                            <m:sSubPr>
                              <m:ctrlPr>
                                <a:rPr lang="en-GB" sz="3000" i="1">
                                  <a:latin typeface="Cambria Math" panose="02040503050406030204" pitchFamily="18" charset="0"/>
                                </a:rPr>
                              </m:ctrlPr>
                            </m:sSubPr>
                            <m:e>
                              <m:r>
                                <a:rPr lang="en-GB" sz="3000">
                                  <a:latin typeface="Cambria Math"/>
                                </a:rPr>
                                <m:t>𝑇</m:t>
                              </m:r>
                            </m:e>
                            <m:sub>
                              <m:r>
                                <m:rPr>
                                  <m:sty m:val="p"/>
                                </m:rPr>
                                <a:rPr lang="en-GB" sz="3000" i="0">
                                  <a:latin typeface="Cambria Math"/>
                                </a:rPr>
                                <m:t>R</m:t>
                              </m:r>
                            </m:sub>
                          </m:sSub>
                          <m:r>
                            <a:rPr lang="en-GB" sz="3000" i="0">
                              <a:latin typeface="Cambria Math"/>
                            </a:rPr>
                            <m:t>,</m:t>
                          </m:r>
                          <m:sSub>
                            <m:sSubPr>
                              <m:ctrlPr>
                                <a:rPr lang="en-GB" sz="3000" i="1">
                                  <a:latin typeface="Cambria Math" panose="02040503050406030204" pitchFamily="18" charset="0"/>
                                </a:rPr>
                              </m:ctrlPr>
                            </m:sSubPr>
                            <m:e>
                              <m:r>
                                <a:rPr lang="en-GB" sz="3000">
                                  <a:latin typeface="Cambria Math"/>
                                </a:rPr>
                                <m:t>𝑃</m:t>
                              </m:r>
                            </m:e>
                            <m:sub>
                              <m:r>
                                <m:rPr>
                                  <m:sty m:val="p"/>
                                </m:rPr>
                                <a:rPr lang="en-GB" sz="3000" i="0">
                                  <a:latin typeface="Cambria Math"/>
                                </a:rPr>
                                <m:t>R</m:t>
                              </m:r>
                            </m:sub>
                          </m:sSub>
                          <m:r>
                            <a:rPr lang="en-GB" sz="3000" i="0">
                              <a:latin typeface="Cambria Math"/>
                            </a:rPr>
                            <m:t>,…</m:t>
                          </m:r>
                        </m:e>
                      </m:d>
                    </m:oMath>
                  </m:oMathPara>
                </a14:m>
                <a:endParaRPr/>
              </a:p>
            </p:txBody>
          </p:sp>
        </mc:Choice>
        <mc:Fallback>
          <p:sp>
            <p:nvSpPr>
              <p:cNvPr id="18" name="Equation 002" descr="\mathbf{x}=[j,T_{\mathrm{WE}},P_{\mathrm{WE}},T_{\mathrm{R}},P_{\mathrm{R}},\ldots]"/>
              <p:cNvSpPr txBox="1">
                <a:spLocks noRot="1" noChangeAspect="1" noMove="1" noResize="1" noEditPoints="1" noAdjustHandles="1" noChangeArrowheads="1" noChangeShapeType="1" noTextEdit="1"/>
              </p:cNvSpPr>
              <p:nvPr/>
            </p:nvSpPr>
            <p:spPr>
              <a:xfrm>
                <a:off x="3709111" y="3197352"/>
                <a:ext cx="4779873" cy="381000"/>
              </a:xfrm>
              <a:prstGeom prst="rect">
                <a:avLst/>
              </a:prstGeom>
              <a:blipFill>
                <a:blip r:embed="rId3"/>
                <a:stretch>
                  <a:fillRect t="-10000" b="-53333"/>
                </a:stretch>
              </a:blipFill>
              <a:effectLst/>
            </p:spPr>
            <p:txBody>
              <a:bodyPr/>
              <a:lstStyle/>
              <a:p>
                <a:r>
                  <a:rPr lang="zh-CN" altLang="en-US">
                    <a:noFill/>
                  </a:rPr>
                  <a:t> </a:t>
                </a:r>
              </a:p>
            </p:txBody>
          </p:sp>
        </mc:Fallback>
      </mc:AlternateContent>
      <p:sp>
        <p:nvSpPr>
          <p:cNvPr id="19" name="TextBox 18"/>
          <p:cNvSpPr txBox="1"/>
          <p:nvPr/>
        </p:nvSpPr>
        <p:spPr>
          <a:xfrm>
            <a:off x="768096" y="4169663"/>
            <a:ext cx="3108960"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300" b="1">
                <a:solidFill>
                  <a:srgbClr val="24777A"/>
                </a:solidFill>
                <a:latin typeface="Arial"/>
              </a:rPr>
              <a:t>INPUTS</a:t>
            </a:r>
          </a:p>
        </p:txBody>
      </p:sp>
      <p:sp>
        <p:nvSpPr>
          <p:cNvPr id="20" name="TextBox 19"/>
          <p:cNvSpPr txBox="1"/>
          <p:nvPr/>
        </p:nvSpPr>
        <p:spPr>
          <a:xfrm>
            <a:off x="768096" y="4617720"/>
            <a:ext cx="5029200" cy="9418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Current density, temperatures, pressures and other controllable conditions.</a:t>
            </a:r>
          </a:p>
        </p:txBody>
      </p:sp>
      <p:sp>
        <p:nvSpPr>
          <p:cNvPr id="21" name="TextBox 20"/>
          <p:cNvSpPr txBox="1"/>
          <p:nvPr/>
        </p:nvSpPr>
        <p:spPr>
          <a:xfrm>
            <a:off x="6373368" y="4169663"/>
            <a:ext cx="3108960"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300" b="1">
                <a:solidFill>
                  <a:srgbClr val="24777A"/>
                </a:solidFill>
                <a:latin typeface="Arial"/>
              </a:rPr>
              <a:t>OUTPUTS</a:t>
            </a:r>
          </a:p>
        </p:txBody>
      </p:sp>
      <p:sp>
        <p:nvSpPr>
          <p:cNvPr id="22" name="TextBox 21"/>
          <p:cNvSpPr txBox="1"/>
          <p:nvPr/>
        </p:nvSpPr>
        <p:spPr>
          <a:xfrm>
            <a:off x="6373368" y="4617720"/>
            <a:ext cx="4892040" cy="9418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Methanol production, electricity demand, carbon utilisation and equipment scale.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01 • FOUNDATIONS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A surrogate replaces a costly input–output calculation</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05</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Method context: [8]. Runtime figures are an illustrative calculation, not a software benchmark.</a:t>
            </a:r>
          </a:p>
        </p:txBody>
      </p:sp>
      <p:sp>
        <p:nvSpPr>
          <p:cNvPr id="9" name="Rounded Rectangle 8"/>
          <p:cNvSpPr/>
          <p:nvPr/>
        </p:nvSpPr>
        <p:spPr>
          <a:xfrm>
            <a:off x="603504" y="1764792"/>
            <a:ext cx="5358384" cy="1472184"/>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04672" y="1874519"/>
            <a:ext cx="4956048"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HIGH-FIDELITY MODEL</a:t>
            </a:r>
          </a:p>
        </p:txBody>
      </p:sp>
      <mc:AlternateContent xmlns:mc="http://schemas.openxmlformats.org/markup-compatibility/2006">
        <mc:Choice xmlns:a14="http://schemas.microsoft.com/office/drawing/2010/main" Requires="a14">
          <p:sp>
            <p:nvSpPr>
              <p:cNvPr id="11" name="Equation 003" descr="\mathbf{y}=f_{\mathrm{HF}}(\mathbf{x})"/>
              <p:cNvSpPr txBox="1"/>
              <p:nvPr/>
            </p:nvSpPr>
            <p:spPr>
              <a:xfrm>
                <a:off x="2226815" y="2449576"/>
                <a:ext cx="2111761" cy="431800"/>
              </a:xfrm>
              <a:prstGeom prst="rect">
                <a:avLst/>
              </a:prstGeom>
              <a:noFill/>
              <a:effectLst/>
            </p:spPr>
            <p:txBody>
              <a:bodyPr wrap="none" lIns="0" tIns="0" rIns="0" bIns="0" anchor="ctr">
                <a:noAutofit/>
              </a:bodyPr>
              <a:lstStyle/>
              <a:p>
                <a:pPr algn="ctr">
                  <a:spcBef>
                    <a:spcPts val="0"/>
                  </a:spcBef>
                  <a:spcAft>
                    <a:spcPts val="0"/>
                  </a:spcAft>
                  <a:defRPr sz="3400">
                    <a:latin typeface="Cambria Math"/>
                  </a:defRPr>
                </a:pPr>
                <a14:m>
                  <m:oMathPara xmlns:m="http://schemas.openxmlformats.org/officeDocument/2006/math">
                    <m:oMathParaPr>
                      <m:jc m:val="center"/>
                    </m:oMathParaPr>
                    <m:oMath xmlns:m="http://schemas.openxmlformats.org/officeDocument/2006/math">
                      <m:r>
                        <a:rPr lang="en-GB" sz="3400" i="0">
                          <a:latin typeface="Cambria Math"/>
                        </a:rPr>
                        <m:t>𝐲</m:t>
                      </m:r>
                      <m:r>
                        <a:rPr lang="en-GB" sz="3400" i="0">
                          <a:latin typeface="Cambria Math"/>
                        </a:rPr>
                        <m:t>=</m:t>
                      </m:r>
                      <m:sSub>
                        <m:sSubPr>
                          <m:ctrlPr>
                            <a:rPr lang="en-GB" sz="3400" i="1">
                              <a:latin typeface="Cambria Math" panose="02040503050406030204" pitchFamily="18" charset="0"/>
                            </a:rPr>
                          </m:ctrlPr>
                        </m:sSubPr>
                        <m:e>
                          <m:r>
                            <a:rPr lang="en-GB" sz="3400">
                              <a:latin typeface="Cambria Math"/>
                            </a:rPr>
                            <m:t>𝑓</m:t>
                          </m:r>
                        </m:e>
                        <m:sub>
                          <m:r>
                            <m:rPr>
                              <m:sty m:val="p"/>
                            </m:rPr>
                            <a:rPr lang="en-GB" sz="3400" i="0">
                              <a:latin typeface="Cambria Math"/>
                            </a:rPr>
                            <m:t>HF</m:t>
                          </m:r>
                        </m:sub>
                      </m:sSub>
                      <m:d>
                        <m:dPr>
                          <m:ctrlPr>
                            <a:rPr lang="en-GB" sz="3400" i="1">
                              <a:latin typeface="Cambria Math" panose="02040503050406030204" pitchFamily="18" charset="0"/>
                            </a:rPr>
                          </m:ctrlPr>
                        </m:dPr>
                        <m:e>
                          <m:r>
                            <a:rPr lang="en-GB" sz="3400" i="0">
                              <a:latin typeface="Cambria Math"/>
                            </a:rPr>
                            <m:t>𝐱</m:t>
                          </m:r>
                        </m:e>
                      </m:d>
                    </m:oMath>
                  </m:oMathPara>
                </a14:m>
                <a:endParaRPr/>
              </a:p>
            </p:txBody>
          </p:sp>
        </mc:Choice>
        <mc:Fallback>
          <p:sp>
            <p:nvSpPr>
              <p:cNvPr id="11" name="Equation 003" descr="\mathbf{y}=f_{\mathrm{HF}}(\mathbf{x})"/>
              <p:cNvSpPr txBox="1">
                <a:spLocks noRot="1" noChangeAspect="1" noMove="1" noResize="1" noEditPoints="1" noAdjustHandles="1" noChangeArrowheads="1" noChangeShapeType="1" noTextEdit="1"/>
              </p:cNvSpPr>
              <p:nvPr/>
            </p:nvSpPr>
            <p:spPr>
              <a:xfrm>
                <a:off x="2226815" y="2449576"/>
                <a:ext cx="2111761" cy="431800"/>
              </a:xfrm>
              <a:prstGeom prst="rect">
                <a:avLst/>
              </a:prstGeom>
              <a:blipFill>
                <a:blip r:embed="rId3"/>
                <a:stretch>
                  <a:fillRect l="-6587" t="-8333" b="-47222"/>
                </a:stretch>
              </a:blipFill>
              <a:effectLst/>
            </p:spPr>
            <p:txBody>
              <a:bodyPr/>
              <a:lstStyle/>
              <a:p>
                <a:r>
                  <a:rPr lang="zh-CN" altLang="en-US">
                    <a:noFill/>
                  </a:rPr>
                  <a:t> </a:t>
                </a:r>
              </a:p>
            </p:txBody>
          </p:sp>
        </mc:Fallback>
      </mc:AlternateContent>
      <p:sp>
        <p:nvSpPr>
          <p:cNvPr id="12" name="Rounded Rectangle 11"/>
          <p:cNvSpPr/>
          <p:nvPr/>
        </p:nvSpPr>
        <p:spPr>
          <a:xfrm>
            <a:off x="6227064" y="1764792"/>
            <a:ext cx="5358384" cy="1472184"/>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6428231" y="1874519"/>
            <a:ext cx="4956048"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SURROGATE MODEL</a:t>
            </a:r>
          </a:p>
        </p:txBody>
      </p:sp>
      <mc:AlternateContent xmlns:mc="http://schemas.openxmlformats.org/markup-compatibility/2006">
        <mc:Choice xmlns:a14="http://schemas.microsoft.com/office/drawing/2010/main" Requires="a14">
          <p:sp>
            <p:nvSpPr>
              <p:cNvPr id="14" name="Equation 004" descr="\hat{\mathbf{y}}=g(\mathbf{x})\approx f_{\mathrm{HF}}(\mathbf{x})"/>
              <p:cNvSpPr txBox="1"/>
              <p:nvPr/>
            </p:nvSpPr>
            <p:spPr>
              <a:xfrm>
                <a:off x="7365834" y="2463165"/>
                <a:ext cx="3080842" cy="404622"/>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acc>
                        <m:accPr>
                          <m:chr m:val="̂"/>
                          <m:ctrlPr>
                            <a:rPr lang="en-GB" sz="3000">
                              <a:latin typeface="Cambria Math" panose="02040503050406030204" pitchFamily="18" charset="0"/>
                            </a:rPr>
                          </m:ctrlPr>
                        </m:accPr>
                        <m:e>
                          <m:r>
                            <a:rPr lang="en-GB" sz="3000" i="0">
                              <a:latin typeface="Cambria Math"/>
                            </a:rPr>
                            <m:t>𝐲</m:t>
                          </m:r>
                        </m:e>
                      </m:acc>
                      <m:r>
                        <a:rPr lang="en-GB" sz="3000" i="0">
                          <a:latin typeface="Cambria Math"/>
                        </a:rPr>
                        <m:t>=</m:t>
                      </m:r>
                      <m:r>
                        <a:rPr lang="en-GB" sz="3000">
                          <a:latin typeface="Cambria Math"/>
                        </a:rPr>
                        <m:t>𝑔</m:t>
                      </m:r>
                      <m:d>
                        <m:dPr>
                          <m:ctrlPr>
                            <a:rPr lang="en-GB" sz="3000" i="1">
                              <a:latin typeface="Cambria Math" panose="02040503050406030204" pitchFamily="18" charset="0"/>
                            </a:rPr>
                          </m:ctrlPr>
                        </m:dPr>
                        <m:e>
                          <m:r>
                            <a:rPr lang="en-GB" sz="3000" i="0">
                              <a:latin typeface="Cambria Math"/>
                            </a:rPr>
                            <m:t>𝐱</m:t>
                          </m:r>
                        </m:e>
                      </m:d>
                      <m:r>
                        <a:rPr lang="en-GB" sz="3000" i="0">
                          <a:latin typeface="Cambria Math"/>
                        </a:rPr>
                        <m:t>≈</m:t>
                      </m:r>
                      <m:sSub>
                        <m:sSubPr>
                          <m:ctrlPr>
                            <a:rPr lang="en-GB" sz="3000" i="1">
                              <a:latin typeface="Cambria Math" panose="02040503050406030204" pitchFamily="18" charset="0"/>
                            </a:rPr>
                          </m:ctrlPr>
                        </m:sSubPr>
                        <m:e>
                          <m:r>
                            <a:rPr lang="en-GB" sz="3000">
                              <a:latin typeface="Cambria Math"/>
                            </a:rPr>
                            <m:t>𝑓</m:t>
                          </m:r>
                        </m:e>
                        <m:sub>
                          <m:r>
                            <m:rPr>
                              <m:sty m:val="p"/>
                            </m:rPr>
                            <a:rPr lang="en-GB" sz="3000" i="0">
                              <a:latin typeface="Cambria Math"/>
                            </a:rPr>
                            <m:t>HF</m:t>
                          </m:r>
                        </m:sub>
                      </m:sSub>
                      <m:d>
                        <m:dPr>
                          <m:ctrlPr>
                            <a:rPr lang="en-GB" sz="3000" i="1">
                              <a:latin typeface="Cambria Math" panose="02040503050406030204" pitchFamily="18" charset="0"/>
                            </a:rPr>
                          </m:ctrlPr>
                        </m:dPr>
                        <m:e>
                          <m:r>
                            <a:rPr lang="en-GB" sz="3000" i="0">
                              <a:latin typeface="Cambria Math"/>
                            </a:rPr>
                            <m:t>𝐱</m:t>
                          </m:r>
                        </m:e>
                      </m:d>
                    </m:oMath>
                  </m:oMathPara>
                </a14:m>
                <a:endParaRPr/>
              </a:p>
            </p:txBody>
          </p:sp>
        </mc:Choice>
        <mc:Fallback>
          <p:sp>
            <p:nvSpPr>
              <p:cNvPr id="14" name="Equation 004" descr="\hat{\mathbf{y}}=g(\mathbf{x})\approx f_{\mathrm{HF}}(\mathbf{x})"/>
              <p:cNvSpPr txBox="1">
                <a:spLocks noRot="1" noChangeAspect="1" noMove="1" noResize="1" noEditPoints="1" noAdjustHandles="1" noChangeArrowheads="1" noChangeShapeType="1" noTextEdit="1"/>
              </p:cNvSpPr>
              <p:nvPr/>
            </p:nvSpPr>
            <p:spPr>
              <a:xfrm>
                <a:off x="7365834" y="2463165"/>
                <a:ext cx="3080842" cy="404622"/>
              </a:xfrm>
              <a:prstGeom prst="rect">
                <a:avLst/>
              </a:prstGeom>
              <a:blipFill>
                <a:blip r:embed="rId4"/>
                <a:stretch>
                  <a:fillRect l="-4508" t="-21212" b="-45455"/>
                </a:stretch>
              </a:blipFill>
              <a:effectLst/>
            </p:spPr>
            <p:txBody>
              <a:bodyPr/>
              <a:lstStyle/>
              <a:p>
                <a:r>
                  <a:rPr lang="zh-CN" altLang="en-US">
                    <a:noFill/>
                  </a:rPr>
                  <a:t> </a:t>
                </a:r>
              </a:p>
            </p:txBody>
          </p:sp>
        </mc:Fallback>
      </mc:AlternateContent>
      <p:sp>
        <p:nvSpPr>
          <p:cNvPr id="15" name="TextBox 14"/>
          <p:cNvSpPr txBox="1"/>
          <p:nvPr/>
        </p:nvSpPr>
        <p:spPr>
          <a:xfrm>
            <a:off x="777240" y="3675887"/>
            <a:ext cx="3337560" cy="3200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300" b="1">
                <a:solidFill>
                  <a:srgbClr val="24777A"/>
                </a:solidFill>
                <a:latin typeface="Arial"/>
              </a:rPr>
              <a:t>ONE EVALUATION</a:t>
            </a:r>
          </a:p>
        </p:txBody>
      </p:sp>
      <p:sp>
        <p:nvSpPr>
          <p:cNvPr id="16" name="TextBox 15"/>
          <p:cNvSpPr txBox="1"/>
          <p:nvPr/>
        </p:nvSpPr>
        <p:spPr>
          <a:xfrm>
            <a:off x="777240" y="4105656"/>
            <a:ext cx="3246120" cy="66751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3400" b="1">
                <a:solidFill>
                  <a:srgbClr val="173042"/>
                </a:solidFill>
                <a:latin typeface="Arial"/>
              </a:rPr>
              <a:t>30 seconds</a:t>
            </a:r>
          </a:p>
        </p:txBody>
      </p:sp>
      <p:sp>
        <p:nvSpPr>
          <p:cNvPr id="17" name="TextBox 16"/>
          <p:cNvSpPr txBox="1"/>
          <p:nvPr/>
        </p:nvSpPr>
        <p:spPr>
          <a:xfrm>
            <a:off x="4416552" y="3675887"/>
            <a:ext cx="4480560" cy="3200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300" b="1">
                <a:solidFill>
                  <a:srgbClr val="24777A"/>
                </a:solidFill>
                <a:latin typeface="Arial"/>
              </a:rPr>
              <a:t>10,000 EVALUATIONS</a:t>
            </a:r>
          </a:p>
        </p:txBody>
      </p:sp>
      <p:sp>
        <p:nvSpPr>
          <p:cNvPr id="18" name="TextBox 17"/>
          <p:cNvSpPr txBox="1"/>
          <p:nvPr/>
        </p:nvSpPr>
        <p:spPr>
          <a:xfrm>
            <a:off x="4416552" y="4105656"/>
            <a:ext cx="3291840" cy="66751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3400" b="1">
                <a:solidFill>
                  <a:srgbClr val="173042"/>
                </a:solidFill>
                <a:latin typeface="Arial"/>
              </a:rPr>
              <a:t>83.3 hours</a:t>
            </a:r>
          </a:p>
        </p:txBody>
      </p:sp>
      <p:sp>
        <p:nvSpPr>
          <p:cNvPr id="19" name="TextBox 18"/>
          <p:cNvSpPr txBox="1"/>
          <p:nvPr/>
        </p:nvSpPr>
        <p:spPr>
          <a:xfrm>
            <a:off x="8302752" y="3685032"/>
            <a:ext cx="3017520" cy="16276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Use the surrogate to screen many candidates; verify the important ones with the original model.</a:t>
            </a:r>
          </a:p>
        </p:txBody>
      </p:sp>
      <p:sp>
        <p:nvSpPr>
          <p:cNvPr id="20" name="Rounded Rectangle 19"/>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Training data, model development and validation still have a cost.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01 • FOUNDATIONS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A perfect simulator fit is not a perfect real-world model</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06</a:t>
            </a:r>
          </a:p>
        </p:txBody>
      </p:sp>
      <p:sp>
        <p:nvSpPr>
          <p:cNvPr id="8" name="Rounded Rectangle 7"/>
          <p:cNvSpPr/>
          <p:nvPr/>
        </p:nvSpPr>
        <p:spPr>
          <a:xfrm>
            <a:off x="676656" y="1874519"/>
            <a:ext cx="10826496" cy="1261872"/>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9" name="Equation 005" descr="g-y_{\mathrm{real}}=(g-f_{\mathrm{HF}})+(f_{\mathrm{HF}}-y_{\mathrm{real}})"/>
              <p:cNvSpPr txBox="1"/>
              <p:nvPr/>
            </p:nvSpPr>
            <p:spPr>
              <a:xfrm>
                <a:off x="3079673" y="2308606"/>
                <a:ext cx="6020460" cy="393700"/>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r>
                        <a:rPr lang="en-GB" sz="3100">
                          <a:latin typeface="Cambria Math"/>
                        </a:rPr>
                        <m:t>𝑔</m:t>
                      </m:r>
                      <m:r>
                        <a:rPr lang="en-GB" sz="3100" i="0">
                          <a:latin typeface="Cambria Math"/>
                        </a:rPr>
                        <m:t>−</m:t>
                      </m:r>
                      <m:sSub>
                        <m:sSubPr>
                          <m:ctrlPr>
                            <a:rPr lang="en-GB" sz="3100" i="1">
                              <a:latin typeface="Cambria Math" panose="02040503050406030204" pitchFamily="18" charset="0"/>
                            </a:rPr>
                          </m:ctrlPr>
                        </m:sSubPr>
                        <m:e>
                          <m:r>
                            <a:rPr lang="en-GB" sz="3100">
                              <a:latin typeface="Cambria Math"/>
                            </a:rPr>
                            <m:t>𝑦</m:t>
                          </m:r>
                        </m:e>
                        <m:sub>
                          <m:r>
                            <m:rPr>
                              <m:sty m:val="p"/>
                            </m:rPr>
                            <a:rPr lang="en-GB" sz="3100" i="0">
                              <a:latin typeface="Cambria Math"/>
                            </a:rPr>
                            <m:t>real</m:t>
                          </m:r>
                        </m:sub>
                      </m:sSub>
                      <m:r>
                        <a:rPr lang="en-GB" sz="3100" i="0">
                          <a:latin typeface="Cambria Math"/>
                        </a:rPr>
                        <m:t>=</m:t>
                      </m:r>
                      <m:d>
                        <m:dPr>
                          <m:ctrlPr>
                            <a:rPr lang="en-GB" sz="3100" i="1">
                              <a:latin typeface="Cambria Math" panose="02040503050406030204" pitchFamily="18" charset="0"/>
                            </a:rPr>
                          </m:ctrlPr>
                        </m:dPr>
                        <m:e>
                          <m:r>
                            <a:rPr lang="en-GB" sz="3100">
                              <a:latin typeface="Cambria Math"/>
                            </a:rPr>
                            <m:t>𝑔</m:t>
                          </m:r>
                          <m:r>
                            <a:rPr lang="en-GB" sz="3100" i="0">
                              <a:latin typeface="Cambria Math"/>
                            </a:rPr>
                            <m:t>−</m:t>
                          </m:r>
                          <m:sSub>
                            <m:sSubPr>
                              <m:ctrlPr>
                                <a:rPr lang="en-GB" sz="3100" i="1">
                                  <a:latin typeface="Cambria Math" panose="02040503050406030204" pitchFamily="18" charset="0"/>
                                </a:rPr>
                              </m:ctrlPr>
                            </m:sSubPr>
                            <m:e>
                              <m:r>
                                <a:rPr lang="en-GB" sz="3100">
                                  <a:latin typeface="Cambria Math"/>
                                </a:rPr>
                                <m:t>𝑓</m:t>
                              </m:r>
                            </m:e>
                            <m:sub>
                              <m:r>
                                <m:rPr>
                                  <m:sty m:val="p"/>
                                </m:rPr>
                                <a:rPr lang="en-GB" sz="3100" i="0">
                                  <a:latin typeface="Cambria Math"/>
                                </a:rPr>
                                <m:t>HF</m:t>
                              </m:r>
                            </m:sub>
                          </m:sSub>
                        </m:e>
                      </m:d>
                      <m:r>
                        <a:rPr lang="en-GB" sz="3100" i="0">
                          <a:latin typeface="Cambria Math"/>
                        </a:rPr>
                        <m:t>+</m:t>
                      </m:r>
                      <m:d>
                        <m:dPr>
                          <m:ctrlPr>
                            <a:rPr lang="en-GB" sz="3100" i="1">
                              <a:latin typeface="Cambria Math" panose="02040503050406030204" pitchFamily="18" charset="0"/>
                            </a:rPr>
                          </m:ctrlPr>
                        </m:dPr>
                        <m:e>
                          <m:sSub>
                            <m:sSubPr>
                              <m:ctrlPr>
                                <a:rPr lang="en-GB" sz="3100" i="1">
                                  <a:latin typeface="Cambria Math" panose="02040503050406030204" pitchFamily="18" charset="0"/>
                                </a:rPr>
                              </m:ctrlPr>
                            </m:sSubPr>
                            <m:e>
                              <m:r>
                                <a:rPr lang="en-GB" sz="3100">
                                  <a:latin typeface="Cambria Math"/>
                                </a:rPr>
                                <m:t>𝑓</m:t>
                              </m:r>
                            </m:e>
                            <m:sub>
                              <m:r>
                                <m:rPr>
                                  <m:sty m:val="p"/>
                                </m:rPr>
                                <a:rPr lang="en-GB" sz="3100" i="0">
                                  <a:latin typeface="Cambria Math"/>
                                </a:rPr>
                                <m:t>HF</m:t>
                              </m:r>
                            </m:sub>
                          </m:sSub>
                          <m:r>
                            <a:rPr lang="en-GB" sz="3100" i="0">
                              <a:latin typeface="Cambria Math"/>
                            </a:rPr>
                            <m:t>−</m:t>
                          </m:r>
                          <m:sSub>
                            <m:sSubPr>
                              <m:ctrlPr>
                                <a:rPr lang="en-GB" sz="3100" i="1">
                                  <a:latin typeface="Cambria Math" panose="02040503050406030204" pitchFamily="18" charset="0"/>
                                </a:rPr>
                              </m:ctrlPr>
                            </m:sSubPr>
                            <m:e>
                              <m:r>
                                <a:rPr lang="en-GB" sz="3100">
                                  <a:latin typeface="Cambria Math"/>
                                </a:rPr>
                                <m:t>𝑦</m:t>
                              </m:r>
                            </m:e>
                            <m:sub>
                              <m:r>
                                <m:rPr>
                                  <m:sty m:val="p"/>
                                </m:rPr>
                                <a:rPr lang="en-GB" sz="3100" i="0">
                                  <a:latin typeface="Cambria Math"/>
                                </a:rPr>
                                <m:t>real</m:t>
                              </m:r>
                            </m:sub>
                          </m:sSub>
                        </m:e>
                      </m:d>
                    </m:oMath>
                  </m:oMathPara>
                </a14:m>
                <a:endParaRPr/>
              </a:p>
            </p:txBody>
          </p:sp>
        </mc:Choice>
        <mc:Fallback>
          <p:sp>
            <p:nvSpPr>
              <p:cNvPr id="9" name="Equation 005" descr="g-y_{\mathrm{real}}=(g-f_{\mathrm{HF}})+(f_{\mathrm{HF}}-y_{\mathrm{real}})"/>
              <p:cNvSpPr txBox="1">
                <a:spLocks noRot="1" noChangeAspect="1" noMove="1" noResize="1" noEditPoints="1" noAdjustHandles="1" noChangeArrowheads="1" noChangeShapeType="1" noTextEdit="1"/>
              </p:cNvSpPr>
              <p:nvPr/>
            </p:nvSpPr>
            <p:spPr>
              <a:xfrm>
                <a:off x="3079673" y="2308606"/>
                <a:ext cx="6020460" cy="393700"/>
              </a:xfrm>
              <a:prstGeom prst="rect">
                <a:avLst/>
              </a:prstGeom>
              <a:blipFill>
                <a:blip r:embed="rId3"/>
                <a:stretch>
                  <a:fillRect l="-4421" t="-9375" r="-211" b="-53125"/>
                </a:stretch>
              </a:blipFill>
              <a:effectLst/>
            </p:spPr>
            <p:txBody>
              <a:bodyPr/>
              <a:lstStyle/>
              <a:p>
                <a:r>
                  <a:rPr lang="zh-CN" altLang="en-US">
                    <a:noFill/>
                  </a:rPr>
                  <a:t> </a:t>
                </a:r>
              </a:p>
            </p:txBody>
          </p:sp>
        </mc:Fallback>
      </mc:AlternateContent>
      <p:sp>
        <p:nvSpPr>
          <p:cNvPr id="10" name="Rounded Rectangle 9"/>
          <p:cNvSpPr/>
          <p:nvPr/>
        </p:nvSpPr>
        <p:spPr>
          <a:xfrm>
            <a:off x="694944" y="3703320"/>
            <a:ext cx="3447288" cy="1655064"/>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914400" y="3886200"/>
            <a:ext cx="300837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TOTAL ERROR</a:t>
            </a:r>
          </a:p>
        </p:txBody>
      </p:sp>
      <p:sp>
        <p:nvSpPr>
          <p:cNvPr id="12" name="TextBox 11"/>
          <p:cNvSpPr txBox="1"/>
          <p:nvPr/>
        </p:nvSpPr>
        <p:spPr>
          <a:xfrm>
            <a:off x="914400" y="4553712"/>
            <a:ext cx="3008376" cy="65836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Surrogate versus the real system.</a:t>
            </a:r>
          </a:p>
        </p:txBody>
      </p:sp>
      <p:sp>
        <p:nvSpPr>
          <p:cNvPr id="13" name="Rounded Rectangle 12"/>
          <p:cNvSpPr/>
          <p:nvPr/>
        </p:nvSpPr>
        <p:spPr>
          <a:xfrm>
            <a:off x="4370832" y="3703320"/>
            <a:ext cx="3447288" cy="1655064"/>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90288" y="3886200"/>
            <a:ext cx="300837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SURROGATE ERROR</a:t>
            </a:r>
          </a:p>
        </p:txBody>
      </p:sp>
      <p:sp>
        <p:nvSpPr>
          <p:cNvPr id="15" name="TextBox 14"/>
          <p:cNvSpPr txBox="1"/>
          <p:nvPr/>
        </p:nvSpPr>
        <p:spPr>
          <a:xfrm>
            <a:off x="4590288" y="4553712"/>
            <a:ext cx="3008376" cy="65836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Approximation of the original simulator.</a:t>
            </a:r>
          </a:p>
        </p:txBody>
      </p:sp>
      <p:sp>
        <p:nvSpPr>
          <p:cNvPr id="16" name="Rounded Rectangle 15"/>
          <p:cNvSpPr/>
          <p:nvPr/>
        </p:nvSpPr>
        <p:spPr>
          <a:xfrm>
            <a:off x="8046720" y="3703320"/>
            <a:ext cx="3447288" cy="1655064"/>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8266176" y="3886200"/>
            <a:ext cx="300837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790" b="1">
                <a:solidFill>
                  <a:srgbClr val="24777A"/>
                </a:solidFill>
                <a:latin typeface="Arial"/>
              </a:rPr>
              <a:t>ORIGINAL-MODEL ERROR</a:t>
            </a:r>
          </a:p>
        </p:txBody>
      </p:sp>
      <p:sp>
        <p:nvSpPr>
          <p:cNvPr id="18" name="TextBox 17"/>
          <p:cNvSpPr txBox="1"/>
          <p:nvPr/>
        </p:nvSpPr>
        <p:spPr>
          <a:xfrm>
            <a:off x="8266176" y="4553712"/>
            <a:ext cx="3008376" cy="65836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Simulator versus the real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01 • FOUNDATIONS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Ordinary regression: specify the structure first</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07</a:t>
            </a:r>
          </a:p>
        </p:txBody>
      </p:sp>
      <p:sp>
        <p:nvSpPr>
          <p:cNvPr id="8" name="Rounded Rectangle 7"/>
          <p:cNvSpPr/>
          <p:nvPr/>
        </p:nvSpPr>
        <p:spPr>
          <a:xfrm>
            <a:off x="649224" y="1783080"/>
            <a:ext cx="10872216" cy="127101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850392" y="1892807"/>
            <a:ext cx="10469880"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QUADRATIC RESPONSE SURFACE</a:t>
            </a:r>
          </a:p>
        </p:txBody>
      </p:sp>
      <mc:AlternateContent xmlns:mc="http://schemas.openxmlformats.org/markup-compatibility/2006">
        <mc:Choice xmlns:a14="http://schemas.microsoft.com/office/drawing/2010/main" Requires="a14">
          <p:sp>
            <p:nvSpPr>
              <p:cNvPr id="10" name="Equation 006" descr="\hat X=a_0+a_1T+a_2P+a_3T^2+a_4TP+a_5P^2"/>
              <p:cNvSpPr txBox="1"/>
              <p:nvPr/>
            </p:nvSpPr>
            <p:spPr>
              <a:xfrm>
                <a:off x="2381878" y="2351417"/>
                <a:ext cx="7406906" cy="463524"/>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acc>
                        <m:accPr>
                          <m:chr m:val="̂"/>
                          <m:ctrlPr>
                            <a:rPr lang="en-GB" sz="3000">
                              <a:latin typeface="Cambria Math" panose="02040503050406030204" pitchFamily="18" charset="0"/>
                            </a:rPr>
                          </m:ctrlPr>
                        </m:accPr>
                        <m:e>
                          <m:r>
                            <a:rPr lang="en-GB" sz="3000">
                              <a:latin typeface="Cambria Math"/>
                            </a:rPr>
                            <m:t>𝑋</m:t>
                          </m:r>
                        </m:e>
                      </m:acc>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0</m:t>
                          </m:r>
                        </m:sub>
                      </m:sSub>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1</m:t>
                          </m:r>
                        </m:sub>
                      </m:sSub>
                      <m:r>
                        <a:rPr lang="en-GB" sz="3000">
                          <a:latin typeface="Cambria Math"/>
                        </a:rPr>
                        <m:t>𝑇</m:t>
                      </m:r>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2</m:t>
                          </m:r>
                        </m:sub>
                      </m:sSub>
                      <m:r>
                        <a:rPr lang="en-GB" sz="3000">
                          <a:latin typeface="Cambria Math"/>
                        </a:rPr>
                        <m:t>𝑃</m:t>
                      </m:r>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3</m:t>
                          </m:r>
                        </m:sub>
                      </m:sSub>
                      <m:sSup>
                        <m:sSupPr>
                          <m:ctrlPr>
                            <a:rPr lang="en-GB" sz="3000" i="1">
                              <a:latin typeface="Cambria Math" panose="02040503050406030204" pitchFamily="18" charset="0"/>
                            </a:rPr>
                          </m:ctrlPr>
                        </m:sSupPr>
                        <m:e>
                          <m:r>
                            <a:rPr lang="en-GB" sz="3000">
                              <a:latin typeface="Cambria Math"/>
                            </a:rPr>
                            <m:t>𝑇</m:t>
                          </m:r>
                        </m:e>
                        <m:sup>
                          <m:r>
                            <a:rPr lang="en-GB" sz="3000">
                              <a:latin typeface="Cambria Math"/>
                            </a:rPr>
                            <m:t>2</m:t>
                          </m:r>
                        </m:sup>
                      </m:sSup>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4</m:t>
                          </m:r>
                        </m:sub>
                      </m:sSub>
                      <m:r>
                        <a:rPr lang="en-GB" sz="3000">
                          <a:latin typeface="Cambria Math"/>
                        </a:rPr>
                        <m:t>𝑇𝑃</m:t>
                      </m:r>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5</m:t>
                          </m:r>
                        </m:sub>
                      </m:sSub>
                      <m:sSup>
                        <m:sSupPr>
                          <m:ctrlPr>
                            <a:rPr lang="en-GB" sz="3000" i="1">
                              <a:latin typeface="Cambria Math" panose="02040503050406030204" pitchFamily="18" charset="0"/>
                            </a:rPr>
                          </m:ctrlPr>
                        </m:sSupPr>
                        <m:e>
                          <m:r>
                            <a:rPr lang="en-GB" sz="3000">
                              <a:latin typeface="Cambria Math"/>
                            </a:rPr>
                            <m:t>𝑃</m:t>
                          </m:r>
                        </m:e>
                        <m:sup>
                          <m:r>
                            <a:rPr lang="en-GB" sz="3000">
                              <a:latin typeface="Cambria Math"/>
                            </a:rPr>
                            <m:t>2</m:t>
                          </m:r>
                        </m:sup>
                      </m:sSup>
                    </m:oMath>
                  </m:oMathPara>
                </a14:m>
                <a:endParaRPr/>
              </a:p>
            </p:txBody>
          </p:sp>
        </mc:Choice>
        <mc:Fallback>
          <p:sp>
            <p:nvSpPr>
              <p:cNvPr id="10" name="Equation 006" descr="\hat X=a_0+a_1T+a_2P+a_3T^2+a_4TP+a_5P^2"/>
              <p:cNvSpPr txBox="1">
                <a:spLocks noRot="1" noChangeAspect="1" noMove="1" noResize="1" noEditPoints="1" noAdjustHandles="1" noChangeArrowheads="1" noChangeShapeType="1" noTextEdit="1"/>
              </p:cNvSpPr>
              <p:nvPr/>
            </p:nvSpPr>
            <p:spPr>
              <a:xfrm>
                <a:off x="2381878" y="2351417"/>
                <a:ext cx="7406906" cy="463524"/>
              </a:xfrm>
              <a:prstGeom prst="rect">
                <a:avLst/>
              </a:prstGeom>
              <a:blipFill>
                <a:blip r:embed="rId3"/>
                <a:stretch>
                  <a:fillRect l="-514" t="-24324" b="-16216"/>
                </a:stretch>
              </a:blipFill>
              <a:effectLst/>
            </p:spPr>
            <p:txBody>
              <a:bodyPr/>
              <a:lstStyle/>
              <a:p>
                <a:r>
                  <a:rPr lang="zh-CN" altLang="en-US">
                    <a:noFill/>
                  </a:rPr>
                  <a:t> </a:t>
                </a:r>
              </a:p>
            </p:txBody>
          </p:sp>
        </mc:Fallback>
      </mc:AlternateContent>
      <p:sp>
        <p:nvSpPr>
          <p:cNvPr id="11" name="Rounded Rectangle 10"/>
          <p:cNvSpPr/>
          <p:nvPr/>
        </p:nvSpPr>
        <p:spPr>
          <a:xfrm>
            <a:off x="667512" y="3374136"/>
            <a:ext cx="5230368" cy="148132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868680" y="3483864"/>
            <a:ext cx="4828031"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FIXED NONLINEAR STRUCTURE</a:t>
            </a:r>
          </a:p>
        </p:txBody>
      </p:sp>
      <mc:AlternateContent xmlns:mc="http://schemas.openxmlformats.org/markup-compatibility/2006">
        <mc:Choice xmlns:a14="http://schemas.microsoft.com/office/drawing/2010/main" Requires="a14">
          <p:sp>
            <p:nvSpPr>
              <p:cNvPr id="13" name="Equation 007" descr="\hat X=a\exp\left(-\frac{b}{T}\right)"/>
              <p:cNvSpPr txBox="1"/>
              <p:nvPr/>
            </p:nvSpPr>
            <p:spPr>
              <a:xfrm>
                <a:off x="1733419" y="3813048"/>
                <a:ext cx="3098553" cy="932688"/>
              </a:xfrm>
              <a:prstGeom prst="rect">
                <a:avLst/>
              </a:prstGeom>
              <a:noFill/>
              <a:effectLst/>
            </p:spPr>
            <p:txBody>
              <a:bodyPr wrap="none" lIns="0" tIns="0" rIns="0" bIns="0" anchor="ctr">
                <a:noAutofit/>
              </a:bodyPr>
              <a:lstStyle/>
              <a:p>
                <a:pPr algn="ctr">
                  <a:spcBef>
                    <a:spcPts val="0"/>
                  </a:spcBef>
                  <a:spcAft>
                    <a:spcPts val="0"/>
                  </a:spcAft>
                  <a:defRPr sz="3061">
                    <a:latin typeface="Cambria Math"/>
                  </a:defRPr>
                </a:pPr>
                <a14:m>
                  <m:oMathPara xmlns:m="http://schemas.openxmlformats.org/officeDocument/2006/math">
                    <m:oMathParaPr>
                      <m:jc m:val="center"/>
                    </m:oMathParaPr>
                    <m:oMath xmlns:m="http://schemas.openxmlformats.org/officeDocument/2006/math">
                      <m:acc>
                        <m:accPr>
                          <m:chr m:val="̂"/>
                          <m:ctrlPr>
                            <a:rPr lang="en-GB" sz="3061">
                              <a:latin typeface="Cambria Math" panose="02040503050406030204" pitchFamily="18" charset="0"/>
                            </a:rPr>
                          </m:ctrlPr>
                        </m:accPr>
                        <m:e>
                          <m:r>
                            <a:rPr lang="en-GB" sz="3061">
                              <a:latin typeface="Cambria Math"/>
                            </a:rPr>
                            <m:t>𝑋</m:t>
                          </m:r>
                        </m:e>
                      </m:acc>
                      <m:r>
                        <a:rPr lang="en-GB" sz="3061" i="0">
                          <a:latin typeface="Cambria Math"/>
                        </a:rPr>
                        <m:t>=</m:t>
                      </m:r>
                      <m:r>
                        <a:rPr lang="en-GB" sz="3061">
                          <a:latin typeface="Cambria Math"/>
                        </a:rPr>
                        <m:t>𝑎</m:t>
                      </m:r>
                      <m:r>
                        <m:rPr>
                          <m:sty m:val="p"/>
                        </m:rPr>
                        <a:rPr lang="en-GB" sz="3061" i="0">
                          <a:latin typeface="Cambria Math"/>
                        </a:rPr>
                        <m:t>exp</m:t>
                      </m:r>
                      <m:d>
                        <m:dPr>
                          <m:ctrlPr>
                            <a:rPr lang="en-GB" sz="3061" i="1">
                              <a:latin typeface="Cambria Math" panose="02040503050406030204" pitchFamily="18" charset="0"/>
                            </a:rPr>
                          </m:ctrlPr>
                        </m:dPr>
                        <m:e>
                          <m:r>
                            <a:rPr lang="en-GB" sz="3061" i="0">
                              <a:latin typeface="Cambria Math"/>
                            </a:rPr>
                            <m:t>−</m:t>
                          </m:r>
                          <m:f>
                            <m:fPr>
                              <m:ctrlPr>
                                <a:rPr lang="en-GB" sz="3061" i="1">
                                  <a:latin typeface="Cambria Math" panose="02040503050406030204" pitchFamily="18" charset="0"/>
                                </a:rPr>
                              </m:ctrlPr>
                            </m:fPr>
                            <m:num>
                              <m:r>
                                <a:rPr lang="en-GB" sz="3061">
                                  <a:latin typeface="Cambria Math"/>
                                </a:rPr>
                                <m:t>𝑏</m:t>
                              </m:r>
                            </m:num>
                            <m:den>
                              <m:r>
                                <a:rPr lang="en-GB" sz="3061">
                                  <a:latin typeface="Cambria Math"/>
                                </a:rPr>
                                <m:t>𝑇</m:t>
                              </m:r>
                            </m:den>
                          </m:f>
                        </m:e>
                      </m:d>
                    </m:oMath>
                  </m:oMathPara>
                </a14:m>
                <a:endParaRPr/>
              </a:p>
            </p:txBody>
          </p:sp>
        </mc:Choice>
        <mc:Fallback>
          <p:sp>
            <p:nvSpPr>
              <p:cNvPr id="13" name="Equation 007" descr="\hat X=a\exp\left(-\frac{b}{T}\right)"/>
              <p:cNvSpPr txBox="1">
                <a:spLocks noRot="1" noChangeAspect="1" noMove="1" noResize="1" noEditPoints="1" noAdjustHandles="1" noChangeArrowheads="1" noChangeShapeType="1" noTextEdit="1"/>
              </p:cNvSpPr>
              <p:nvPr/>
            </p:nvSpPr>
            <p:spPr>
              <a:xfrm>
                <a:off x="1733419" y="3813048"/>
                <a:ext cx="3098553" cy="932688"/>
              </a:xfrm>
              <a:prstGeom prst="rect">
                <a:avLst/>
              </a:prstGeom>
              <a:blipFill>
                <a:blip r:embed="rId4"/>
                <a:stretch>
                  <a:fillRect b="-12162"/>
                </a:stretch>
              </a:blipFill>
              <a:effectLst/>
            </p:spPr>
            <p:txBody>
              <a:bodyPr/>
              <a:lstStyle/>
              <a:p>
                <a:r>
                  <a:rPr lang="zh-CN" altLang="en-US">
                    <a:noFill/>
                  </a:rPr>
                  <a:t> </a:t>
                </a:r>
              </a:p>
            </p:txBody>
          </p:sp>
        </mc:Fallback>
      </mc:AlternateContent>
      <p:sp>
        <p:nvSpPr>
          <p:cNvPr id="14" name="TextBox 13"/>
          <p:cNvSpPr txBox="1"/>
          <p:nvPr/>
        </p:nvSpPr>
        <p:spPr>
          <a:xfrm>
            <a:off x="6409944" y="3639312"/>
            <a:ext cx="4773168" cy="1984248"/>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300" b="0">
                <a:solidFill>
                  <a:srgbClr val="173042"/>
                </a:solidFill>
                <a:latin typeface="Arial"/>
              </a:rPr>
              <a:t>The computer estimates coefficients.</a:t>
            </a:r>
          </a:p>
          <a:p>
            <a:pPr algn="l">
              <a:lnSpc>
                <a:spcPct val="113000"/>
              </a:lnSpc>
              <a:spcBef>
                <a:spcPts val="0"/>
              </a:spcBef>
              <a:spcAft>
                <a:spcPts val="400"/>
              </a:spcAft>
            </a:pPr>
            <a:endParaRPr lang="en-GB" sz="2300" b="0">
              <a:solidFill>
                <a:srgbClr val="173042"/>
              </a:solidFill>
              <a:latin typeface="Arial"/>
            </a:endParaRPr>
          </a:p>
          <a:p>
            <a:pPr algn="l">
              <a:lnSpc>
                <a:spcPct val="113000"/>
              </a:lnSpc>
              <a:spcBef>
                <a:spcPts val="0"/>
              </a:spcBef>
              <a:spcAft>
                <a:spcPts val="0"/>
              </a:spcAft>
            </a:pPr>
            <a:r>
              <a:rPr lang="en-GB" sz="2300" b="0">
                <a:solidFill>
                  <a:srgbClr val="173042"/>
                </a:solidFill>
                <a:latin typeface="Arial"/>
              </a:rPr>
              <a:t>The functional form has already been chosen by the modeller.</a:t>
            </a:r>
          </a:p>
        </p:txBody>
      </p:sp>
      <p:sp>
        <p:nvSpPr>
          <p:cNvPr id="15" name="Rounded Rectangle 14"/>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Nonlinear regression is not automatically symbolic regression.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01 • FOUNDATIONS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Symbolic regression also searches the formula structure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08</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Methods: [1, 2]. Candidate expressions below are schematic, not fitted models.</a:t>
            </a:r>
          </a:p>
        </p:txBody>
      </p:sp>
      <p:sp>
        <p:nvSpPr>
          <p:cNvPr id="9" name="Rounded Rectangle 8"/>
          <p:cNvSpPr/>
          <p:nvPr/>
        </p:nvSpPr>
        <p:spPr>
          <a:xfrm>
            <a:off x="649224" y="1847088"/>
            <a:ext cx="5276088" cy="122529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50392" y="1956816"/>
            <a:ext cx="4873751"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LINEAR</a:t>
            </a:r>
          </a:p>
        </p:txBody>
      </p:sp>
      <mc:AlternateContent xmlns:mc="http://schemas.openxmlformats.org/markup-compatibility/2006">
        <mc:Choice xmlns:a14="http://schemas.microsoft.com/office/drawing/2010/main" Requires="a14">
          <p:sp>
            <p:nvSpPr>
              <p:cNvPr id="11" name="Equation 008" descr="\hat X=a+bT+cP"/>
              <p:cNvSpPr txBox="1"/>
              <p:nvPr/>
            </p:nvSpPr>
            <p:spPr>
              <a:xfrm>
                <a:off x="1863013" y="2408491"/>
                <a:ext cx="2848508" cy="431673"/>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acc>
                        <m:accPr>
                          <m:chr m:val="̂"/>
                          <m:ctrlPr>
                            <a:rPr lang="en-GB" sz="3000">
                              <a:latin typeface="Cambria Math" panose="02040503050406030204" pitchFamily="18" charset="0"/>
                            </a:rPr>
                          </m:ctrlPr>
                        </m:accPr>
                        <m:e>
                          <m:r>
                            <a:rPr lang="en-GB" sz="3000">
                              <a:latin typeface="Cambria Math"/>
                            </a:rPr>
                            <m:t>𝑋</m:t>
                          </m:r>
                        </m:e>
                      </m:acc>
                      <m:r>
                        <a:rPr lang="en-GB" sz="3000" i="0">
                          <a:latin typeface="Cambria Math"/>
                        </a:rPr>
                        <m:t>=</m:t>
                      </m:r>
                      <m:r>
                        <a:rPr lang="en-GB" sz="3000">
                          <a:latin typeface="Cambria Math"/>
                        </a:rPr>
                        <m:t>𝑎</m:t>
                      </m:r>
                      <m:r>
                        <a:rPr lang="en-GB" sz="3000" i="0">
                          <a:latin typeface="Cambria Math"/>
                        </a:rPr>
                        <m:t>+</m:t>
                      </m:r>
                      <m:r>
                        <a:rPr lang="en-GB" sz="3000">
                          <a:latin typeface="Cambria Math"/>
                        </a:rPr>
                        <m:t>𝑏𝑇</m:t>
                      </m:r>
                      <m:r>
                        <a:rPr lang="en-GB" sz="3000" i="0">
                          <a:latin typeface="Cambria Math"/>
                        </a:rPr>
                        <m:t>+</m:t>
                      </m:r>
                      <m:r>
                        <a:rPr lang="en-GB" sz="3000">
                          <a:latin typeface="Cambria Math"/>
                        </a:rPr>
                        <m:t>𝑐𝑃</m:t>
                      </m:r>
                    </m:oMath>
                  </m:oMathPara>
                </a14:m>
                <a:endParaRPr/>
              </a:p>
            </p:txBody>
          </p:sp>
        </mc:Choice>
        <mc:Fallback>
          <p:sp>
            <p:nvSpPr>
              <p:cNvPr id="11" name="Equation 008" descr="\hat X=a+bT+cP"/>
              <p:cNvSpPr txBox="1">
                <a:spLocks noRot="1" noChangeAspect="1" noMove="1" noResize="1" noEditPoints="1" noAdjustHandles="1" noChangeArrowheads="1" noChangeShapeType="1" noTextEdit="1"/>
              </p:cNvSpPr>
              <p:nvPr/>
            </p:nvSpPr>
            <p:spPr>
              <a:xfrm>
                <a:off x="1863013" y="2408491"/>
                <a:ext cx="2848508" cy="431673"/>
              </a:xfrm>
              <a:prstGeom prst="rect">
                <a:avLst/>
              </a:prstGeom>
              <a:blipFill>
                <a:blip r:embed="rId3"/>
                <a:stretch>
                  <a:fillRect l="-3982" t="-28571" r="-442" b="-14286"/>
                </a:stretch>
              </a:blipFill>
              <a:effectLst/>
            </p:spPr>
            <p:txBody>
              <a:bodyPr/>
              <a:lstStyle/>
              <a:p>
                <a:r>
                  <a:rPr lang="zh-CN" altLang="en-US">
                    <a:noFill/>
                  </a:rPr>
                  <a:t> </a:t>
                </a:r>
              </a:p>
            </p:txBody>
          </p:sp>
        </mc:Fallback>
      </mc:AlternateContent>
      <p:sp>
        <p:nvSpPr>
          <p:cNvPr id="12" name="Rounded Rectangle 11"/>
          <p:cNvSpPr/>
          <p:nvPr/>
        </p:nvSpPr>
        <p:spPr>
          <a:xfrm>
            <a:off x="6236208" y="1847088"/>
            <a:ext cx="5276088" cy="122529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6437376" y="1956816"/>
            <a:ext cx="4873751"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INTERACTION</a:t>
            </a:r>
          </a:p>
        </p:txBody>
      </p:sp>
      <mc:AlternateContent xmlns:mc="http://schemas.openxmlformats.org/markup-compatibility/2006">
        <mc:Choice xmlns:a14="http://schemas.microsoft.com/office/drawing/2010/main" Requires="a14">
          <p:sp>
            <p:nvSpPr>
              <p:cNvPr id="14" name="Equation 009" descr="\hat X=a+bTP"/>
              <p:cNvSpPr txBox="1"/>
              <p:nvPr/>
            </p:nvSpPr>
            <p:spPr>
              <a:xfrm>
                <a:off x="7765351" y="2408491"/>
                <a:ext cx="2217801" cy="431673"/>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acc>
                        <m:accPr>
                          <m:chr m:val="̂"/>
                          <m:ctrlPr>
                            <a:rPr lang="en-GB" sz="3000">
                              <a:latin typeface="Cambria Math" panose="02040503050406030204" pitchFamily="18" charset="0"/>
                            </a:rPr>
                          </m:ctrlPr>
                        </m:accPr>
                        <m:e>
                          <m:r>
                            <a:rPr lang="en-GB" sz="3000">
                              <a:latin typeface="Cambria Math"/>
                            </a:rPr>
                            <m:t>𝑋</m:t>
                          </m:r>
                        </m:e>
                      </m:acc>
                      <m:r>
                        <a:rPr lang="en-GB" sz="3000" i="0">
                          <a:latin typeface="Cambria Math"/>
                        </a:rPr>
                        <m:t>=</m:t>
                      </m:r>
                      <m:r>
                        <a:rPr lang="en-GB" sz="3000">
                          <a:latin typeface="Cambria Math"/>
                        </a:rPr>
                        <m:t>𝑎</m:t>
                      </m:r>
                      <m:r>
                        <a:rPr lang="en-GB" sz="3000" i="0">
                          <a:latin typeface="Cambria Math"/>
                        </a:rPr>
                        <m:t>+</m:t>
                      </m:r>
                      <m:r>
                        <a:rPr lang="en-GB" sz="3000">
                          <a:latin typeface="Cambria Math"/>
                        </a:rPr>
                        <m:t>𝑏𝑇𝑃</m:t>
                      </m:r>
                    </m:oMath>
                  </m:oMathPara>
                </a14:m>
                <a:endParaRPr/>
              </a:p>
            </p:txBody>
          </p:sp>
        </mc:Choice>
        <mc:Fallback>
          <p:sp>
            <p:nvSpPr>
              <p:cNvPr id="14" name="Equation 009" descr="\hat X=a+bTP"/>
              <p:cNvSpPr txBox="1">
                <a:spLocks noRot="1" noChangeAspect="1" noMove="1" noResize="1" noEditPoints="1" noAdjustHandles="1" noChangeArrowheads="1" noChangeShapeType="1" noTextEdit="1"/>
              </p:cNvSpPr>
              <p:nvPr/>
            </p:nvSpPr>
            <p:spPr>
              <a:xfrm>
                <a:off x="7765351" y="2408491"/>
                <a:ext cx="2217801" cy="431673"/>
              </a:xfrm>
              <a:prstGeom prst="rect">
                <a:avLst/>
              </a:prstGeom>
              <a:blipFill>
                <a:blip r:embed="rId4"/>
                <a:stretch>
                  <a:fillRect l="-5114" t="-28571" r="-1136" b="-14286"/>
                </a:stretch>
              </a:blipFill>
              <a:effectLst/>
            </p:spPr>
            <p:txBody>
              <a:bodyPr/>
              <a:lstStyle/>
              <a:p>
                <a:r>
                  <a:rPr lang="zh-CN" altLang="en-US">
                    <a:noFill/>
                  </a:rPr>
                  <a:t> </a:t>
                </a:r>
              </a:p>
            </p:txBody>
          </p:sp>
        </mc:Fallback>
      </mc:AlternateContent>
      <p:sp>
        <p:nvSpPr>
          <p:cNvPr id="15" name="Rounded Rectangle 14"/>
          <p:cNvSpPr/>
          <p:nvPr/>
        </p:nvSpPr>
        <p:spPr>
          <a:xfrm>
            <a:off x="649224" y="3355848"/>
            <a:ext cx="5276088" cy="145389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50392" y="3465576"/>
            <a:ext cx="4873751"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SATURATION</a:t>
            </a:r>
          </a:p>
        </p:txBody>
      </p:sp>
      <mc:AlternateContent xmlns:mc="http://schemas.openxmlformats.org/markup-compatibility/2006">
        <mc:Choice xmlns:a14="http://schemas.microsoft.com/office/drawing/2010/main" Requires="a14">
          <p:sp>
            <p:nvSpPr>
              <p:cNvPr id="17" name="Equation 010" descr="\hat X=\frac{aP}{1+bP}"/>
              <p:cNvSpPr txBox="1"/>
              <p:nvPr/>
            </p:nvSpPr>
            <p:spPr>
              <a:xfrm>
                <a:off x="2234184" y="3842194"/>
                <a:ext cx="2106167" cy="810387"/>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acc>
                        <m:accPr>
                          <m:chr m:val="̂"/>
                          <m:ctrlPr>
                            <a:rPr lang="en-GB" sz="3000">
                              <a:latin typeface="Cambria Math" panose="02040503050406030204" pitchFamily="18" charset="0"/>
                            </a:rPr>
                          </m:ctrlPr>
                        </m:accPr>
                        <m:e>
                          <m:r>
                            <a:rPr lang="en-GB" sz="3000">
                              <a:latin typeface="Cambria Math"/>
                            </a:rPr>
                            <m:t>𝑋</m:t>
                          </m:r>
                        </m:e>
                      </m:acc>
                      <m:r>
                        <a:rPr lang="en-GB" sz="3000" i="0">
                          <a:latin typeface="Cambria Math"/>
                        </a:rPr>
                        <m:t>=</m:t>
                      </m:r>
                      <m:f>
                        <m:fPr>
                          <m:ctrlPr>
                            <a:rPr lang="en-GB" sz="3000" i="1">
                              <a:latin typeface="Cambria Math" panose="02040503050406030204" pitchFamily="18" charset="0"/>
                            </a:rPr>
                          </m:ctrlPr>
                        </m:fPr>
                        <m:num>
                          <m:r>
                            <a:rPr lang="en-GB" sz="3000">
                              <a:latin typeface="Cambria Math"/>
                            </a:rPr>
                            <m:t>𝑎𝑃</m:t>
                          </m:r>
                        </m:num>
                        <m:den>
                          <m:r>
                            <a:rPr lang="en-GB" sz="3000">
                              <a:latin typeface="Cambria Math"/>
                            </a:rPr>
                            <m:t>1</m:t>
                          </m:r>
                          <m:r>
                            <a:rPr lang="en-GB" sz="3000" i="0">
                              <a:latin typeface="Cambria Math"/>
                            </a:rPr>
                            <m:t>+</m:t>
                          </m:r>
                          <m:r>
                            <a:rPr lang="en-GB" sz="3000">
                              <a:latin typeface="Cambria Math"/>
                            </a:rPr>
                            <m:t>𝑏𝑃</m:t>
                          </m:r>
                        </m:den>
                      </m:f>
                    </m:oMath>
                  </m:oMathPara>
                </a14:m>
                <a:endParaRPr/>
              </a:p>
            </p:txBody>
          </p:sp>
        </mc:Choice>
        <mc:Fallback>
          <p:sp>
            <p:nvSpPr>
              <p:cNvPr id="17" name="Equation 010" descr="\hat X=\frac{aP}{1+bP}"/>
              <p:cNvSpPr txBox="1">
                <a:spLocks noRot="1" noChangeAspect="1" noMove="1" noResize="1" noEditPoints="1" noAdjustHandles="1" noChangeArrowheads="1" noChangeShapeType="1" noTextEdit="1"/>
              </p:cNvSpPr>
              <p:nvPr/>
            </p:nvSpPr>
            <p:spPr>
              <a:xfrm>
                <a:off x="2234184" y="3842194"/>
                <a:ext cx="2106167" cy="810387"/>
              </a:xfrm>
              <a:prstGeom prst="rect">
                <a:avLst/>
              </a:prstGeom>
              <a:blipFill>
                <a:blip r:embed="rId5"/>
                <a:stretch>
                  <a:fillRect l="-3012" t="-4615" b="-18462"/>
                </a:stretch>
              </a:blipFill>
              <a:effectLst/>
            </p:spPr>
            <p:txBody>
              <a:bodyPr/>
              <a:lstStyle/>
              <a:p>
                <a:r>
                  <a:rPr lang="zh-CN" altLang="en-US">
                    <a:noFill/>
                  </a:rPr>
                  <a:t> </a:t>
                </a:r>
              </a:p>
            </p:txBody>
          </p:sp>
        </mc:Fallback>
      </mc:AlternateContent>
      <p:sp>
        <p:nvSpPr>
          <p:cNvPr id="18" name="Rounded Rectangle 17"/>
          <p:cNvSpPr/>
          <p:nvPr/>
        </p:nvSpPr>
        <p:spPr>
          <a:xfrm>
            <a:off x="6236208" y="3355848"/>
            <a:ext cx="5276088" cy="145389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6437376" y="3465576"/>
            <a:ext cx="4873751"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COMBINED STRUCTURE</a:t>
            </a:r>
          </a:p>
        </p:txBody>
      </p:sp>
      <mc:AlternateContent xmlns:mc="http://schemas.openxmlformats.org/markup-compatibility/2006">
        <mc:Choice xmlns:a14="http://schemas.microsoft.com/office/drawing/2010/main" Requires="a14">
          <p:sp>
            <p:nvSpPr>
              <p:cNvPr id="20" name="Equation 011" descr="\hat X=a\exp\left(-\frac{b}{T}\right)\frac{P}{1+cP}"/>
              <p:cNvSpPr txBox="1"/>
              <p:nvPr/>
            </p:nvSpPr>
            <p:spPr>
              <a:xfrm>
                <a:off x="6790355" y="3805612"/>
                <a:ext cx="4167793" cy="883551"/>
              </a:xfrm>
              <a:prstGeom prst="rect">
                <a:avLst/>
              </a:prstGeom>
              <a:noFill/>
              <a:effectLst/>
            </p:spPr>
            <p:txBody>
              <a:bodyPr wrap="none" lIns="0" tIns="0" rIns="0" bIns="0" anchor="ctr">
                <a:noAutofit/>
              </a:bodyPr>
              <a:lstStyle/>
              <a:p>
                <a:pPr algn="ctr">
                  <a:spcBef>
                    <a:spcPts val="0"/>
                  </a:spcBef>
                  <a:spcAft>
                    <a:spcPts val="0"/>
                  </a:spcAft>
                  <a:defRPr sz="2900">
                    <a:latin typeface="Cambria Math"/>
                  </a:defRPr>
                </a:pPr>
                <a14:m>
                  <m:oMathPara xmlns:m="http://schemas.openxmlformats.org/officeDocument/2006/math">
                    <m:oMathParaPr>
                      <m:jc m:val="center"/>
                    </m:oMathParaPr>
                    <m:oMath xmlns:m="http://schemas.openxmlformats.org/officeDocument/2006/math">
                      <m:acc>
                        <m:accPr>
                          <m:chr m:val="̂"/>
                          <m:ctrlPr>
                            <a:rPr lang="en-GB" sz="2900">
                              <a:latin typeface="Cambria Math" panose="02040503050406030204" pitchFamily="18" charset="0"/>
                            </a:rPr>
                          </m:ctrlPr>
                        </m:accPr>
                        <m:e>
                          <m:r>
                            <a:rPr lang="en-GB" sz="2900">
                              <a:latin typeface="Cambria Math"/>
                            </a:rPr>
                            <m:t>𝑋</m:t>
                          </m:r>
                        </m:e>
                      </m:acc>
                      <m:r>
                        <a:rPr lang="en-GB" sz="2900" i="0">
                          <a:latin typeface="Cambria Math"/>
                        </a:rPr>
                        <m:t>=</m:t>
                      </m:r>
                      <m:r>
                        <a:rPr lang="en-GB" sz="2900">
                          <a:latin typeface="Cambria Math"/>
                        </a:rPr>
                        <m:t>𝑎</m:t>
                      </m:r>
                      <m:r>
                        <m:rPr>
                          <m:sty m:val="p"/>
                        </m:rPr>
                        <a:rPr lang="en-GB" sz="2900" i="0">
                          <a:latin typeface="Cambria Math"/>
                        </a:rPr>
                        <m:t>exp</m:t>
                      </m:r>
                      <m:d>
                        <m:dPr>
                          <m:ctrlPr>
                            <a:rPr lang="en-GB" sz="2900" i="1">
                              <a:latin typeface="Cambria Math" panose="02040503050406030204" pitchFamily="18" charset="0"/>
                            </a:rPr>
                          </m:ctrlPr>
                        </m:dPr>
                        <m:e>
                          <m:r>
                            <a:rPr lang="en-GB" sz="2900" i="0">
                              <a:latin typeface="Cambria Math"/>
                            </a:rPr>
                            <m:t>−</m:t>
                          </m:r>
                          <m:f>
                            <m:fPr>
                              <m:ctrlPr>
                                <a:rPr lang="en-GB" sz="2900" i="1">
                                  <a:latin typeface="Cambria Math" panose="02040503050406030204" pitchFamily="18" charset="0"/>
                                </a:rPr>
                              </m:ctrlPr>
                            </m:fPr>
                            <m:num>
                              <m:r>
                                <a:rPr lang="en-GB" sz="2900">
                                  <a:latin typeface="Cambria Math"/>
                                </a:rPr>
                                <m:t>𝑏</m:t>
                              </m:r>
                            </m:num>
                            <m:den>
                              <m:r>
                                <a:rPr lang="en-GB" sz="2900">
                                  <a:latin typeface="Cambria Math"/>
                                </a:rPr>
                                <m:t>𝑇</m:t>
                              </m:r>
                            </m:den>
                          </m:f>
                        </m:e>
                      </m:d>
                      <m:f>
                        <m:fPr>
                          <m:ctrlPr>
                            <a:rPr lang="en-GB" sz="2900" i="1">
                              <a:latin typeface="Cambria Math" panose="02040503050406030204" pitchFamily="18" charset="0"/>
                            </a:rPr>
                          </m:ctrlPr>
                        </m:fPr>
                        <m:num>
                          <m:r>
                            <a:rPr lang="en-GB" sz="2900">
                              <a:latin typeface="Cambria Math"/>
                            </a:rPr>
                            <m:t>𝑃</m:t>
                          </m:r>
                        </m:num>
                        <m:den>
                          <m:r>
                            <a:rPr lang="en-GB" sz="2900">
                              <a:latin typeface="Cambria Math"/>
                            </a:rPr>
                            <m:t>1</m:t>
                          </m:r>
                          <m:r>
                            <a:rPr lang="en-GB" sz="2900" i="0">
                              <a:latin typeface="Cambria Math"/>
                            </a:rPr>
                            <m:t>+</m:t>
                          </m:r>
                          <m:r>
                            <a:rPr lang="en-GB" sz="2900">
                              <a:latin typeface="Cambria Math"/>
                            </a:rPr>
                            <m:t>𝑐𝑃</m:t>
                          </m:r>
                        </m:den>
                      </m:f>
                    </m:oMath>
                  </m:oMathPara>
                </a14:m>
                <a:endParaRPr/>
              </a:p>
            </p:txBody>
          </p:sp>
        </mc:Choice>
        <mc:Fallback>
          <p:sp>
            <p:nvSpPr>
              <p:cNvPr id="20" name="Equation 011" descr="\hat X=a\exp\left(-\frac{b}{T}\right)\frac{P}{1+cP}"/>
              <p:cNvSpPr txBox="1">
                <a:spLocks noRot="1" noChangeAspect="1" noMove="1" noResize="1" noEditPoints="1" noAdjustHandles="1" noChangeArrowheads="1" noChangeShapeType="1" noTextEdit="1"/>
              </p:cNvSpPr>
              <p:nvPr/>
            </p:nvSpPr>
            <p:spPr>
              <a:xfrm>
                <a:off x="6790355" y="3805612"/>
                <a:ext cx="4167793" cy="883551"/>
              </a:xfrm>
              <a:prstGeom prst="rect">
                <a:avLst/>
              </a:prstGeom>
              <a:blipFill>
                <a:blip r:embed="rId6"/>
                <a:stretch>
                  <a:fillRect b="-9859"/>
                </a:stretch>
              </a:blipFill>
              <a:effectLst/>
            </p:spPr>
            <p:txBody>
              <a:bodyPr/>
              <a:lstStyle/>
              <a:p>
                <a:r>
                  <a:rPr lang="zh-CN" altLang="en-US">
                    <a:noFill/>
                  </a:rPr>
                  <a:t> </a:t>
                </a:r>
              </a:p>
            </p:txBody>
          </p:sp>
        </mc:Fallback>
      </mc:AlternateContent>
      <p:sp>
        <p:nvSpPr>
          <p:cNvPr id="21" name="Rounded Rectangle 20"/>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Outer problem: choose a structure.  Inner problem: fit its numerical parameters.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02 • HOW FORMULA SEARCH WORKS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Write the model as structure plus parameters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09</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Conceptual formulation: [1].</a:t>
            </a:r>
          </a:p>
        </p:txBody>
      </p:sp>
      <p:sp>
        <p:nvSpPr>
          <p:cNvPr id="9" name="Rounded Rectangle 8"/>
          <p:cNvSpPr/>
          <p:nvPr/>
        </p:nvSpPr>
        <p:spPr>
          <a:xfrm>
            <a:off x="685800" y="1755648"/>
            <a:ext cx="10771632" cy="1234440"/>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0" name="Equation 012" descr="\hat z=g_S(\mathbf{x};\boldsymbol{\theta})"/>
              <p:cNvSpPr txBox="1"/>
              <p:nvPr/>
            </p:nvSpPr>
            <p:spPr>
              <a:xfrm>
                <a:off x="4881455" y="2130552"/>
                <a:ext cx="2380320" cy="484632"/>
              </a:xfrm>
              <a:prstGeom prst="rect">
                <a:avLst/>
              </a:prstGeom>
              <a:noFill/>
              <a:effectLst/>
            </p:spPr>
            <p:txBody>
              <a:bodyPr wrap="none" lIns="0" tIns="0" rIns="0" bIns="0" anchor="ctr">
                <a:noAutofit/>
              </a:bodyPr>
              <a:lstStyle/>
              <a:p>
                <a:pPr algn="ctr">
                  <a:spcBef>
                    <a:spcPts val="0"/>
                  </a:spcBef>
                  <a:spcAft>
                    <a:spcPts val="0"/>
                  </a:spcAft>
                  <a:defRPr sz="3600">
                    <a:latin typeface="Cambria Math"/>
                  </a:defRPr>
                </a:pPr>
                <a14:m>
                  <m:oMathPara xmlns:m="http://schemas.openxmlformats.org/officeDocument/2006/math">
                    <m:oMathParaPr>
                      <m:jc m:val="center"/>
                    </m:oMathParaPr>
                    <m:oMath xmlns:m="http://schemas.openxmlformats.org/officeDocument/2006/math">
                      <m:acc>
                        <m:accPr>
                          <m:chr m:val="̂"/>
                          <m:ctrlPr>
                            <a:rPr lang="en-GB" sz="3600">
                              <a:latin typeface="Cambria Math" panose="02040503050406030204" pitchFamily="18" charset="0"/>
                            </a:rPr>
                          </m:ctrlPr>
                        </m:accPr>
                        <m:e>
                          <m:r>
                            <a:rPr lang="en-GB" sz="3600">
                              <a:latin typeface="Cambria Math"/>
                            </a:rPr>
                            <m:t>𝑧</m:t>
                          </m:r>
                        </m:e>
                      </m:acc>
                      <m:r>
                        <a:rPr lang="en-GB" sz="3600" i="0">
                          <a:latin typeface="Cambria Math"/>
                        </a:rPr>
                        <m:t>=</m:t>
                      </m:r>
                      <m:sSub>
                        <m:sSubPr>
                          <m:ctrlPr>
                            <a:rPr lang="en-GB" sz="3600" i="1">
                              <a:latin typeface="Cambria Math" panose="02040503050406030204" pitchFamily="18" charset="0"/>
                            </a:rPr>
                          </m:ctrlPr>
                        </m:sSubPr>
                        <m:e>
                          <m:r>
                            <a:rPr lang="en-GB" sz="3600">
                              <a:latin typeface="Cambria Math"/>
                            </a:rPr>
                            <m:t>𝑔</m:t>
                          </m:r>
                        </m:e>
                        <m:sub>
                          <m:r>
                            <a:rPr lang="en-GB" sz="3600">
                              <a:latin typeface="Cambria Math"/>
                            </a:rPr>
                            <m:t>𝑆</m:t>
                          </m:r>
                        </m:sub>
                      </m:sSub>
                      <m:d>
                        <m:dPr>
                          <m:ctrlPr>
                            <a:rPr lang="en-GB" sz="3600" i="1">
                              <a:latin typeface="Cambria Math" panose="02040503050406030204" pitchFamily="18" charset="0"/>
                            </a:rPr>
                          </m:ctrlPr>
                        </m:dPr>
                        <m:e>
                          <m:r>
                            <a:rPr lang="en-GB" sz="3600" i="0">
                              <a:latin typeface="Cambria Math"/>
                            </a:rPr>
                            <m:t>𝐱</m:t>
                          </m:r>
                          <m:r>
                            <a:rPr lang="en-GB" sz="3600" i="0">
                              <a:latin typeface="Cambria Math"/>
                            </a:rPr>
                            <m:t>;</m:t>
                          </m:r>
                          <m:r>
                            <a:rPr lang="en-GB" sz="3600" i="0">
                              <a:latin typeface="Cambria Math"/>
                            </a:rPr>
                            <m:t>𝛉</m:t>
                          </m:r>
                        </m:e>
                      </m:d>
                    </m:oMath>
                  </m:oMathPara>
                </a14:m>
                <a:endParaRPr/>
              </a:p>
            </p:txBody>
          </p:sp>
        </mc:Choice>
        <mc:Fallback>
          <p:sp>
            <p:nvSpPr>
              <p:cNvPr id="10" name="Equation 012" descr="\hat z=g_S(\mathbf{x};\boldsymbol{\theta})"/>
              <p:cNvSpPr txBox="1">
                <a:spLocks noRot="1" noChangeAspect="1" noMove="1" noResize="1" noEditPoints="1" noAdjustHandles="1" noChangeArrowheads="1" noChangeShapeType="1" noTextEdit="1"/>
              </p:cNvSpPr>
              <p:nvPr/>
            </p:nvSpPr>
            <p:spPr>
              <a:xfrm>
                <a:off x="4881455" y="2130552"/>
                <a:ext cx="2380320" cy="484632"/>
              </a:xfrm>
              <a:prstGeom prst="rect">
                <a:avLst/>
              </a:prstGeom>
              <a:blipFill>
                <a:blip r:embed="rId3"/>
                <a:stretch>
                  <a:fillRect l="-6915" t="-31579" b="-36842"/>
                </a:stretch>
              </a:blipFill>
              <a:effectLst/>
            </p:spPr>
            <p:txBody>
              <a:bodyPr/>
              <a:lstStyle/>
              <a:p>
                <a:r>
                  <a:rPr lang="zh-CN" altLang="en-US">
                    <a:noFill/>
                  </a:rPr>
                  <a:t> </a:t>
                </a:r>
              </a:p>
            </p:txBody>
          </p:sp>
        </mc:Fallback>
      </mc:AlternateContent>
      <p:sp>
        <p:nvSpPr>
          <p:cNvPr id="11" name="Rounded Rectangle 10"/>
          <p:cNvSpPr/>
          <p:nvPr/>
        </p:nvSpPr>
        <p:spPr>
          <a:xfrm>
            <a:off x="685800" y="3374136"/>
            <a:ext cx="3392424" cy="1993392"/>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05256" y="3557016"/>
            <a:ext cx="2953512"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S  •  STRUCTURE</a:t>
            </a:r>
          </a:p>
        </p:txBody>
      </p:sp>
      <p:sp>
        <p:nvSpPr>
          <p:cNvPr id="13" name="TextBox 12"/>
          <p:cNvSpPr txBox="1"/>
          <p:nvPr/>
        </p:nvSpPr>
        <p:spPr>
          <a:xfrm>
            <a:off x="905256" y="4224528"/>
            <a:ext cx="2953512" cy="996696"/>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0">
                <a:solidFill>
                  <a:srgbClr val="173042"/>
                </a:solidFill>
                <a:latin typeface="Arial"/>
              </a:rPr>
              <a:t>Which operators, terms and interactions are present?</a:t>
            </a:r>
          </a:p>
        </p:txBody>
      </p:sp>
      <p:sp>
        <p:nvSpPr>
          <p:cNvPr id="14" name="Rounded Rectangle 13"/>
          <p:cNvSpPr/>
          <p:nvPr/>
        </p:nvSpPr>
        <p:spPr>
          <a:xfrm>
            <a:off x="4389120" y="3374136"/>
            <a:ext cx="3392424" cy="1993392"/>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4608576" y="3557016"/>
            <a:ext cx="2953512"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θ  •  PARAMETERS</a:t>
            </a:r>
          </a:p>
        </p:txBody>
      </p:sp>
      <p:sp>
        <p:nvSpPr>
          <p:cNvPr id="16" name="TextBox 15"/>
          <p:cNvSpPr txBox="1"/>
          <p:nvPr/>
        </p:nvSpPr>
        <p:spPr>
          <a:xfrm>
            <a:off x="4608576" y="4224528"/>
            <a:ext cx="2953512" cy="996696"/>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0">
                <a:solidFill>
                  <a:srgbClr val="173042"/>
                </a:solidFill>
                <a:latin typeface="Arial"/>
              </a:rPr>
              <a:t>Which numerical coefficients best fit this structure?</a:t>
            </a:r>
          </a:p>
        </p:txBody>
      </p:sp>
      <p:sp>
        <p:nvSpPr>
          <p:cNvPr id="17" name="Rounded Rectangle 16"/>
          <p:cNvSpPr/>
          <p:nvPr/>
        </p:nvSpPr>
        <p:spPr>
          <a:xfrm>
            <a:off x="8092440" y="3374136"/>
            <a:ext cx="3392424" cy="1993392"/>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8311896" y="3557016"/>
            <a:ext cx="2953512"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x  •  INPUTS</a:t>
            </a:r>
          </a:p>
        </p:txBody>
      </p:sp>
      <p:sp>
        <p:nvSpPr>
          <p:cNvPr id="19" name="TextBox 18"/>
          <p:cNvSpPr txBox="1"/>
          <p:nvPr/>
        </p:nvSpPr>
        <p:spPr>
          <a:xfrm>
            <a:off x="8311896" y="4224528"/>
            <a:ext cx="2953512" cy="996696"/>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0">
                <a:solidFill>
                  <a:srgbClr val="173042"/>
                </a:solidFill>
                <a:latin typeface="Arial"/>
              </a:rPr>
              <a:t>Which measured or simulated conditions enter the model?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02 • HOW FORMULA SEARCH WORKS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018" b="1">
                <a:solidFill>
                  <a:srgbClr val="173042"/>
                </a:solidFill>
                <a:latin typeface="Arial"/>
              </a:rPr>
              <a:t>Optimise accuracy without rewarding needless complexity</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10</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General model-selection formulation: [1].</a:t>
            </a:r>
          </a:p>
        </p:txBody>
      </p:sp>
      <p:sp>
        <p:nvSpPr>
          <p:cNvPr id="9" name="Rounded Rectangle 8"/>
          <p:cNvSpPr/>
          <p:nvPr/>
        </p:nvSpPr>
        <p:spPr>
          <a:xfrm>
            <a:off x="667512" y="1709928"/>
            <a:ext cx="10853928" cy="149961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68680" y="1819656"/>
            <a:ext cx="10451592"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SCALED TRAINING ERROR</a:t>
            </a:r>
          </a:p>
        </p:txBody>
      </p:sp>
      <mc:AlternateContent xmlns:mc="http://schemas.openxmlformats.org/markup-compatibility/2006">
        <mc:Choice xmlns:a14="http://schemas.microsoft.com/office/drawing/2010/main" Requires="a14">
          <p:sp>
            <p:nvSpPr>
              <p:cNvPr id="11" name="Equation 013" descr="\mathcal{E}=\frac{1}{n}\sum_{i=1}^{n}\left[\frac{z_i-g_S(\mathbf{x}_i;\boldsymbol{\theta})}{s_z}\right]^2"/>
              <p:cNvSpPr txBox="1"/>
              <p:nvPr/>
            </p:nvSpPr>
            <p:spPr>
              <a:xfrm>
                <a:off x="4064658" y="2148840"/>
                <a:ext cx="4059634" cy="950976"/>
              </a:xfrm>
              <a:prstGeom prst="rect">
                <a:avLst/>
              </a:prstGeom>
              <a:noFill/>
              <a:effectLst/>
            </p:spPr>
            <p:txBody>
              <a:bodyPr wrap="none" lIns="0" tIns="0" rIns="0" bIns="0" anchor="ctr">
                <a:noAutofit/>
              </a:bodyPr>
              <a:lstStyle/>
              <a:p>
                <a:pPr algn="ctr">
                  <a:spcBef>
                    <a:spcPts val="0"/>
                  </a:spcBef>
                  <a:spcAft>
                    <a:spcPts val="0"/>
                  </a:spcAft>
                  <a:defRPr sz="2578">
                    <a:latin typeface="Cambria Math"/>
                  </a:defRPr>
                </a:pPr>
                <a14:m>
                  <m:oMathPara xmlns:m="http://schemas.openxmlformats.org/officeDocument/2006/math">
                    <m:oMathParaPr>
                      <m:jc m:val="center"/>
                    </m:oMathParaPr>
                    <m:oMath xmlns:m="http://schemas.openxmlformats.org/officeDocument/2006/math">
                      <m:r>
                        <a:rPr lang="en-GB" sz="2579" i="0">
                          <a:latin typeface="Cambria Math"/>
                        </a:rPr>
                        <m:t>ℰ</m:t>
                      </m:r>
                      <m:r>
                        <a:rPr lang="en-GB" sz="2579" i="0">
                          <a:latin typeface="Cambria Math"/>
                        </a:rPr>
                        <m:t>=</m:t>
                      </m:r>
                      <m:f>
                        <m:fPr>
                          <m:ctrlPr>
                            <a:rPr lang="en-GB" sz="2579" i="1">
                              <a:latin typeface="Cambria Math" panose="02040503050406030204" pitchFamily="18" charset="0"/>
                            </a:rPr>
                          </m:ctrlPr>
                        </m:fPr>
                        <m:num>
                          <m:r>
                            <a:rPr lang="en-GB" sz="2579">
                              <a:latin typeface="Cambria Math"/>
                            </a:rPr>
                            <m:t>1</m:t>
                          </m:r>
                        </m:num>
                        <m:den>
                          <m:r>
                            <a:rPr lang="en-GB" sz="2579">
                              <a:latin typeface="Cambria Math"/>
                            </a:rPr>
                            <m:t>𝑛</m:t>
                          </m:r>
                        </m:den>
                      </m:f>
                      <m:nary>
                        <m:naryPr>
                          <m:chr m:val="∑"/>
                          <m:limLoc m:val="undOvr"/>
                          <m:ctrlPr>
                            <a:rPr lang="en-GB" sz="2579" i="1">
                              <a:latin typeface="Cambria Math" panose="02040503050406030204" pitchFamily="18" charset="0"/>
                            </a:rPr>
                          </m:ctrlPr>
                        </m:naryPr>
                        <m:sub>
                          <m:r>
                            <a:rPr lang="en-GB" sz="2579">
                              <a:latin typeface="Cambria Math"/>
                            </a:rPr>
                            <m:t>𝑖</m:t>
                          </m:r>
                          <m:r>
                            <a:rPr lang="en-GB" sz="2579" i="0">
                              <a:latin typeface="Cambria Math"/>
                            </a:rPr>
                            <m:t>=</m:t>
                          </m:r>
                          <m:r>
                            <a:rPr lang="en-GB" sz="2579">
                              <a:latin typeface="Cambria Math"/>
                            </a:rPr>
                            <m:t>1</m:t>
                          </m:r>
                        </m:sub>
                        <m:sup>
                          <m:r>
                            <a:rPr lang="en-GB" sz="2579">
                              <a:latin typeface="Cambria Math"/>
                            </a:rPr>
                            <m:t>𝑛</m:t>
                          </m:r>
                        </m:sup>
                        <m:e>
                          <m:sSup>
                            <m:sSupPr>
                              <m:ctrlPr>
                                <a:rPr lang="en-GB" sz="2579" i="1">
                                  <a:latin typeface="Cambria Math" panose="02040503050406030204" pitchFamily="18" charset="0"/>
                                </a:rPr>
                              </m:ctrlPr>
                            </m:sSupPr>
                            <m:e>
                              <m:d>
                                <m:dPr>
                                  <m:begChr m:val="["/>
                                  <m:endChr m:val="]"/>
                                  <m:ctrlPr>
                                    <a:rPr lang="en-GB" sz="2579" i="1">
                                      <a:latin typeface="Cambria Math" panose="02040503050406030204" pitchFamily="18" charset="0"/>
                                    </a:rPr>
                                  </m:ctrlPr>
                                </m:dPr>
                                <m:e>
                                  <m:f>
                                    <m:fPr>
                                      <m:ctrlPr>
                                        <a:rPr lang="en-GB" sz="2579" i="1">
                                          <a:latin typeface="Cambria Math" panose="02040503050406030204" pitchFamily="18" charset="0"/>
                                        </a:rPr>
                                      </m:ctrlPr>
                                    </m:fPr>
                                    <m:num>
                                      <m:sSub>
                                        <m:sSubPr>
                                          <m:ctrlPr>
                                            <a:rPr lang="en-GB" sz="2579" i="1">
                                              <a:latin typeface="Cambria Math" panose="02040503050406030204" pitchFamily="18" charset="0"/>
                                            </a:rPr>
                                          </m:ctrlPr>
                                        </m:sSubPr>
                                        <m:e>
                                          <m:r>
                                            <a:rPr lang="en-GB" sz="2579">
                                              <a:latin typeface="Cambria Math"/>
                                            </a:rPr>
                                            <m:t>𝑧</m:t>
                                          </m:r>
                                        </m:e>
                                        <m:sub>
                                          <m:r>
                                            <a:rPr lang="en-GB" sz="2579">
                                              <a:latin typeface="Cambria Math"/>
                                            </a:rPr>
                                            <m:t>𝑖</m:t>
                                          </m:r>
                                        </m:sub>
                                      </m:sSub>
                                      <m:r>
                                        <a:rPr lang="en-GB" sz="2579" i="0">
                                          <a:latin typeface="Cambria Math"/>
                                        </a:rPr>
                                        <m:t>−</m:t>
                                      </m:r>
                                      <m:sSub>
                                        <m:sSubPr>
                                          <m:ctrlPr>
                                            <a:rPr lang="en-GB" sz="2579" i="1">
                                              <a:latin typeface="Cambria Math" panose="02040503050406030204" pitchFamily="18" charset="0"/>
                                            </a:rPr>
                                          </m:ctrlPr>
                                        </m:sSubPr>
                                        <m:e>
                                          <m:r>
                                            <a:rPr lang="en-GB" sz="2579">
                                              <a:latin typeface="Cambria Math"/>
                                            </a:rPr>
                                            <m:t>𝑔</m:t>
                                          </m:r>
                                        </m:e>
                                        <m:sub>
                                          <m:r>
                                            <a:rPr lang="en-GB" sz="2579">
                                              <a:latin typeface="Cambria Math"/>
                                            </a:rPr>
                                            <m:t>𝑆</m:t>
                                          </m:r>
                                        </m:sub>
                                      </m:sSub>
                                      <m:d>
                                        <m:dPr>
                                          <m:ctrlPr>
                                            <a:rPr lang="en-GB" sz="2579" i="1">
                                              <a:latin typeface="Cambria Math" panose="02040503050406030204" pitchFamily="18" charset="0"/>
                                            </a:rPr>
                                          </m:ctrlPr>
                                        </m:dPr>
                                        <m:e>
                                          <m:sSub>
                                            <m:sSubPr>
                                              <m:ctrlPr>
                                                <a:rPr lang="en-GB" sz="2579" i="1">
                                                  <a:latin typeface="Cambria Math" panose="02040503050406030204" pitchFamily="18" charset="0"/>
                                                </a:rPr>
                                              </m:ctrlPr>
                                            </m:sSubPr>
                                            <m:e>
                                              <m:r>
                                                <a:rPr lang="en-GB" sz="2579" i="0">
                                                  <a:latin typeface="Cambria Math"/>
                                                </a:rPr>
                                                <m:t>𝐱</m:t>
                                              </m:r>
                                            </m:e>
                                            <m:sub>
                                              <m:r>
                                                <a:rPr lang="en-GB" sz="2579">
                                                  <a:latin typeface="Cambria Math"/>
                                                </a:rPr>
                                                <m:t>𝑖</m:t>
                                              </m:r>
                                            </m:sub>
                                          </m:sSub>
                                          <m:r>
                                            <a:rPr lang="en-GB" sz="2579" i="0">
                                              <a:latin typeface="Cambria Math"/>
                                            </a:rPr>
                                            <m:t>;</m:t>
                                          </m:r>
                                          <m:r>
                                            <a:rPr lang="en-GB" sz="2579" i="0">
                                              <a:latin typeface="Cambria Math"/>
                                            </a:rPr>
                                            <m:t>𝛉</m:t>
                                          </m:r>
                                        </m:e>
                                      </m:d>
                                    </m:num>
                                    <m:den>
                                      <m:sSub>
                                        <m:sSubPr>
                                          <m:ctrlPr>
                                            <a:rPr lang="en-GB" sz="2579" i="1">
                                              <a:latin typeface="Cambria Math" panose="02040503050406030204" pitchFamily="18" charset="0"/>
                                            </a:rPr>
                                          </m:ctrlPr>
                                        </m:sSubPr>
                                        <m:e>
                                          <m:r>
                                            <a:rPr lang="en-GB" sz="2579">
                                              <a:latin typeface="Cambria Math"/>
                                            </a:rPr>
                                            <m:t>𝑠</m:t>
                                          </m:r>
                                        </m:e>
                                        <m:sub>
                                          <m:r>
                                            <a:rPr lang="en-GB" sz="2579">
                                              <a:latin typeface="Cambria Math"/>
                                            </a:rPr>
                                            <m:t>𝑧</m:t>
                                          </m:r>
                                        </m:sub>
                                      </m:sSub>
                                    </m:den>
                                  </m:f>
                                </m:e>
                              </m:d>
                            </m:e>
                            <m:sup>
                              <m:r>
                                <a:rPr lang="en-GB" sz="2579">
                                  <a:latin typeface="Cambria Math"/>
                                </a:rPr>
                                <m:t>2</m:t>
                              </m:r>
                            </m:sup>
                          </m:sSup>
                        </m:e>
                      </m:nary>
                    </m:oMath>
                  </m:oMathPara>
                </a14:m>
                <a:endParaRPr/>
              </a:p>
            </p:txBody>
          </p:sp>
        </mc:Choice>
        <mc:Fallback>
          <p:sp>
            <p:nvSpPr>
              <p:cNvPr id="11" name="Equation 013" descr="\mathcal{E}=\frac{1}{n}\sum_{i=1}^{n}\left[\frac{z_i-g_S(\mathbf{x}_i;\boldsymbol{\theta})}{s_z}\right]^2"/>
              <p:cNvSpPr txBox="1">
                <a:spLocks noRot="1" noChangeAspect="1" noMove="1" noResize="1" noEditPoints="1" noAdjustHandles="1" noChangeArrowheads="1" noChangeShapeType="1" noTextEdit="1"/>
              </p:cNvSpPr>
              <p:nvPr/>
            </p:nvSpPr>
            <p:spPr>
              <a:xfrm>
                <a:off x="4064658" y="2148840"/>
                <a:ext cx="4059634" cy="950976"/>
              </a:xfrm>
              <a:prstGeom prst="rect">
                <a:avLst/>
              </a:prstGeom>
              <a:blipFill>
                <a:blip r:embed="rId3"/>
                <a:stretch>
                  <a:fillRect l="-5938" t="-146053" b="-215789"/>
                </a:stretch>
              </a:blipFill>
              <a:effectLst/>
            </p:spPr>
            <p:txBody>
              <a:bodyPr/>
              <a:lstStyle/>
              <a:p>
                <a:r>
                  <a:rPr lang="zh-CN" altLang="en-US">
                    <a:noFill/>
                  </a:rPr>
                  <a:t> </a:t>
                </a:r>
              </a:p>
            </p:txBody>
          </p:sp>
        </mc:Fallback>
      </mc:AlternateContent>
      <p:sp>
        <p:nvSpPr>
          <p:cNvPr id="12" name="Rounded Rectangle 11"/>
          <p:cNvSpPr/>
          <p:nvPr/>
        </p:nvSpPr>
        <p:spPr>
          <a:xfrm>
            <a:off x="676656" y="3529584"/>
            <a:ext cx="4855464" cy="131673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877824" y="3639312"/>
            <a:ext cx="4453127"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PENALISED OBJECTIVE</a:t>
            </a:r>
          </a:p>
        </p:txBody>
      </p:sp>
      <mc:AlternateContent xmlns:mc="http://schemas.openxmlformats.org/markup-compatibility/2006">
        <mc:Choice xmlns:a14="http://schemas.microsoft.com/office/drawing/2010/main" Requires="a14">
          <p:sp>
            <p:nvSpPr>
              <p:cNvPr id="14" name="Equation 014" descr="\mathcal{L}=\mathcal{E}+\lambda C(S)"/>
              <p:cNvSpPr txBox="1"/>
              <p:nvPr/>
            </p:nvSpPr>
            <p:spPr>
              <a:xfrm>
                <a:off x="1768144" y="4149343"/>
                <a:ext cx="2672486" cy="406400"/>
              </a:xfrm>
              <a:prstGeom prst="rect">
                <a:avLst/>
              </a:prstGeom>
              <a:noFill/>
              <a:effectLst/>
            </p:spPr>
            <p:txBody>
              <a:bodyPr wrap="none" lIns="0" tIns="0" rIns="0" bIns="0" anchor="ctr">
                <a:noAutofit/>
              </a:bodyPr>
              <a:lstStyle/>
              <a:p>
                <a:pPr algn="ctr">
                  <a:spcBef>
                    <a:spcPts val="0"/>
                  </a:spcBef>
                  <a:spcAft>
                    <a:spcPts val="0"/>
                  </a:spcAft>
                  <a:defRPr sz="3200">
                    <a:latin typeface="Cambria Math"/>
                  </a:defRPr>
                </a:pPr>
                <a14:m>
                  <m:oMathPara xmlns:m="http://schemas.openxmlformats.org/officeDocument/2006/math">
                    <m:oMathParaPr>
                      <m:jc m:val="center"/>
                    </m:oMathParaPr>
                    <m:oMath xmlns:m="http://schemas.openxmlformats.org/officeDocument/2006/math">
                      <m:r>
                        <a:rPr lang="en-GB" sz="3200" i="0">
                          <a:latin typeface="Cambria Math"/>
                        </a:rPr>
                        <m:t>ℒ</m:t>
                      </m:r>
                      <m:r>
                        <a:rPr lang="en-GB" sz="3200" i="0">
                          <a:latin typeface="Cambria Math"/>
                        </a:rPr>
                        <m:t>=</m:t>
                      </m:r>
                      <m:r>
                        <a:rPr lang="en-GB" sz="3200" i="0">
                          <a:latin typeface="Cambria Math"/>
                        </a:rPr>
                        <m:t>ℰ</m:t>
                      </m:r>
                      <m:r>
                        <a:rPr lang="en-GB" sz="3200" i="0">
                          <a:latin typeface="Cambria Math"/>
                        </a:rPr>
                        <m:t>+</m:t>
                      </m:r>
                      <m:r>
                        <a:rPr lang="en-GB" sz="3200">
                          <a:latin typeface="Cambria Math"/>
                        </a:rPr>
                        <m:t>𝜆</m:t>
                      </m:r>
                      <m:r>
                        <a:rPr lang="en-GB" sz="3200">
                          <a:latin typeface="Cambria Math"/>
                        </a:rPr>
                        <m:t>𝐶</m:t>
                      </m:r>
                      <m:d>
                        <m:dPr>
                          <m:ctrlPr>
                            <a:rPr lang="en-GB" sz="3200" i="1">
                              <a:latin typeface="Cambria Math" panose="02040503050406030204" pitchFamily="18" charset="0"/>
                            </a:rPr>
                          </m:ctrlPr>
                        </m:dPr>
                        <m:e>
                          <m:r>
                            <a:rPr lang="en-GB" sz="3200">
                              <a:latin typeface="Cambria Math"/>
                            </a:rPr>
                            <m:t>𝑆</m:t>
                          </m:r>
                        </m:e>
                      </m:d>
                    </m:oMath>
                  </m:oMathPara>
                </a14:m>
                <a:endParaRPr/>
              </a:p>
            </p:txBody>
          </p:sp>
        </mc:Choice>
        <mc:Fallback>
          <p:sp>
            <p:nvSpPr>
              <p:cNvPr id="14" name="Equation 014" descr="\mathcal{L}=\mathcal{E}+\lambda C(S)"/>
              <p:cNvSpPr txBox="1">
                <a:spLocks noRot="1" noChangeAspect="1" noMove="1" noResize="1" noEditPoints="1" noAdjustHandles="1" noChangeArrowheads="1" noChangeShapeType="1" noTextEdit="1"/>
              </p:cNvSpPr>
              <p:nvPr/>
            </p:nvSpPr>
            <p:spPr>
              <a:xfrm>
                <a:off x="1768144" y="4149343"/>
                <a:ext cx="2672486" cy="406400"/>
              </a:xfrm>
              <a:prstGeom prst="rect">
                <a:avLst/>
              </a:prstGeom>
              <a:blipFill>
                <a:blip r:embed="rId4"/>
                <a:stretch>
                  <a:fillRect l="-4739" t="-3030" b="-18182"/>
                </a:stretch>
              </a:blipFill>
              <a:effectLst/>
            </p:spPr>
            <p:txBody>
              <a:bodyPr/>
              <a:lstStyle/>
              <a:p>
                <a:r>
                  <a:rPr lang="zh-CN" altLang="en-US">
                    <a:noFill/>
                  </a:rPr>
                  <a:t> </a:t>
                </a:r>
              </a:p>
            </p:txBody>
          </p:sp>
        </mc:Fallback>
      </mc:AlternateContent>
      <p:sp>
        <p:nvSpPr>
          <p:cNvPr id="15" name="TextBox 14"/>
          <p:cNvSpPr txBox="1"/>
          <p:nvPr/>
        </p:nvSpPr>
        <p:spPr>
          <a:xfrm>
            <a:off x="6007608" y="3575304"/>
            <a:ext cx="5349240" cy="167335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100" b="0">
                <a:solidFill>
                  <a:srgbClr val="173042"/>
                </a:solidFill>
                <a:latin typeface="Arial"/>
              </a:rPr>
              <a:t>n: number of training samples</a:t>
            </a:r>
          </a:p>
          <a:p>
            <a:pPr algn="l">
              <a:lnSpc>
                <a:spcPct val="113000"/>
              </a:lnSpc>
              <a:spcBef>
                <a:spcPts val="0"/>
              </a:spcBef>
              <a:spcAft>
                <a:spcPts val="400"/>
              </a:spcAft>
            </a:pPr>
            <a:r>
              <a:rPr lang="en-GB" sz="2100" b="0">
                <a:solidFill>
                  <a:srgbClr val="173042"/>
                </a:solidFill>
                <a:latin typeface="Arial"/>
              </a:rPr>
              <a:t>sz: output scale learnt from training data</a:t>
            </a:r>
          </a:p>
          <a:p>
            <a:pPr algn="l">
              <a:lnSpc>
                <a:spcPct val="113000"/>
              </a:lnSpc>
              <a:spcBef>
                <a:spcPts val="0"/>
              </a:spcBef>
              <a:spcAft>
                <a:spcPts val="400"/>
              </a:spcAft>
            </a:pPr>
            <a:r>
              <a:rPr lang="en-GB" sz="2100" b="0">
                <a:solidFill>
                  <a:srgbClr val="173042"/>
                </a:solidFill>
                <a:latin typeface="Arial"/>
              </a:rPr>
              <a:t>C(S): expression complexity</a:t>
            </a:r>
          </a:p>
          <a:p>
            <a:pPr algn="l">
              <a:lnSpc>
                <a:spcPct val="113000"/>
              </a:lnSpc>
              <a:spcBef>
                <a:spcPts val="0"/>
              </a:spcBef>
              <a:spcAft>
                <a:spcPts val="0"/>
              </a:spcAft>
            </a:pPr>
            <a:r>
              <a:rPr lang="en-GB" sz="2100" b="0">
                <a:solidFill>
                  <a:srgbClr val="173042"/>
                </a:solidFill>
                <a:latin typeface="Arial"/>
              </a:rPr>
              <a:t>λ: penalty strength</a:t>
            </a:r>
          </a:p>
        </p:txBody>
      </p:sp>
      <p:sp>
        <p:nvSpPr>
          <p:cNvPr id="16" name="Rounded Rectangle 15"/>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A small training error is necessary, but not sufficient, for a useful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02 • HOW FORMULA SEARCH WORKS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Define a mathematical grammar before searching</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11</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Genetic-programming primitives: [2]. Unit-aware search: [7].</a:t>
            </a:r>
          </a:p>
        </p:txBody>
      </p:sp>
      <p:sp>
        <p:nvSpPr>
          <p:cNvPr id="9" name="Rounded Rectangle 8"/>
          <p:cNvSpPr/>
          <p:nvPr/>
        </p:nvSpPr>
        <p:spPr>
          <a:xfrm>
            <a:off x="640080" y="1792224"/>
            <a:ext cx="5340096" cy="334670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59536" y="1975104"/>
            <a:ext cx="4901183"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TERMINALS</a:t>
            </a:r>
          </a:p>
        </p:txBody>
      </p:sp>
      <p:sp>
        <p:nvSpPr>
          <p:cNvPr id="11" name="TextBox 10"/>
          <p:cNvSpPr txBox="1"/>
          <p:nvPr/>
        </p:nvSpPr>
        <p:spPr>
          <a:xfrm>
            <a:off x="859536" y="2642616"/>
            <a:ext cx="4901183" cy="2350008"/>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300" b="0">
                <a:solidFill>
                  <a:srgbClr val="173042"/>
                </a:solidFill>
                <a:latin typeface="Arial"/>
              </a:rPr>
              <a:t>Inputs and constants</a:t>
            </a:r>
          </a:p>
          <a:p>
            <a:pPr algn="l">
              <a:lnSpc>
                <a:spcPct val="113000"/>
              </a:lnSpc>
              <a:spcBef>
                <a:spcPts val="0"/>
              </a:spcBef>
              <a:spcAft>
                <a:spcPts val="400"/>
              </a:spcAft>
            </a:pPr>
            <a:endParaRPr lang="en-GB" sz="2300" b="0">
              <a:solidFill>
                <a:srgbClr val="173042"/>
              </a:solidFill>
              <a:latin typeface="Arial"/>
            </a:endParaRPr>
          </a:p>
          <a:p>
            <a:pPr algn="l">
              <a:lnSpc>
                <a:spcPct val="113000"/>
              </a:lnSpc>
              <a:spcBef>
                <a:spcPts val="0"/>
              </a:spcBef>
              <a:spcAft>
                <a:spcPts val="0"/>
              </a:spcAft>
            </a:pPr>
            <a:r>
              <a:rPr lang="en-GB" sz="2300" b="0">
                <a:solidFill>
                  <a:srgbClr val="173042"/>
                </a:solidFill>
                <a:latin typeface="Arial"/>
              </a:rPr>
              <a:t>Examples: temperature, pressure, current density and fitted numbers.</a:t>
            </a:r>
          </a:p>
        </p:txBody>
      </p:sp>
      <p:sp>
        <p:nvSpPr>
          <p:cNvPr id="12" name="Rounded Rectangle 11"/>
          <p:cNvSpPr/>
          <p:nvPr/>
        </p:nvSpPr>
        <p:spPr>
          <a:xfrm>
            <a:off x="6217920" y="1792224"/>
            <a:ext cx="5340096" cy="3346704"/>
          </a:xfrm>
          <a:prstGeom prst="roundRect">
            <a:avLst>
              <a:gd name="adj" fmla="val 8000"/>
            </a:avLst>
          </a:prstGeom>
          <a:solidFill>
            <a:srgbClr val="EAF0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6437376" y="1975104"/>
            <a:ext cx="4901183"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OPERATORS</a:t>
            </a:r>
          </a:p>
        </p:txBody>
      </p:sp>
      <p:sp>
        <p:nvSpPr>
          <p:cNvPr id="14" name="TextBox 13"/>
          <p:cNvSpPr txBox="1"/>
          <p:nvPr/>
        </p:nvSpPr>
        <p:spPr>
          <a:xfrm>
            <a:off x="6437376" y="2642616"/>
            <a:ext cx="4901183" cy="2350008"/>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300" b="0">
                <a:solidFill>
                  <a:srgbClr val="173042"/>
                </a:solidFill>
                <a:latin typeface="Arial"/>
              </a:rPr>
              <a:t>Rules for combining terminals</a:t>
            </a:r>
          </a:p>
          <a:p>
            <a:pPr algn="l">
              <a:lnSpc>
                <a:spcPct val="113000"/>
              </a:lnSpc>
              <a:spcBef>
                <a:spcPts val="0"/>
              </a:spcBef>
              <a:spcAft>
                <a:spcPts val="400"/>
              </a:spcAft>
            </a:pPr>
            <a:endParaRPr lang="en-GB" sz="2300" b="0">
              <a:solidFill>
                <a:srgbClr val="173042"/>
              </a:solidFill>
              <a:latin typeface="Arial"/>
            </a:endParaRPr>
          </a:p>
          <a:p>
            <a:pPr algn="l">
              <a:lnSpc>
                <a:spcPct val="113000"/>
              </a:lnSpc>
              <a:spcBef>
                <a:spcPts val="0"/>
              </a:spcBef>
              <a:spcAft>
                <a:spcPts val="0"/>
              </a:spcAft>
            </a:pPr>
            <a:r>
              <a:rPr lang="en-GB" sz="2300" b="0">
                <a:solidFill>
                  <a:srgbClr val="173042"/>
                </a:solidFill>
                <a:latin typeface="Arial"/>
              </a:rPr>
              <a:t>Choose useful operations; exclude invalid or unnecessary ones.</a:t>
            </a:r>
          </a:p>
        </p:txBody>
      </p:sp>
      <p:sp>
        <p:nvSpPr>
          <p:cNvPr id="15" name="TextBox 14"/>
          <p:cNvSpPr txBox="1"/>
          <p:nvPr/>
        </p:nvSpPr>
        <p:spPr>
          <a:xfrm>
            <a:off x="996696" y="5276088"/>
            <a:ext cx="10149840" cy="438912"/>
          </a:xfrm>
          <a:prstGeom prst="rect">
            <a:avLst/>
          </a:prstGeom>
          <a:noFill/>
          <a:effectLst/>
        </p:spPr>
        <p:txBody>
          <a:bodyPr wrap="square" lIns="0" tIns="0" rIns="0" bIns="0" anchor="t">
            <a:noAutofit/>
          </a:bodyPr>
          <a:lstStyle/>
          <a:p>
            <a:pPr algn="ctr">
              <a:lnSpc>
                <a:spcPct val="113000"/>
              </a:lnSpc>
              <a:spcBef>
                <a:spcPts val="0"/>
              </a:spcBef>
              <a:spcAft>
                <a:spcPts val="0"/>
              </a:spcAft>
            </a:pPr>
            <a:r>
              <a:rPr lang="en-GB" sz="2400" b="0">
                <a:solidFill>
                  <a:srgbClr val="173042"/>
                </a:solidFill>
                <a:latin typeface="Arial"/>
              </a:rPr>
              <a:t>+     −     ×     ÷     exp     ln     square</a:t>
            </a:r>
          </a:p>
        </p:txBody>
      </p:sp>
      <p:sp>
        <p:nvSpPr>
          <p:cNvPr id="16" name="Rounded Rectangle 15"/>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More operators mean more expressive freedom—and a larger search space.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02 • HOW FORMULA SEARCH WORKS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2902" b="1">
                <a:solidFill>
                  <a:srgbClr val="173042"/>
                </a:solidFill>
                <a:latin typeface="Arial"/>
              </a:rPr>
              <a:t>An expression tree makes a formula editable by an algorithm</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12</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Expression-tree representation: [2]. Diagram created for this lecture.</a:t>
            </a:r>
          </a:p>
        </p:txBody>
      </p:sp>
      <p:cxnSp>
        <p:nvCxnSpPr>
          <p:cNvPr id="9" name="Connector 8"/>
          <p:cNvCxnSpPr/>
          <p:nvPr/>
        </p:nvCxnSpPr>
        <p:spPr>
          <a:xfrm flipH="1">
            <a:off x="1920240" y="2221992"/>
            <a:ext cx="1005840" cy="859536"/>
          </a:xfrm>
          <a:prstGeom prst="line">
            <a:avLst/>
          </a:prstGeom>
          <a:ln w="25400">
            <a:solidFill>
              <a:srgbClr val="24777A"/>
            </a:solidFill>
          </a:ln>
          <a:effectLst/>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a:off x="3364992" y="2221992"/>
            <a:ext cx="932688" cy="859536"/>
          </a:xfrm>
          <a:prstGeom prst="line">
            <a:avLst/>
          </a:prstGeom>
          <a:ln w="25400">
            <a:solidFill>
              <a:srgbClr val="24777A"/>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flipH="1">
            <a:off x="1179576" y="3767328"/>
            <a:ext cx="594360" cy="868680"/>
          </a:xfrm>
          <a:prstGeom prst="line">
            <a:avLst/>
          </a:prstGeom>
          <a:ln w="25400">
            <a:solidFill>
              <a:srgbClr val="24777A"/>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a:off x="2139696" y="3767328"/>
            <a:ext cx="603504" cy="868680"/>
          </a:xfrm>
          <a:prstGeom prst="line">
            <a:avLst/>
          </a:prstGeom>
          <a:ln w="25400">
            <a:solidFill>
              <a:srgbClr val="24777A"/>
            </a:solidFill>
          </a:ln>
          <a:effectLst/>
        </p:spPr>
        <p:style>
          <a:lnRef idx="2">
            <a:schemeClr val="accent1"/>
          </a:lnRef>
          <a:fillRef idx="0">
            <a:schemeClr val="accent1"/>
          </a:fillRef>
          <a:effectRef idx="0">
            <a:schemeClr val="accent1"/>
          </a:effectRef>
          <a:fontRef idx="minor">
            <a:schemeClr val="tx1"/>
          </a:fontRef>
        </p:style>
      </p:cxnSp>
      <p:sp>
        <p:nvSpPr>
          <p:cNvPr id="13" name="Rounded Rectangle 12"/>
          <p:cNvSpPr/>
          <p:nvPr/>
        </p:nvSpPr>
        <p:spPr>
          <a:xfrm>
            <a:off x="2633472" y="1801368"/>
            <a:ext cx="804672" cy="71323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2724912" y="1883664"/>
            <a:ext cx="621792" cy="502920"/>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2700" b="0">
                <a:solidFill>
                  <a:srgbClr val="173042"/>
                </a:solidFill>
                <a:latin typeface="Arial"/>
              </a:rPr>
              <a:t>+</a:t>
            </a:r>
          </a:p>
        </p:txBody>
      </p:sp>
      <p:sp>
        <p:nvSpPr>
          <p:cNvPr id="15" name="Rounded Rectangle 14"/>
          <p:cNvSpPr/>
          <p:nvPr/>
        </p:nvSpPr>
        <p:spPr>
          <a:xfrm>
            <a:off x="1527048" y="3099816"/>
            <a:ext cx="804672" cy="71323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1618488" y="3182112"/>
            <a:ext cx="621792" cy="502920"/>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2700" b="0">
                <a:solidFill>
                  <a:srgbClr val="173042"/>
                </a:solidFill>
                <a:latin typeface="Arial"/>
              </a:rPr>
              <a:t>×</a:t>
            </a:r>
          </a:p>
        </p:txBody>
      </p:sp>
      <p:sp>
        <p:nvSpPr>
          <p:cNvPr id="17" name="Rounded Rectangle 16"/>
          <p:cNvSpPr/>
          <p:nvPr/>
        </p:nvSpPr>
        <p:spPr>
          <a:xfrm>
            <a:off x="3913632" y="3099816"/>
            <a:ext cx="804672" cy="71323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4005072" y="3182112"/>
            <a:ext cx="621792" cy="502920"/>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2700" b="0">
                <a:solidFill>
                  <a:srgbClr val="173042"/>
                </a:solidFill>
                <a:latin typeface="Arial"/>
              </a:rPr>
              <a:t>b</a:t>
            </a:r>
          </a:p>
        </p:txBody>
      </p:sp>
      <p:sp>
        <p:nvSpPr>
          <p:cNvPr id="19" name="Rounded Rectangle 18"/>
          <p:cNvSpPr/>
          <p:nvPr/>
        </p:nvSpPr>
        <p:spPr>
          <a:xfrm>
            <a:off x="795528" y="4654296"/>
            <a:ext cx="804672" cy="71323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886968" y="4736592"/>
            <a:ext cx="621792" cy="502920"/>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2700" b="0">
                <a:solidFill>
                  <a:srgbClr val="173042"/>
                </a:solidFill>
                <a:latin typeface="Arial"/>
              </a:rPr>
              <a:t>a</a:t>
            </a:r>
          </a:p>
        </p:txBody>
      </p:sp>
      <p:sp>
        <p:nvSpPr>
          <p:cNvPr id="21" name="Rounded Rectangle 20"/>
          <p:cNvSpPr/>
          <p:nvPr/>
        </p:nvSpPr>
        <p:spPr>
          <a:xfrm>
            <a:off x="2350008" y="4654296"/>
            <a:ext cx="804672" cy="71323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2441448" y="4736592"/>
            <a:ext cx="621792" cy="502920"/>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2700" b="0">
                <a:solidFill>
                  <a:srgbClr val="173042"/>
                </a:solidFill>
                <a:latin typeface="Arial"/>
              </a:rPr>
              <a:t>x</a:t>
            </a:r>
          </a:p>
        </p:txBody>
      </p:sp>
      <p:sp>
        <p:nvSpPr>
          <p:cNvPr id="23" name="Rounded Rectangle 22"/>
          <p:cNvSpPr/>
          <p:nvPr/>
        </p:nvSpPr>
        <p:spPr>
          <a:xfrm>
            <a:off x="6492240" y="1965960"/>
            <a:ext cx="4498848" cy="1261872"/>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24" name="Equation 015" descr="\hat z=ax+b"/>
              <p:cNvSpPr txBox="1"/>
              <p:nvPr/>
            </p:nvSpPr>
            <p:spPr>
              <a:xfrm>
                <a:off x="7759103" y="2404313"/>
                <a:ext cx="1965121" cy="385165"/>
              </a:xfrm>
              <a:prstGeom prst="rect">
                <a:avLst/>
              </a:prstGeom>
              <a:noFill/>
              <a:effectLst/>
            </p:spPr>
            <p:txBody>
              <a:bodyPr wrap="none" lIns="0" tIns="0" rIns="0" bIns="0" anchor="ctr">
                <a:noAutofit/>
              </a:bodyPr>
              <a:lstStyle/>
              <a:p>
                <a:pPr algn="ctr">
                  <a:spcBef>
                    <a:spcPts val="0"/>
                  </a:spcBef>
                  <a:spcAft>
                    <a:spcPts val="0"/>
                  </a:spcAft>
                  <a:defRPr sz="3400">
                    <a:latin typeface="Cambria Math"/>
                  </a:defRPr>
                </a:pPr>
                <a14:m>
                  <m:oMathPara xmlns:m="http://schemas.openxmlformats.org/officeDocument/2006/math">
                    <m:oMathParaPr>
                      <m:jc m:val="center"/>
                    </m:oMathParaPr>
                    <m:oMath xmlns:m="http://schemas.openxmlformats.org/officeDocument/2006/math">
                      <m:acc>
                        <m:accPr>
                          <m:chr m:val="̂"/>
                          <m:ctrlPr>
                            <a:rPr lang="en-GB" sz="3400">
                              <a:latin typeface="Cambria Math" panose="02040503050406030204" pitchFamily="18" charset="0"/>
                            </a:rPr>
                          </m:ctrlPr>
                        </m:accPr>
                        <m:e>
                          <m:r>
                            <a:rPr lang="en-GB" sz="3400">
                              <a:latin typeface="Cambria Math"/>
                            </a:rPr>
                            <m:t>𝑧</m:t>
                          </m:r>
                        </m:e>
                      </m:acc>
                      <m:r>
                        <a:rPr lang="en-GB" sz="3400" i="0">
                          <a:latin typeface="Cambria Math"/>
                        </a:rPr>
                        <m:t>=</m:t>
                      </m:r>
                      <m:r>
                        <a:rPr lang="en-GB" sz="3400">
                          <a:latin typeface="Cambria Math"/>
                        </a:rPr>
                        <m:t>𝑎𝑥</m:t>
                      </m:r>
                      <m:r>
                        <a:rPr lang="en-GB" sz="3400" i="0">
                          <a:latin typeface="Cambria Math"/>
                        </a:rPr>
                        <m:t>+</m:t>
                      </m:r>
                      <m:r>
                        <a:rPr lang="en-GB" sz="3400">
                          <a:latin typeface="Cambria Math"/>
                        </a:rPr>
                        <m:t>𝑏</m:t>
                      </m:r>
                    </m:oMath>
                  </m:oMathPara>
                </a14:m>
                <a:endParaRPr/>
              </a:p>
            </p:txBody>
          </p:sp>
        </mc:Choice>
        <mc:Fallback>
          <p:sp>
            <p:nvSpPr>
              <p:cNvPr id="24" name="Equation 015" descr="\hat z=ax+b"/>
              <p:cNvSpPr txBox="1">
                <a:spLocks noRot="1" noChangeAspect="1" noMove="1" noResize="1" noEditPoints="1" noAdjustHandles="1" noChangeArrowheads="1" noChangeShapeType="1" noTextEdit="1"/>
              </p:cNvSpPr>
              <p:nvPr/>
            </p:nvSpPr>
            <p:spPr>
              <a:xfrm>
                <a:off x="7759103" y="2404313"/>
                <a:ext cx="1965121" cy="385165"/>
              </a:xfrm>
              <a:prstGeom prst="rect">
                <a:avLst/>
              </a:prstGeom>
              <a:blipFill>
                <a:blip r:embed="rId3"/>
                <a:stretch>
                  <a:fillRect l="-9677" t="-41935" r="-6452" b="-29032"/>
                </a:stretch>
              </a:blipFill>
              <a:effectLst/>
            </p:spPr>
            <p:txBody>
              <a:bodyPr/>
              <a:lstStyle/>
              <a:p>
                <a:r>
                  <a:rPr lang="zh-CN" altLang="en-US">
                    <a:noFill/>
                  </a:rPr>
                  <a:t> </a:t>
                </a:r>
              </a:p>
            </p:txBody>
          </p:sp>
        </mc:Fallback>
      </mc:AlternateContent>
      <p:sp>
        <p:nvSpPr>
          <p:cNvPr id="25" name="TextBox 24"/>
          <p:cNvSpPr txBox="1"/>
          <p:nvPr/>
        </p:nvSpPr>
        <p:spPr>
          <a:xfrm>
            <a:off x="6556248" y="3648456"/>
            <a:ext cx="4572000" cy="64008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Leaves are inputs or constants.</a:t>
            </a:r>
          </a:p>
        </p:txBody>
      </p:sp>
      <p:sp>
        <p:nvSpPr>
          <p:cNvPr id="26" name="TextBox 25"/>
          <p:cNvSpPr txBox="1"/>
          <p:nvPr/>
        </p:nvSpPr>
        <p:spPr>
          <a:xfrm>
            <a:off x="6556248" y="4398264"/>
            <a:ext cx="4572000" cy="64008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Internal nodes are operations.</a:t>
            </a:r>
          </a:p>
        </p:txBody>
      </p:sp>
      <p:sp>
        <p:nvSpPr>
          <p:cNvPr id="27" name="TextBox 26"/>
          <p:cNvSpPr txBox="1"/>
          <p:nvPr/>
        </p:nvSpPr>
        <p:spPr>
          <a:xfrm>
            <a:off x="6556248" y="5138928"/>
            <a:ext cx="4572000" cy="84124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Replace a subtree to change part of the formula.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02 • HOW FORMULA SEARCH WORKS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Genetic programming: propose, evaluate, modify, repeat</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13</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Algorithmic principles: [1, 2]. This is a schematic workflow, not a recorded run.</a:t>
            </a:r>
          </a:p>
        </p:txBody>
      </p:sp>
      <p:sp>
        <p:nvSpPr>
          <p:cNvPr id="9" name="Rounded Rectangle 8"/>
          <p:cNvSpPr/>
          <p:nvPr/>
        </p:nvSpPr>
        <p:spPr>
          <a:xfrm>
            <a:off x="658368" y="1828800"/>
            <a:ext cx="3493008" cy="1664208"/>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77824" y="2011680"/>
            <a:ext cx="305409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1  Initialise</a:t>
            </a:r>
          </a:p>
        </p:txBody>
      </p:sp>
      <p:sp>
        <p:nvSpPr>
          <p:cNvPr id="11" name="TextBox 10"/>
          <p:cNvSpPr txBox="1"/>
          <p:nvPr/>
        </p:nvSpPr>
        <p:spPr>
          <a:xfrm>
            <a:off x="877824" y="2679192"/>
            <a:ext cx="3054096" cy="66751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1850" b="0">
                <a:solidFill>
                  <a:srgbClr val="173042"/>
                </a:solidFill>
                <a:latin typeface="Arial"/>
              </a:rPr>
              <a:t>Generate candidate</a:t>
            </a:r>
          </a:p>
          <a:p>
            <a:pPr algn="l">
              <a:lnSpc>
                <a:spcPct val="113000"/>
              </a:lnSpc>
              <a:spcBef>
                <a:spcPts val="0"/>
              </a:spcBef>
              <a:spcAft>
                <a:spcPts val="0"/>
              </a:spcAft>
            </a:pPr>
            <a:r>
              <a:rPr lang="en-GB" sz="1850" b="0">
                <a:solidFill>
                  <a:srgbClr val="173042"/>
                </a:solidFill>
                <a:latin typeface="Arial"/>
              </a:rPr>
              <a:t>formula populations.</a:t>
            </a:r>
          </a:p>
        </p:txBody>
      </p:sp>
      <p:sp>
        <p:nvSpPr>
          <p:cNvPr id="12" name="Rounded Rectangle 11"/>
          <p:cNvSpPr/>
          <p:nvPr/>
        </p:nvSpPr>
        <p:spPr>
          <a:xfrm>
            <a:off x="4480559" y="1828800"/>
            <a:ext cx="3493008" cy="166420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4700016" y="2011680"/>
            <a:ext cx="305409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2  Fit and score</a:t>
            </a:r>
          </a:p>
        </p:txBody>
      </p:sp>
      <p:sp>
        <p:nvSpPr>
          <p:cNvPr id="14" name="TextBox 13"/>
          <p:cNvSpPr txBox="1"/>
          <p:nvPr/>
        </p:nvSpPr>
        <p:spPr>
          <a:xfrm>
            <a:off x="4700016" y="2679192"/>
            <a:ext cx="3054096" cy="66751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1850" b="0">
                <a:solidFill>
                  <a:srgbClr val="173042"/>
                </a:solidFill>
                <a:latin typeface="Arial"/>
              </a:rPr>
              <a:t>Fit constants; score</a:t>
            </a:r>
          </a:p>
          <a:p>
            <a:pPr algn="l">
              <a:lnSpc>
                <a:spcPct val="113000"/>
              </a:lnSpc>
              <a:spcBef>
                <a:spcPts val="0"/>
              </a:spcBef>
              <a:spcAft>
                <a:spcPts val="0"/>
              </a:spcAft>
            </a:pPr>
            <a:r>
              <a:rPr lang="en-GB" sz="1850" b="0">
                <a:solidFill>
                  <a:srgbClr val="173042"/>
                </a:solidFill>
                <a:latin typeface="Arial"/>
              </a:rPr>
              <a:t>error and complexity.</a:t>
            </a:r>
          </a:p>
        </p:txBody>
      </p:sp>
      <p:sp>
        <p:nvSpPr>
          <p:cNvPr id="15" name="Rounded Rectangle 14"/>
          <p:cNvSpPr/>
          <p:nvPr/>
        </p:nvSpPr>
        <p:spPr>
          <a:xfrm>
            <a:off x="8302752" y="1828800"/>
            <a:ext cx="3493008" cy="1664208"/>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522208" y="2011680"/>
            <a:ext cx="305409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3  Select</a:t>
            </a:r>
          </a:p>
        </p:txBody>
      </p:sp>
      <p:sp>
        <p:nvSpPr>
          <p:cNvPr id="17" name="TextBox 16"/>
          <p:cNvSpPr txBox="1"/>
          <p:nvPr/>
        </p:nvSpPr>
        <p:spPr>
          <a:xfrm>
            <a:off x="8522208" y="2679192"/>
            <a:ext cx="3054096" cy="66751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1850" b="0">
                <a:solidFill>
                  <a:srgbClr val="173042"/>
                </a:solidFill>
                <a:latin typeface="Arial"/>
              </a:rPr>
              <a:t>Favour promising</a:t>
            </a:r>
          </a:p>
          <a:p>
            <a:pPr algn="l">
              <a:lnSpc>
                <a:spcPct val="113000"/>
              </a:lnSpc>
              <a:spcBef>
                <a:spcPts val="0"/>
              </a:spcBef>
              <a:spcAft>
                <a:spcPts val="0"/>
              </a:spcAft>
            </a:pPr>
            <a:r>
              <a:rPr lang="en-GB" sz="1850" b="0">
                <a:solidFill>
                  <a:srgbClr val="173042"/>
                </a:solidFill>
                <a:latin typeface="Arial"/>
              </a:rPr>
              <a:t>candidate expressions.</a:t>
            </a:r>
          </a:p>
        </p:txBody>
      </p:sp>
      <p:sp>
        <p:nvSpPr>
          <p:cNvPr id="18" name="Rounded Rectangle 17"/>
          <p:cNvSpPr/>
          <p:nvPr/>
        </p:nvSpPr>
        <p:spPr>
          <a:xfrm>
            <a:off x="658368" y="3822191"/>
            <a:ext cx="3493008" cy="166420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877824" y="4005072"/>
            <a:ext cx="305409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6  Validate</a:t>
            </a:r>
          </a:p>
        </p:txBody>
      </p:sp>
      <p:sp>
        <p:nvSpPr>
          <p:cNvPr id="20" name="TextBox 19"/>
          <p:cNvSpPr txBox="1"/>
          <p:nvPr/>
        </p:nvSpPr>
        <p:spPr>
          <a:xfrm>
            <a:off x="877824" y="4672583"/>
            <a:ext cx="3054096" cy="66751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1850" b="0">
                <a:solidFill>
                  <a:srgbClr val="173042"/>
                </a:solidFill>
                <a:latin typeface="Arial"/>
              </a:rPr>
              <a:t>Choose on validation;</a:t>
            </a:r>
          </a:p>
          <a:p>
            <a:pPr algn="l">
              <a:lnSpc>
                <a:spcPct val="113000"/>
              </a:lnSpc>
              <a:spcBef>
                <a:spcPts val="0"/>
              </a:spcBef>
              <a:spcAft>
                <a:spcPts val="0"/>
              </a:spcAft>
            </a:pPr>
            <a:r>
              <a:rPr lang="en-GB" sz="1850" b="0">
                <a:solidFill>
                  <a:srgbClr val="173042"/>
                </a:solidFill>
                <a:latin typeface="Arial"/>
              </a:rPr>
              <a:t>evaluate on test data.</a:t>
            </a:r>
          </a:p>
        </p:txBody>
      </p:sp>
      <p:sp>
        <p:nvSpPr>
          <p:cNvPr id="21" name="Rounded Rectangle 20"/>
          <p:cNvSpPr/>
          <p:nvPr/>
        </p:nvSpPr>
        <p:spPr>
          <a:xfrm>
            <a:off x="4480559" y="3822191"/>
            <a:ext cx="3493008" cy="1664208"/>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700016" y="4005072"/>
            <a:ext cx="305409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5  Repeat</a:t>
            </a:r>
          </a:p>
        </p:txBody>
      </p:sp>
      <p:sp>
        <p:nvSpPr>
          <p:cNvPr id="23" name="TextBox 22"/>
          <p:cNvSpPr txBox="1"/>
          <p:nvPr/>
        </p:nvSpPr>
        <p:spPr>
          <a:xfrm>
            <a:off x="4700016" y="4672583"/>
            <a:ext cx="3054096" cy="66751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1850" b="0">
                <a:solidFill>
                  <a:srgbClr val="173042"/>
                </a:solidFill>
                <a:latin typeface="Arial"/>
              </a:rPr>
              <a:t>Refit, simplify and repeat</a:t>
            </a:r>
          </a:p>
          <a:p>
            <a:pPr algn="l">
              <a:lnSpc>
                <a:spcPct val="113000"/>
              </a:lnSpc>
              <a:spcBef>
                <a:spcPts val="0"/>
              </a:spcBef>
              <a:spcAft>
                <a:spcPts val="0"/>
              </a:spcAft>
            </a:pPr>
            <a:r>
              <a:rPr lang="en-GB" sz="1850" b="0">
                <a:solidFill>
                  <a:srgbClr val="173042"/>
                </a:solidFill>
                <a:latin typeface="Arial"/>
              </a:rPr>
              <a:t>within a fixed budget.</a:t>
            </a:r>
          </a:p>
        </p:txBody>
      </p:sp>
      <p:sp>
        <p:nvSpPr>
          <p:cNvPr id="24" name="Rounded Rectangle 23"/>
          <p:cNvSpPr/>
          <p:nvPr/>
        </p:nvSpPr>
        <p:spPr>
          <a:xfrm>
            <a:off x="8302752" y="3822191"/>
            <a:ext cx="3493008" cy="166420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8522208" y="4005072"/>
            <a:ext cx="305409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4  Vary</a:t>
            </a:r>
          </a:p>
        </p:txBody>
      </p:sp>
      <p:sp>
        <p:nvSpPr>
          <p:cNvPr id="26" name="TextBox 25"/>
          <p:cNvSpPr txBox="1"/>
          <p:nvPr/>
        </p:nvSpPr>
        <p:spPr>
          <a:xfrm>
            <a:off x="8522208" y="4672583"/>
            <a:ext cx="3054096" cy="66751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1850" b="0">
                <a:solidFill>
                  <a:srgbClr val="173042"/>
                </a:solidFill>
                <a:latin typeface="Arial"/>
              </a:rPr>
              <a:t>Apply crossover</a:t>
            </a:r>
          </a:p>
          <a:p>
            <a:pPr algn="l">
              <a:lnSpc>
                <a:spcPct val="113000"/>
              </a:lnSpc>
              <a:spcBef>
                <a:spcPts val="0"/>
              </a:spcBef>
              <a:spcAft>
                <a:spcPts val="0"/>
              </a:spcAft>
            </a:pPr>
            <a:r>
              <a:rPr lang="en-GB" sz="1850" b="0">
                <a:solidFill>
                  <a:srgbClr val="173042"/>
                </a:solidFill>
                <a:latin typeface="Arial"/>
              </a:rPr>
              <a:t>and mutation.</a:t>
            </a:r>
          </a:p>
        </p:txBody>
      </p:sp>
      <p:cxnSp>
        <p:nvCxnSpPr>
          <p:cNvPr id="27" name="Connector 26"/>
          <p:cNvCxnSpPr/>
          <p:nvPr/>
        </p:nvCxnSpPr>
        <p:spPr>
          <a:xfrm>
            <a:off x="4187952" y="2606040"/>
            <a:ext cx="228600"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8010144" y="2606040"/>
            <a:ext cx="228600"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10040112" y="3383280"/>
            <a:ext cx="0" cy="329183"/>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flipH="1">
            <a:off x="7964424" y="4599432"/>
            <a:ext cx="246888"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flipH="1">
            <a:off x="4142232" y="4599432"/>
            <a:ext cx="246888"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530352" y="5788152"/>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731520" y="5875020"/>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Here, GP means genetic programming—not a Gaussian process.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02 • HOW FORMULA SEARCH WORKS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Data provide the selection pressure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14</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Training fitness: [2]. Candidate formulas are illustrative.</a:t>
            </a:r>
          </a:p>
        </p:txBody>
      </p:sp>
      <p:sp>
        <p:nvSpPr>
          <p:cNvPr id="9" name="Rounded Rectangle 8"/>
          <p:cNvSpPr/>
          <p:nvPr/>
        </p:nvSpPr>
        <p:spPr>
          <a:xfrm>
            <a:off x="667512" y="1819656"/>
            <a:ext cx="3502152" cy="111556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0" name="Equation 016" descr="g_1=x+y"/>
              <p:cNvSpPr txBox="1"/>
              <p:nvPr/>
            </p:nvSpPr>
            <p:spPr>
              <a:xfrm>
                <a:off x="1584093" y="2232329"/>
                <a:ext cx="1668988" cy="290220"/>
              </a:xfrm>
              <a:prstGeom prst="rect">
                <a:avLst/>
              </a:prstGeom>
              <a:noFill/>
              <a:effectLst/>
            </p:spPr>
            <p:txBody>
              <a:bodyPr wrap="none" lIns="0" tIns="0" rIns="0" bIns="0" anchor="ctr">
                <a:noAutofit/>
              </a:bodyPr>
              <a:lstStyle/>
              <a:p>
                <a:pPr algn="ctr">
                  <a:spcBef>
                    <a:spcPts val="0"/>
                  </a:spcBef>
                  <a:spcAft>
                    <a:spcPts val="0"/>
                  </a:spcAft>
                  <a:defRPr sz="2900">
                    <a:latin typeface="Cambria Math"/>
                  </a:defRPr>
                </a:pPr>
                <a14:m>
                  <m:oMathPara xmlns:m="http://schemas.openxmlformats.org/officeDocument/2006/math">
                    <m:oMathParaPr>
                      <m:jc m:val="center"/>
                    </m:oMathParaPr>
                    <m:oMath xmlns:m="http://schemas.openxmlformats.org/officeDocument/2006/math">
                      <m:sSub>
                        <m:sSubPr>
                          <m:ctrlPr>
                            <a:rPr lang="en-GB" sz="2900">
                              <a:latin typeface="Cambria Math" panose="02040503050406030204" pitchFamily="18" charset="0"/>
                            </a:rPr>
                          </m:ctrlPr>
                        </m:sSubPr>
                        <m:e>
                          <m:r>
                            <a:rPr lang="en-GB" sz="2900">
                              <a:latin typeface="Cambria Math"/>
                            </a:rPr>
                            <m:t>𝑔</m:t>
                          </m:r>
                        </m:e>
                        <m:sub>
                          <m:r>
                            <a:rPr lang="en-GB" sz="2900">
                              <a:latin typeface="Cambria Math"/>
                            </a:rPr>
                            <m:t>1</m:t>
                          </m:r>
                        </m:sub>
                      </m:sSub>
                      <m:r>
                        <a:rPr lang="en-GB" sz="2900" i="0">
                          <a:latin typeface="Cambria Math"/>
                        </a:rPr>
                        <m:t>=</m:t>
                      </m:r>
                      <m:r>
                        <a:rPr lang="en-GB" sz="2900">
                          <a:latin typeface="Cambria Math"/>
                        </a:rPr>
                        <m:t>𝑥</m:t>
                      </m:r>
                      <m:r>
                        <a:rPr lang="en-GB" sz="2900" i="0">
                          <a:latin typeface="Cambria Math"/>
                        </a:rPr>
                        <m:t>+</m:t>
                      </m:r>
                      <m:r>
                        <a:rPr lang="en-GB" sz="2900">
                          <a:latin typeface="Cambria Math"/>
                        </a:rPr>
                        <m:t>𝑦</m:t>
                      </m:r>
                    </m:oMath>
                  </m:oMathPara>
                </a14:m>
                <a:endParaRPr/>
              </a:p>
            </p:txBody>
          </p:sp>
        </mc:Choice>
        <mc:Fallback>
          <p:sp>
            <p:nvSpPr>
              <p:cNvPr id="10" name="Equation 016" descr="g_1=x+y"/>
              <p:cNvSpPr txBox="1">
                <a:spLocks noRot="1" noChangeAspect="1" noMove="1" noResize="1" noEditPoints="1" noAdjustHandles="1" noChangeArrowheads="1" noChangeShapeType="1" noTextEdit="1"/>
              </p:cNvSpPr>
              <p:nvPr/>
            </p:nvSpPr>
            <p:spPr>
              <a:xfrm>
                <a:off x="1584093" y="2232329"/>
                <a:ext cx="1668988" cy="290220"/>
              </a:xfrm>
              <a:prstGeom prst="rect">
                <a:avLst/>
              </a:prstGeom>
              <a:blipFill>
                <a:blip r:embed="rId3"/>
                <a:stretch>
                  <a:fillRect l="-11278" r="-6015" b="-62500"/>
                </a:stretch>
              </a:blipFill>
              <a:effectLst/>
            </p:spPr>
            <p:txBody>
              <a:bodyPr/>
              <a:lstStyle/>
              <a:p>
                <a:r>
                  <a:rPr lang="zh-CN" altLang="en-US">
                    <a:noFill/>
                  </a:rPr>
                  <a:t> </a:t>
                </a:r>
              </a:p>
            </p:txBody>
          </p:sp>
        </mc:Fallback>
      </mc:AlternateContent>
      <p:sp>
        <p:nvSpPr>
          <p:cNvPr id="11" name="Rounded Rectangle 10"/>
          <p:cNvSpPr/>
          <p:nvPr/>
        </p:nvSpPr>
        <p:spPr>
          <a:xfrm>
            <a:off x="4489704" y="1819656"/>
            <a:ext cx="3502152" cy="111556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2" name="Equation 017" descr="g_2=xy"/>
              <p:cNvSpPr txBox="1"/>
              <p:nvPr/>
            </p:nvSpPr>
            <p:spPr>
              <a:xfrm>
                <a:off x="5631409" y="2232329"/>
                <a:ext cx="1218741" cy="290220"/>
              </a:xfrm>
              <a:prstGeom prst="rect">
                <a:avLst/>
              </a:prstGeom>
              <a:noFill/>
              <a:effectLst/>
            </p:spPr>
            <p:txBody>
              <a:bodyPr wrap="none" lIns="0" tIns="0" rIns="0" bIns="0" anchor="ctr">
                <a:noAutofit/>
              </a:bodyPr>
              <a:lstStyle/>
              <a:p>
                <a:pPr algn="ctr">
                  <a:spcBef>
                    <a:spcPts val="0"/>
                  </a:spcBef>
                  <a:spcAft>
                    <a:spcPts val="0"/>
                  </a:spcAft>
                  <a:defRPr sz="2900">
                    <a:latin typeface="Cambria Math"/>
                  </a:defRPr>
                </a:pPr>
                <a14:m>
                  <m:oMathPara xmlns:m="http://schemas.openxmlformats.org/officeDocument/2006/math">
                    <m:oMathParaPr>
                      <m:jc m:val="center"/>
                    </m:oMathParaPr>
                    <m:oMath xmlns:m="http://schemas.openxmlformats.org/officeDocument/2006/math">
                      <m:sSub>
                        <m:sSubPr>
                          <m:ctrlPr>
                            <a:rPr lang="en-GB" sz="2900">
                              <a:latin typeface="Cambria Math" panose="02040503050406030204" pitchFamily="18" charset="0"/>
                            </a:rPr>
                          </m:ctrlPr>
                        </m:sSubPr>
                        <m:e>
                          <m:r>
                            <a:rPr lang="en-GB" sz="2900">
                              <a:latin typeface="Cambria Math"/>
                            </a:rPr>
                            <m:t>𝑔</m:t>
                          </m:r>
                        </m:e>
                        <m:sub>
                          <m:r>
                            <a:rPr lang="en-GB" sz="2900">
                              <a:latin typeface="Cambria Math"/>
                            </a:rPr>
                            <m:t>2</m:t>
                          </m:r>
                        </m:sub>
                      </m:sSub>
                      <m:r>
                        <a:rPr lang="en-GB" sz="2900" i="0">
                          <a:latin typeface="Cambria Math"/>
                        </a:rPr>
                        <m:t>=</m:t>
                      </m:r>
                      <m:r>
                        <a:rPr lang="en-GB" sz="2900">
                          <a:latin typeface="Cambria Math"/>
                        </a:rPr>
                        <m:t>𝑥𝑦</m:t>
                      </m:r>
                    </m:oMath>
                  </m:oMathPara>
                </a14:m>
                <a:endParaRPr/>
              </a:p>
            </p:txBody>
          </p:sp>
        </mc:Choice>
        <mc:Fallback>
          <p:sp>
            <p:nvSpPr>
              <p:cNvPr id="12" name="Equation 017" descr="g_2=xy"/>
              <p:cNvSpPr txBox="1">
                <a:spLocks noRot="1" noChangeAspect="1" noMove="1" noResize="1" noEditPoints="1" noAdjustHandles="1" noChangeArrowheads="1" noChangeShapeType="1" noTextEdit="1"/>
              </p:cNvSpPr>
              <p:nvPr/>
            </p:nvSpPr>
            <p:spPr>
              <a:xfrm>
                <a:off x="5631409" y="2232329"/>
                <a:ext cx="1218741" cy="290220"/>
              </a:xfrm>
              <a:prstGeom prst="rect">
                <a:avLst/>
              </a:prstGeom>
              <a:blipFill>
                <a:blip r:embed="rId4"/>
                <a:stretch>
                  <a:fillRect l="-15464" r="-9278" b="-62500"/>
                </a:stretch>
              </a:blipFill>
              <a:effectLst/>
            </p:spPr>
            <p:txBody>
              <a:bodyPr/>
              <a:lstStyle/>
              <a:p>
                <a:r>
                  <a:rPr lang="zh-CN" altLang="en-US">
                    <a:noFill/>
                  </a:rPr>
                  <a:t> </a:t>
                </a:r>
              </a:p>
            </p:txBody>
          </p:sp>
        </mc:Fallback>
      </mc:AlternateContent>
      <p:sp>
        <p:nvSpPr>
          <p:cNvPr id="13" name="Rounded Rectangle 12"/>
          <p:cNvSpPr/>
          <p:nvPr/>
        </p:nvSpPr>
        <p:spPr>
          <a:xfrm>
            <a:off x="8311896" y="1819656"/>
            <a:ext cx="3502152" cy="111556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4" name="Equation 018" descr="g_3=\exp(-x^2)"/>
              <p:cNvSpPr txBox="1"/>
              <p:nvPr/>
            </p:nvSpPr>
            <p:spPr>
              <a:xfrm>
                <a:off x="8895516" y="2168632"/>
                <a:ext cx="2334911" cy="417615"/>
              </a:xfrm>
              <a:prstGeom prst="rect">
                <a:avLst/>
              </a:prstGeom>
              <a:noFill/>
              <a:effectLst/>
            </p:spPr>
            <p:txBody>
              <a:bodyPr wrap="none" lIns="0" tIns="0" rIns="0" bIns="0" anchor="ctr">
                <a:noAutofit/>
              </a:bodyPr>
              <a:lstStyle/>
              <a:p>
                <a:pPr algn="ctr">
                  <a:spcBef>
                    <a:spcPts val="0"/>
                  </a:spcBef>
                  <a:spcAft>
                    <a:spcPts val="0"/>
                  </a:spcAft>
                  <a:defRPr sz="2900">
                    <a:latin typeface="Cambria Math"/>
                  </a:defRPr>
                </a:pPr>
                <a14:m>
                  <m:oMathPara xmlns:m="http://schemas.openxmlformats.org/officeDocument/2006/math">
                    <m:oMathParaPr>
                      <m:jc m:val="center"/>
                    </m:oMathParaPr>
                    <m:oMath xmlns:m="http://schemas.openxmlformats.org/officeDocument/2006/math">
                      <m:sSub>
                        <m:sSubPr>
                          <m:ctrlPr>
                            <a:rPr lang="en-GB" sz="2900">
                              <a:latin typeface="Cambria Math" panose="02040503050406030204" pitchFamily="18" charset="0"/>
                            </a:rPr>
                          </m:ctrlPr>
                        </m:sSubPr>
                        <m:e>
                          <m:r>
                            <a:rPr lang="en-GB" sz="2900">
                              <a:latin typeface="Cambria Math"/>
                            </a:rPr>
                            <m:t>𝑔</m:t>
                          </m:r>
                        </m:e>
                        <m:sub>
                          <m:r>
                            <a:rPr lang="en-GB" sz="2900">
                              <a:latin typeface="Cambria Math"/>
                            </a:rPr>
                            <m:t>3</m:t>
                          </m:r>
                        </m:sub>
                      </m:sSub>
                      <m:r>
                        <a:rPr lang="en-GB" sz="2900" i="0">
                          <a:latin typeface="Cambria Math"/>
                        </a:rPr>
                        <m:t>=</m:t>
                      </m:r>
                      <m:r>
                        <m:rPr>
                          <m:sty m:val="p"/>
                        </m:rPr>
                        <a:rPr lang="en-GB" sz="2900" i="0">
                          <a:latin typeface="Cambria Math"/>
                        </a:rPr>
                        <m:t>exp</m:t>
                      </m:r>
                      <m:d>
                        <m:dPr>
                          <m:ctrlPr>
                            <a:rPr lang="en-GB" sz="2900" i="1">
                              <a:latin typeface="Cambria Math" panose="02040503050406030204" pitchFamily="18" charset="0"/>
                            </a:rPr>
                          </m:ctrlPr>
                        </m:dPr>
                        <m:e>
                          <m:r>
                            <a:rPr lang="en-GB" sz="2900" i="0">
                              <a:latin typeface="Cambria Math"/>
                            </a:rPr>
                            <m:t>−</m:t>
                          </m:r>
                          <m:sSup>
                            <m:sSupPr>
                              <m:ctrlPr>
                                <a:rPr lang="en-GB" sz="2900" i="1">
                                  <a:latin typeface="Cambria Math" panose="02040503050406030204" pitchFamily="18" charset="0"/>
                                </a:rPr>
                              </m:ctrlPr>
                            </m:sSupPr>
                            <m:e>
                              <m:r>
                                <a:rPr lang="en-GB" sz="2900">
                                  <a:latin typeface="Cambria Math"/>
                                </a:rPr>
                                <m:t>𝑥</m:t>
                              </m:r>
                            </m:e>
                            <m:sup>
                              <m:r>
                                <a:rPr lang="en-GB" sz="2900">
                                  <a:latin typeface="Cambria Math"/>
                                </a:rPr>
                                <m:t>2</m:t>
                              </m:r>
                            </m:sup>
                          </m:sSup>
                        </m:e>
                      </m:d>
                    </m:oMath>
                  </m:oMathPara>
                </a14:m>
                <a:endParaRPr/>
              </a:p>
            </p:txBody>
          </p:sp>
        </mc:Choice>
        <mc:Fallback>
          <p:sp>
            <p:nvSpPr>
              <p:cNvPr id="14" name="Equation 018" descr="g_3=\exp(-x^2)"/>
              <p:cNvSpPr txBox="1">
                <a:spLocks noRot="1" noChangeAspect="1" noMove="1" noResize="1" noEditPoints="1" noAdjustHandles="1" noChangeArrowheads="1" noChangeShapeType="1" noTextEdit="1"/>
              </p:cNvSpPr>
              <p:nvPr/>
            </p:nvSpPr>
            <p:spPr>
              <a:xfrm>
                <a:off x="8895516" y="2168632"/>
                <a:ext cx="2334911" cy="417615"/>
              </a:xfrm>
              <a:prstGeom prst="rect">
                <a:avLst/>
              </a:prstGeom>
              <a:blipFill>
                <a:blip r:embed="rId5"/>
                <a:stretch>
                  <a:fillRect l="-8649" t="-5882" b="-29412"/>
                </a:stretch>
              </a:blipFill>
              <a:effectLst/>
            </p:spPr>
            <p:txBody>
              <a:bodyPr/>
              <a:lstStyle/>
              <a:p>
                <a:r>
                  <a:rPr lang="zh-CN" altLang="en-US">
                    <a:noFill/>
                  </a:rPr>
                  <a:t> </a:t>
                </a:r>
              </a:p>
            </p:txBody>
          </p:sp>
        </mc:Fallback>
      </mc:AlternateContent>
      <p:sp>
        <p:nvSpPr>
          <p:cNvPr id="15" name="Rounded Rectangle 14"/>
          <p:cNvSpPr/>
          <p:nvPr/>
        </p:nvSpPr>
        <p:spPr>
          <a:xfrm>
            <a:off x="731520" y="3273552"/>
            <a:ext cx="10725912" cy="1234440"/>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932688" y="3383280"/>
            <a:ext cx="10323576"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PREDICT EVERY TRAINING POINT AND CALCULATE RESIDUALS</a:t>
            </a:r>
          </a:p>
        </p:txBody>
      </p:sp>
      <mc:AlternateContent xmlns:mc="http://schemas.openxmlformats.org/markup-compatibility/2006">
        <mc:Choice xmlns:a14="http://schemas.microsoft.com/office/drawing/2010/main" Requires="a14">
          <p:sp>
            <p:nvSpPr>
              <p:cNvPr id="17" name="Equation 019" descr="\hat z_i=g(\mathbf{x}_i),\qquad r_i=z_i-\hat z_i"/>
              <p:cNvSpPr txBox="1"/>
              <p:nvPr/>
            </p:nvSpPr>
            <p:spPr>
              <a:xfrm>
                <a:off x="3870007" y="3853434"/>
                <a:ext cx="4448937" cy="403860"/>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sSub>
                        <m:sSubPr>
                          <m:ctrlPr>
                            <a:rPr lang="en-GB" sz="3000">
                              <a:latin typeface="Cambria Math" panose="02040503050406030204" pitchFamily="18" charset="0"/>
                            </a:rPr>
                          </m:ctrlPr>
                        </m:sSubPr>
                        <m:e>
                          <m:acc>
                            <m:accPr>
                              <m:chr m:val="̂"/>
                              <m:ctrlPr>
                                <a:rPr lang="en-GB" sz="3000">
                                  <a:latin typeface="Cambria Math" panose="02040503050406030204" pitchFamily="18" charset="0"/>
                                </a:rPr>
                              </m:ctrlPr>
                            </m:accPr>
                            <m:e>
                              <m:r>
                                <a:rPr lang="en-GB" sz="3000">
                                  <a:latin typeface="Cambria Math"/>
                                </a:rPr>
                                <m:t>𝑧</m:t>
                              </m:r>
                            </m:e>
                          </m:acc>
                        </m:e>
                        <m:sub>
                          <m:r>
                            <a:rPr lang="en-GB" sz="3000">
                              <a:latin typeface="Cambria Math"/>
                            </a:rPr>
                            <m:t>𝑖</m:t>
                          </m:r>
                        </m:sub>
                      </m:sSub>
                      <m:r>
                        <a:rPr lang="en-GB" sz="3000" i="0">
                          <a:latin typeface="Cambria Math"/>
                        </a:rPr>
                        <m:t>=</m:t>
                      </m:r>
                      <m:r>
                        <a:rPr lang="en-GB" sz="3000">
                          <a:latin typeface="Cambria Math"/>
                        </a:rPr>
                        <m:t>𝑔</m:t>
                      </m:r>
                      <m:d>
                        <m:dPr>
                          <m:ctrlPr>
                            <a:rPr lang="en-GB" sz="3000" i="1">
                              <a:latin typeface="Cambria Math" panose="02040503050406030204" pitchFamily="18" charset="0"/>
                            </a:rPr>
                          </m:ctrlPr>
                        </m:dPr>
                        <m:e>
                          <m:sSub>
                            <m:sSubPr>
                              <m:ctrlPr>
                                <a:rPr lang="en-GB" sz="3000" i="1">
                                  <a:latin typeface="Cambria Math" panose="02040503050406030204" pitchFamily="18" charset="0"/>
                                </a:rPr>
                              </m:ctrlPr>
                            </m:sSubPr>
                            <m:e>
                              <m:r>
                                <a:rPr lang="en-GB" sz="3000" i="0">
                                  <a:latin typeface="Cambria Math"/>
                                </a:rPr>
                                <m:t>𝐱</m:t>
                              </m:r>
                            </m:e>
                            <m:sub>
                              <m:r>
                                <a:rPr lang="en-GB" sz="3000">
                                  <a:latin typeface="Cambria Math"/>
                                </a:rPr>
                                <m:t>𝑖</m:t>
                              </m:r>
                            </m:sub>
                          </m:sSub>
                        </m:e>
                      </m:d>
                      <m:r>
                        <a:rPr lang="en-GB" sz="3000" i="0">
                          <a:latin typeface="Cambria Math"/>
                        </a:rPr>
                        <m:t>,</m:t>
                      </m:r>
                      <m:r>
                        <a:rPr lang="en-GB" sz="3000">
                          <a:latin typeface="Cambria Math"/>
                        </a:rPr>
                        <m:t>  </m:t>
                      </m:r>
                      <m:sSub>
                        <m:sSubPr>
                          <m:ctrlPr>
                            <a:rPr lang="en-GB" sz="3000" i="1">
                              <a:latin typeface="Cambria Math" panose="02040503050406030204" pitchFamily="18" charset="0"/>
                            </a:rPr>
                          </m:ctrlPr>
                        </m:sSubPr>
                        <m:e>
                          <m:r>
                            <a:rPr lang="en-GB" sz="3000">
                              <a:latin typeface="Cambria Math"/>
                            </a:rPr>
                            <m:t>𝑟</m:t>
                          </m:r>
                        </m:e>
                        <m:sub>
                          <m:r>
                            <a:rPr lang="en-GB" sz="3000">
                              <a:latin typeface="Cambria Math"/>
                            </a:rPr>
                            <m:t>𝑖</m:t>
                          </m:r>
                        </m:sub>
                      </m:sSub>
                      <m:r>
                        <a:rPr lang="en-GB" sz="3000" i="0">
                          <a:latin typeface="Cambria Math"/>
                        </a:rPr>
                        <m:t>=</m:t>
                      </m:r>
                      <m:sSub>
                        <m:sSubPr>
                          <m:ctrlPr>
                            <a:rPr lang="en-GB" sz="3000" i="1">
                              <a:latin typeface="Cambria Math" panose="02040503050406030204" pitchFamily="18" charset="0"/>
                            </a:rPr>
                          </m:ctrlPr>
                        </m:sSubPr>
                        <m:e>
                          <m:r>
                            <a:rPr lang="en-GB" sz="3000">
                              <a:latin typeface="Cambria Math"/>
                            </a:rPr>
                            <m:t>𝑧</m:t>
                          </m:r>
                        </m:e>
                        <m:sub>
                          <m:r>
                            <a:rPr lang="en-GB" sz="3000">
                              <a:latin typeface="Cambria Math"/>
                            </a:rPr>
                            <m:t>𝑖</m:t>
                          </m:r>
                        </m:sub>
                      </m:sSub>
                      <m:r>
                        <a:rPr lang="en-GB" sz="3000" i="0">
                          <a:latin typeface="Cambria Math"/>
                        </a:rPr>
                        <m:t>−</m:t>
                      </m:r>
                      <m:sSub>
                        <m:sSubPr>
                          <m:ctrlPr>
                            <a:rPr lang="en-GB" sz="3000" i="1">
                              <a:latin typeface="Cambria Math" panose="02040503050406030204" pitchFamily="18" charset="0"/>
                            </a:rPr>
                          </m:ctrlPr>
                        </m:sSubPr>
                        <m:e>
                          <m:acc>
                            <m:accPr>
                              <m:chr m:val="̂"/>
                              <m:ctrlPr>
                                <a:rPr lang="en-GB" sz="3000" i="1">
                                  <a:latin typeface="Cambria Math" panose="02040503050406030204" pitchFamily="18" charset="0"/>
                                </a:rPr>
                              </m:ctrlPr>
                            </m:accPr>
                            <m:e>
                              <m:r>
                                <a:rPr lang="en-GB" sz="3000">
                                  <a:latin typeface="Cambria Math"/>
                                </a:rPr>
                                <m:t>𝑧</m:t>
                              </m:r>
                            </m:e>
                          </m:acc>
                        </m:e>
                        <m:sub>
                          <m:r>
                            <a:rPr lang="en-GB" sz="3000">
                              <a:latin typeface="Cambria Math"/>
                            </a:rPr>
                            <m:t>𝑖</m:t>
                          </m:r>
                        </m:sub>
                      </m:sSub>
                    </m:oMath>
                  </m:oMathPara>
                </a14:m>
                <a:endParaRPr/>
              </a:p>
            </p:txBody>
          </p:sp>
        </mc:Choice>
        <mc:Fallback>
          <p:sp>
            <p:nvSpPr>
              <p:cNvPr id="17" name="Equation 019" descr="\hat z_i=g(\mathbf{x}_i),\qquad r_i=z_i-\hat z_i"/>
              <p:cNvSpPr txBox="1">
                <a:spLocks noRot="1" noChangeAspect="1" noMove="1" noResize="1" noEditPoints="1" noAdjustHandles="1" noChangeArrowheads="1" noChangeShapeType="1" noTextEdit="1"/>
              </p:cNvSpPr>
              <p:nvPr/>
            </p:nvSpPr>
            <p:spPr>
              <a:xfrm>
                <a:off x="3870007" y="3853434"/>
                <a:ext cx="4448937" cy="403860"/>
              </a:xfrm>
              <a:prstGeom prst="rect">
                <a:avLst/>
              </a:prstGeom>
              <a:blipFill>
                <a:blip r:embed="rId6"/>
                <a:stretch>
                  <a:fillRect l="-2273" t="-21212" b="-48485"/>
                </a:stretch>
              </a:blipFill>
              <a:effectLst/>
            </p:spPr>
            <p:txBody>
              <a:bodyPr/>
              <a:lstStyle/>
              <a:p>
                <a:r>
                  <a:rPr lang="zh-CN" altLang="en-US">
                    <a:noFill/>
                  </a:rPr>
                  <a:t> </a:t>
                </a:r>
              </a:p>
            </p:txBody>
          </p:sp>
        </mc:Fallback>
      </mc:AlternateContent>
      <p:sp>
        <p:nvSpPr>
          <p:cNvPr id="18" name="TextBox 17"/>
          <p:cNvSpPr txBox="1"/>
          <p:nvPr/>
        </p:nvSpPr>
        <p:spPr>
          <a:xfrm>
            <a:off x="905256" y="4892040"/>
            <a:ext cx="4727448" cy="65836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36" b="1">
                <a:solidFill>
                  <a:srgbClr val="173042"/>
                </a:solidFill>
                <a:latin typeface="Arial"/>
              </a:rPr>
              <a:t>A simple expression may fit poorly.</a:t>
            </a:r>
          </a:p>
        </p:txBody>
      </p:sp>
      <p:sp>
        <p:nvSpPr>
          <p:cNvPr id="19" name="TextBox 18"/>
          <p:cNvSpPr txBox="1"/>
          <p:nvPr/>
        </p:nvSpPr>
        <p:spPr>
          <a:xfrm>
            <a:off x="6400800" y="4892040"/>
            <a:ext cx="4727448" cy="65836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958" b="1">
                <a:solidFill>
                  <a:srgbClr val="173042"/>
                </a:solidFill>
                <a:latin typeface="Arial"/>
              </a:rPr>
              <a:t>A complicated expression may overfit.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02 • HOW FORMULA SEARCH WORKS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Crossover exchanges parts of two expressions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15</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Crossover principle: [2]. Examples are schematic.</a:t>
            </a:r>
          </a:p>
        </p:txBody>
      </p:sp>
      <p:sp>
        <p:nvSpPr>
          <p:cNvPr id="9" name="Rounded Rectangle 8"/>
          <p:cNvSpPr/>
          <p:nvPr/>
        </p:nvSpPr>
        <p:spPr>
          <a:xfrm>
            <a:off x="713232" y="1856231"/>
            <a:ext cx="4974336" cy="125272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914400" y="1965960"/>
            <a:ext cx="4572000"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PARENT A</a:t>
            </a:r>
          </a:p>
        </p:txBody>
      </p:sp>
      <mc:AlternateContent xmlns:mc="http://schemas.openxmlformats.org/markup-compatibility/2006">
        <mc:Choice xmlns:a14="http://schemas.microsoft.com/office/drawing/2010/main" Requires="a14">
          <p:sp>
            <p:nvSpPr>
              <p:cNvPr id="11" name="Equation 020" descr="g_A=x^2+y"/>
              <p:cNvSpPr txBox="1"/>
              <p:nvPr/>
            </p:nvSpPr>
            <p:spPr>
              <a:xfrm>
                <a:off x="2089616" y="2412094"/>
                <a:ext cx="2221567" cy="470187"/>
              </a:xfrm>
              <a:prstGeom prst="rect">
                <a:avLst/>
              </a:prstGeom>
              <a:noFill/>
              <a:effectLst/>
            </p:spPr>
            <p:txBody>
              <a:bodyPr wrap="none" lIns="0" tIns="0" rIns="0" bIns="0" anchor="ctr">
                <a:noAutofit/>
              </a:bodyPr>
              <a:lstStyle/>
              <a:p>
                <a:pPr algn="ctr">
                  <a:spcBef>
                    <a:spcPts val="0"/>
                  </a:spcBef>
                  <a:spcAft>
                    <a:spcPts val="0"/>
                  </a:spcAft>
                  <a:defRPr sz="3400">
                    <a:latin typeface="Cambria Math"/>
                  </a:defRPr>
                </a:pPr>
                <a14:m>
                  <m:oMathPara xmlns:m="http://schemas.openxmlformats.org/officeDocument/2006/math">
                    <m:oMathParaPr>
                      <m:jc m:val="center"/>
                    </m:oMathParaPr>
                    <m:oMath xmlns:m="http://schemas.openxmlformats.org/officeDocument/2006/math">
                      <m:sSub>
                        <m:sSubPr>
                          <m:ctrlPr>
                            <a:rPr lang="en-GB" sz="3400">
                              <a:latin typeface="Cambria Math" panose="02040503050406030204" pitchFamily="18" charset="0"/>
                            </a:rPr>
                          </m:ctrlPr>
                        </m:sSubPr>
                        <m:e>
                          <m:r>
                            <a:rPr lang="en-GB" sz="3400">
                              <a:latin typeface="Cambria Math"/>
                            </a:rPr>
                            <m:t>𝑔</m:t>
                          </m:r>
                        </m:e>
                        <m:sub>
                          <m:r>
                            <a:rPr lang="en-GB" sz="3400">
                              <a:latin typeface="Cambria Math"/>
                            </a:rPr>
                            <m:t>𝐴</m:t>
                          </m:r>
                        </m:sub>
                      </m:sSub>
                      <m:r>
                        <a:rPr lang="en-GB" sz="3400" i="0">
                          <a:latin typeface="Cambria Math"/>
                        </a:rPr>
                        <m:t>=</m:t>
                      </m:r>
                      <m:sSup>
                        <m:sSupPr>
                          <m:ctrlPr>
                            <a:rPr lang="en-GB" sz="3400" i="1">
                              <a:latin typeface="Cambria Math" panose="02040503050406030204" pitchFamily="18" charset="0"/>
                            </a:rPr>
                          </m:ctrlPr>
                        </m:sSupPr>
                        <m:e>
                          <m:r>
                            <a:rPr lang="en-GB" sz="3400">
                              <a:latin typeface="Cambria Math"/>
                            </a:rPr>
                            <m:t>𝑥</m:t>
                          </m:r>
                        </m:e>
                        <m:sup>
                          <m:r>
                            <a:rPr lang="en-GB" sz="3400">
                              <a:latin typeface="Cambria Math"/>
                            </a:rPr>
                            <m:t>2</m:t>
                          </m:r>
                        </m:sup>
                      </m:sSup>
                      <m:r>
                        <a:rPr lang="en-GB" sz="3400" i="0">
                          <a:latin typeface="Cambria Math"/>
                        </a:rPr>
                        <m:t>+</m:t>
                      </m:r>
                      <m:r>
                        <a:rPr lang="en-GB" sz="3400">
                          <a:latin typeface="Cambria Math"/>
                        </a:rPr>
                        <m:t>𝑦</m:t>
                      </m:r>
                    </m:oMath>
                  </m:oMathPara>
                </a14:m>
                <a:endParaRPr/>
              </a:p>
            </p:txBody>
          </p:sp>
        </mc:Choice>
        <mc:Fallback>
          <p:sp>
            <p:nvSpPr>
              <p:cNvPr id="11" name="Equation 020" descr="g_A=x^2+y"/>
              <p:cNvSpPr txBox="1">
                <a:spLocks noRot="1" noChangeAspect="1" noMove="1" noResize="1" noEditPoints="1" noAdjustHandles="1" noChangeArrowheads="1" noChangeShapeType="1" noTextEdit="1"/>
              </p:cNvSpPr>
              <p:nvPr/>
            </p:nvSpPr>
            <p:spPr>
              <a:xfrm>
                <a:off x="2089616" y="2412094"/>
                <a:ext cx="2221567" cy="470187"/>
              </a:xfrm>
              <a:prstGeom prst="rect">
                <a:avLst/>
              </a:prstGeom>
              <a:blipFill>
                <a:blip r:embed="rId3"/>
                <a:stretch>
                  <a:fillRect l="-9659" t="-5263" r="-5114" b="-28947"/>
                </a:stretch>
              </a:blipFill>
              <a:effectLst/>
            </p:spPr>
            <p:txBody>
              <a:bodyPr/>
              <a:lstStyle/>
              <a:p>
                <a:r>
                  <a:rPr lang="zh-CN" altLang="en-US">
                    <a:noFill/>
                  </a:rPr>
                  <a:t> </a:t>
                </a:r>
              </a:p>
            </p:txBody>
          </p:sp>
        </mc:Fallback>
      </mc:AlternateContent>
      <p:sp>
        <p:nvSpPr>
          <p:cNvPr id="12" name="Rounded Rectangle 11"/>
          <p:cNvSpPr/>
          <p:nvPr/>
        </p:nvSpPr>
        <p:spPr>
          <a:xfrm>
            <a:off x="6446520" y="1856231"/>
            <a:ext cx="4974336" cy="125272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6647688" y="1965960"/>
            <a:ext cx="4572000"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PARENT B</a:t>
            </a:r>
          </a:p>
        </p:txBody>
      </p:sp>
      <mc:AlternateContent xmlns:mc="http://schemas.openxmlformats.org/markup-compatibility/2006">
        <mc:Choice xmlns:a14="http://schemas.microsoft.com/office/drawing/2010/main" Requires="a14">
          <p:sp>
            <p:nvSpPr>
              <p:cNvPr id="14" name="Equation 021" descr="g_B=3x+\exp(-y^2)"/>
              <p:cNvSpPr txBox="1"/>
              <p:nvPr/>
            </p:nvSpPr>
            <p:spPr>
              <a:xfrm>
                <a:off x="7214163" y="2423979"/>
                <a:ext cx="3439048" cy="446416"/>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sSub>
                        <m:sSubPr>
                          <m:ctrlPr>
                            <a:rPr lang="en-GB" sz="3100">
                              <a:latin typeface="Cambria Math" panose="02040503050406030204" pitchFamily="18" charset="0"/>
                            </a:rPr>
                          </m:ctrlPr>
                        </m:sSubPr>
                        <m:e>
                          <m:r>
                            <a:rPr lang="en-GB" sz="3100">
                              <a:latin typeface="Cambria Math"/>
                            </a:rPr>
                            <m:t>𝑔</m:t>
                          </m:r>
                        </m:e>
                        <m:sub>
                          <m:r>
                            <a:rPr lang="en-GB" sz="3100">
                              <a:latin typeface="Cambria Math"/>
                            </a:rPr>
                            <m:t>𝐵</m:t>
                          </m:r>
                        </m:sub>
                      </m:sSub>
                      <m:r>
                        <a:rPr lang="en-GB" sz="3100" i="0">
                          <a:latin typeface="Cambria Math"/>
                        </a:rPr>
                        <m:t>=</m:t>
                      </m:r>
                      <m:r>
                        <a:rPr lang="en-GB" sz="3100">
                          <a:latin typeface="Cambria Math"/>
                        </a:rPr>
                        <m:t>3</m:t>
                      </m:r>
                      <m:r>
                        <a:rPr lang="en-GB" sz="3100">
                          <a:latin typeface="Cambria Math"/>
                        </a:rPr>
                        <m:t>𝑥</m:t>
                      </m:r>
                      <m:r>
                        <a:rPr lang="en-GB" sz="3100" i="0">
                          <a:latin typeface="Cambria Math"/>
                        </a:rPr>
                        <m:t>+</m:t>
                      </m:r>
                      <m:r>
                        <m:rPr>
                          <m:sty m:val="p"/>
                        </m:rPr>
                        <a:rPr lang="en-GB" sz="3100" i="0">
                          <a:latin typeface="Cambria Math"/>
                        </a:rPr>
                        <m:t>exp</m:t>
                      </m:r>
                      <m:d>
                        <m:dPr>
                          <m:ctrlPr>
                            <a:rPr lang="en-GB" sz="3100" i="1">
                              <a:latin typeface="Cambria Math" panose="02040503050406030204" pitchFamily="18" charset="0"/>
                            </a:rPr>
                          </m:ctrlPr>
                        </m:dPr>
                        <m:e>
                          <m:r>
                            <a:rPr lang="en-GB" sz="3100" i="0">
                              <a:latin typeface="Cambria Math"/>
                            </a:rPr>
                            <m:t>−</m:t>
                          </m:r>
                          <m:sSup>
                            <m:sSupPr>
                              <m:ctrlPr>
                                <a:rPr lang="en-GB" sz="3100" i="1">
                                  <a:latin typeface="Cambria Math" panose="02040503050406030204" pitchFamily="18" charset="0"/>
                                </a:rPr>
                              </m:ctrlPr>
                            </m:sSupPr>
                            <m:e>
                              <m:r>
                                <a:rPr lang="en-GB" sz="3100">
                                  <a:latin typeface="Cambria Math"/>
                                </a:rPr>
                                <m:t>𝑦</m:t>
                              </m:r>
                            </m:e>
                            <m:sup>
                              <m:r>
                                <a:rPr lang="en-GB" sz="3100">
                                  <a:latin typeface="Cambria Math"/>
                                </a:rPr>
                                <m:t>2</m:t>
                              </m:r>
                            </m:sup>
                          </m:sSup>
                        </m:e>
                      </m:d>
                    </m:oMath>
                  </m:oMathPara>
                </a14:m>
                <a:endParaRPr/>
              </a:p>
            </p:txBody>
          </p:sp>
        </mc:Choice>
        <mc:Fallback>
          <p:sp>
            <p:nvSpPr>
              <p:cNvPr id="14" name="Equation 021" descr="g_B=3x+\exp(-y^2)"/>
              <p:cNvSpPr txBox="1">
                <a:spLocks noRot="1" noChangeAspect="1" noMove="1" noResize="1" noEditPoints="1" noAdjustHandles="1" noChangeArrowheads="1" noChangeShapeType="1" noTextEdit="1"/>
              </p:cNvSpPr>
              <p:nvPr/>
            </p:nvSpPr>
            <p:spPr>
              <a:xfrm>
                <a:off x="7214163" y="2423979"/>
                <a:ext cx="3439048" cy="446416"/>
              </a:xfrm>
              <a:prstGeom prst="rect">
                <a:avLst/>
              </a:prstGeom>
              <a:blipFill>
                <a:blip r:embed="rId4"/>
                <a:stretch>
                  <a:fillRect l="-6227" t="-5556" b="-30556"/>
                </a:stretch>
              </a:blipFill>
              <a:effectLst/>
            </p:spPr>
            <p:txBody>
              <a:bodyPr/>
              <a:lstStyle/>
              <a:p>
                <a:r>
                  <a:rPr lang="zh-CN" altLang="en-US">
                    <a:noFill/>
                  </a:rPr>
                  <a:t> </a:t>
                </a:r>
              </a:p>
            </p:txBody>
          </p:sp>
        </mc:Fallback>
      </mc:AlternateContent>
      <p:cxnSp>
        <p:nvCxnSpPr>
          <p:cNvPr id="15" name="Connector 14"/>
          <p:cNvCxnSpPr/>
          <p:nvPr/>
        </p:nvCxnSpPr>
        <p:spPr>
          <a:xfrm>
            <a:off x="3227832" y="3236976"/>
            <a:ext cx="1563624" cy="530352"/>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H="1">
            <a:off x="7379208" y="3236976"/>
            <a:ext cx="1508760" cy="530352"/>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3300984" y="3941063"/>
            <a:ext cx="5577840" cy="1234440"/>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3502152" y="4050791"/>
            <a:ext cx="5175503"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ONE POSSIBLE OFFSPRING</a:t>
            </a:r>
          </a:p>
        </p:txBody>
      </p:sp>
      <mc:AlternateContent xmlns:mc="http://schemas.openxmlformats.org/markup-compatibility/2006">
        <mc:Choice xmlns:a14="http://schemas.microsoft.com/office/drawing/2010/main" Requires="a14">
          <p:sp>
            <p:nvSpPr>
              <p:cNvPr id="19" name="Equation 022" descr="g_C=x^2+\exp(-y^2)"/>
              <p:cNvSpPr txBox="1"/>
              <p:nvPr/>
            </p:nvSpPr>
            <p:spPr>
              <a:xfrm>
                <a:off x="4327651" y="4492467"/>
                <a:ext cx="3524504" cy="460816"/>
              </a:xfrm>
              <a:prstGeom prst="rect">
                <a:avLst/>
              </a:prstGeom>
              <a:noFill/>
              <a:effectLst/>
            </p:spPr>
            <p:txBody>
              <a:bodyPr wrap="none" lIns="0" tIns="0" rIns="0" bIns="0" anchor="ctr">
                <a:noAutofit/>
              </a:bodyPr>
              <a:lstStyle/>
              <a:p>
                <a:pPr algn="ctr">
                  <a:spcBef>
                    <a:spcPts val="0"/>
                  </a:spcBef>
                  <a:spcAft>
                    <a:spcPts val="0"/>
                  </a:spcAft>
                  <a:defRPr sz="3200">
                    <a:latin typeface="Cambria Math"/>
                  </a:defRPr>
                </a:pPr>
                <a14:m>
                  <m:oMathPara xmlns:m="http://schemas.openxmlformats.org/officeDocument/2006/math">
                    <m:oMathParaPr>
                      <m:jc m:val="center"/>
                    </m:oMathParaPr>
                    <m:oMath xmlns:m="http://schemas.openxmlformats.org/officeDocument/2006/math">
                      <m:sSub>
                        <m:sSubPr>
                          <m:ctrlPr>
                            <a:rPr lang="en-GB" sz="3200">
                              <a:latin typeface="Cambria Math" panose="02040503050406030204" pitchFamily="18" charset="0"/>
                            </a:rPr>
                          </m:ctrlPr>
                        </m:sSubPr>
                        <m:e>
                          <m:r>
                            <a:rPr lang="en-GB" sz="3200">
                              <a:latin typeface="Cambria Math"/>
                            </a:rPr>
                            <m:t>𝑔</m:t>
                          </m:r>
                        </m:e>
                        <m:sub>
                          <m:r>
                            <a:rPr lang="en-GB" sz="3200">
                              <a:latin typeface="Cambria Math"/>
                            </a:rPr>
                            <m:t>𝐶</m:t>
                          </m:r>
                        </m:sub>
                      </m:sSub>
                      <m:r>
                        <a:rPr lang="en-GB" sz="3200" i="0">
                          <a:latin typeface="Cambria Math"/>
                        </a:rPr>
                        <m:t>=</m:t>
                      </m:r>
                      <m:sSup>
                        <m:sSupPr>
                          <m:ctrlPr>
                            <a:rPr lang="en-GB" sz="3200" i="1">
                              <a:latin typeface="Cambria Math" panose="02040503050406030204" pitchFamily="18" charset="0"/>
                            </a:rPr>
                          </m:ctrlPr>
                        </m:sSupPr>
                        <m:e>
                          <m:r>
                            <a:rPr lang="en-GB" sz="3200">
                              <a:latin typeface="Cambria Math"/>
                            </a:rPr>
                            <m:t>𝑥</m:t>
                          </m:r>
                        </m:e>
                        <m:sup>
                          <m:r>
                            <a:rPr lang="en-GB" sz="3200">
                              <a:latin typeface="Cambria Math"/>
                            </a:rPr>
                            <m:t>2</m:t>
                          </m:r>
                        </m:sup>
                      </m:sSup>
                      <m:r>
                        <a:rPr lang="en-GB" sz="3200" i="0">
                          <a:latin typeface="Cambria Math"/>
                        </a:rPr>
                        <m:t>+</m:t>
                      </m:r>
                      <m:r>
                        <m:rPr>
                          <m:sty m:val="p"/>
                        </m:rPr>
                        <a:rPr lang="en-GB" sz="3200" i="0">
                          <a:latin typeface="Cambria Math"/>
                        </a:rPr>
                        <m:t>exp</m:t>
                      </m:r>
                      <m:d>
                        <m:dPr>
                          <m:ctrlPr>
                            <a:rPr lang="en-GB" sz="3200" i="1">
                              <a:latin typeface="Cambria Math" panose="02040503050406030204" pitchFamily="18" charset="0"/>
                            </a:rPr>
                          </m:ctrlPr>
                        </m:dPr>
                        <m:e>
                          <m:r>
                            <a:rPr lang="en-GB" sz="3200" i="0">
                              <a:latin typeface="Cambria Math"/>
                            </a:rPr>
                            <m:t>−</m:t>
                          </m:r>
                          <m:sSup>
                            <m:sSupPr>
                              <m:ctrlPr>
                                <a:rPr lang="en-GB" sz="3200" i="1">
                                  <a:latin typeface="Cambria Math" panose="02040503050406030204" pitchFamily="18" charset="0"/>
                                </a:rPr>
                              </m:ctrlPr>
                            </m:sSupPr>
                            <m:e>
                              <m:r>
                                <a:rPr lang="en-GB" sz="3200">
                                  <a:latin typeface="Cambria Math"/>
                                </a:rPr>
                                <m:t>𝑦</m:t>
                              </m:r>
                            </m:e>
                            <m:sup>
                              <m:r>
                                <a:rPr lang="en-GB" sz="3200">
                                  <a:latin typeface="Cambria Math"/>
                                </a:rPr>
                                <m:t>2</m:t>
                              </m:r>
                            </m:sup>
                          </m:sSup>
                        </m:e>
                      </m:d>
                    </m:oMath>
                  </m:oMathPara>
                </a14:m>
                <a:endParaRPr/>
              </a:p>
            </p:txBody>
          </p:sp>
        </mc:Choice>
        <mc:Fallback>
          <p:sp>
            <p:nvSpPr>
              <p:cNvPr id="19" name="Equation 022" descr="g_C=x^2+\exp(-y^2)"/>
              <p:cNvSpPr txBox="1">
                <a:spLocks noRot="1" noChangeAspect="1" noMove="1" noResize="1" noEditPoints="1" noAdjustHandles="1" noChangeArrowheads="1" noChangeShapeType="1" noTextEdit="1"/>
              </p:cNvSpPr>
              <p:nvPr/>
            </p:nvSpPr>
            <p:spPr>
              <a:xfrm>
                <a:off x="4327651" y="4492467"/>
                <a:ext cx="3524504" cy="460816"/>
              </a:xfrm>
              <a:prstGeom prst="rect">
                <a:avLst/>
              </a:prstGeom>
              <a:blipFill>
                <a:blip r:embed="rId5"/>
                <a:stretch>
                  <a:fillRect l="-5735" t="-5263" b="-26316"/>
                </a:stretch>
              </a:blipFill>
              <a:effectLst/>
            </p:spPr>
            <p:txBody>
              <a:bodyPr/>
              <a:lstStyle/>
              <a:p>
                <a:r>
                  <a:rPr lang="zh-CN" altLang="en-US">
                    <a:noFill/>
                  </a:rPr>
                  <a:t> </a:t>
                </a:r>
              </a:p>
            </p:txBody>
          </p:sp>
        </mc:Fallback>
      </mc:AlternateContent>
      <p:sp>
        <p:nvSpPr>
          <p:cNvPr id="20" name="Rounded Rectangle 19"/>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An offspring must be refitted and re-evaluated. It is not automatically better.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02 • HOW FORMULA SEARCH WORKS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2760" b="1">
                <a:solidFill>
                  <a:srgbClr val="173042"/>
                </a:solidFill>
                <a:latin typeface="Arial"/>
              </a:rPr>
              <a:t>Mutation changes structure; parameter fitting changes numbers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16</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Mutation and constant optimisation: [1, 2].</a:t>
            </a:r>
          </a:p>
        </p:txBody>
      </p:sp>
      <p:sp>
        <p:nvSpPr>
          <p:cNvPr id="9" name="Rounded Rectangle 8"/>
          <p:cNvSpPr/>
          <p:nvPr/>
        </p:nvSpPr>
        <p:spPr>
          <a:xfrm>
            <a:off x="649224" y="1728216"/>
            <a:ext cx="5367528" cy="362102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68680" y="1911095"/>
            <a:ext cx="492861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STRUCTURAL MUTATION</a:t>
            </a:r>
          </a:p>
        </p:txBody>
      </p:sp>
      <p:sp>
        <p:nvSpPr>
          <p:cNvPr id="11" name="TextBox 10"/>
          <p:cNvSpPr txBox="1"/>
          <p:nvPr/>
        </p:nvSpPr>
        <p:spPr>
          <a:xfrm>
            <a:off x="868680" y="2578608"/>
            <a:ext cx="4928616" cy="2624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Introduce a shifted peak or replace an operator.</a:t>
            </a:r>
          </a:p>
        </p:txBody>
      </p:sp>
      <mc:AlternateContent xmlns:mc="http://schemas.openxmlformats.org/markup-compatibility/2006">
        <mc:Choice xmlns:a14="http://schemas.microsoft.com/office/drawing/2010/main" Requires="a14">
          <p:sp>
            <p:nvSpPr>
              <p:cNvPr id="12" name="Equation 023" descr="\exp(-x^2)\ \longrightarrow\ \exp[-(x-c)^2]"/>
              <p:cNvSpPr txBox="1"/>
              <p:nvPr/>
            </p:nvSpPr>
            <p:spPr>
              <a:xfrm>
                <a:off x="1037249" y="3412900"/>
                <a:ext cx="4545756" cy="388814"/>
              </a:xfrm>
              <a:prstGeom prst="rect">
                <a:avLst/>
              </a:prstGeom>
              <a:noFill/>
              <a:effectLst/>
            </p:spPr>
            <p:txBody>
              <a:bodyPr wrap="none" lIns="0" tIns="0" rIns="0" bIns="0" anchor="ctr">
                <a:noAutofit/>
              </a:bodyPr>
              <a:lstStyle/>
              <a:p>
                <a:pPr algn="ctr">
                  <a:spcBef>
                    <a:spcPts val="0"/>
                  </a:spcBef>
                  <a:spcAft>
                    <a:spcPts val="0"/>
                  </a:spcAft>
                  <a:defRPr sz="2700">
                    <a:latin typeface="Cambria Math"/>
                  </a:defRPr>
                </a:pPr>
                <a14:m>
                  <m:oMathPara xmlns:m="http://schemas.openxmlformats.org/officeDocument/2006/math">
                    <m:oMathParaPr>
                      <m:jc m:val="center"/>
                    </m:oMathParaPr>
                    <m:oMath xmlns:m="http://schemas.openxmlformats.org/officeDocument/2006/math">
                      <m:r>
                        <m:rPr>
                          <m:sty m:val="p"/>
                        </m:rPr>
                        <a:rPr lang="en-GB" sz="2700" i="0">
                          <a:latin typeface="Cambria Math"/>
                        </a:rPr>
                        <m:t>exp</m:t>
                      </m:r>
                      <m:d>
                        <m:dPr>
                          <m:ctrlPr>
                            <a:rPr lang="en-GB" sz="2700" i="1">
                              <a:latin typeface="Cambria Math" panose="02040503050406030204" pitchFamily="18" charset="0"/>
                            </a:rPr>
                          </m:ctrlPr>
                        </m:dPr>
                        <m:e>
                          <m:r>
                            <a:rPr lang="en-GB" sz="2700" i="0">
                              <a:latin typeface="Cambria Math"/>
                            </a:rPr>
                            <m:t>−</m:t>
                          </m:r>
                          <m:sSup>
                            <m:sSupPr>
                              <m:ctrlPr>
                                <a:rPr lang="en-GB" sz="2700" i="1">
                                  <a:latin typeface="Cambria Math" panose="02040503050406030204" pitchFamily="18" charset="0"/>
                                </a:rPr>
                              </m:ctrlPr>
                            </m:sSupPr>
                            <m:e>
                              <m:r>
                                <a:rPr lang="en-GB" sz="2700">
                                  <a:latin typeface="Cambria Math"/>
                                </a:rPr>
                                <m:t>𝑥</m:t>
                              </m:r>
                            </m:e>
                            <m:sup>
                              <m:r>
                                <a:rPr lang="en-GB" sz="2700">
                                  <a:latin typeface="Cambria Math"/>
                                </a:rPr>
                                <m:t>2</m:t>
                              </m:r>
                            </m:sup>
                          </m:sSup>
                        </m:e>
                      </m:d>
                      <m:r>
                        <a:rPr lang="en-GB" sz="2700">
                          <a:latin typeface="Cambria Math"/>
                        </a:rPr>
                        <m:t> </m:t>
                      </m:r>
                      <m:r>
                        <a:rPr lang="en-GB" sz="2700" i="0">
                          <a:latin typeface="Cambria Math"/>
                        </a:rPr>
                        <m:t>→</m:t>
                      </m:r>
                      <m:r>
                        <a:rPr lang="en-GB" sz="2700">
                          <a:latin typeface="Cambria Math"/>
                        </a:rPr>
                        <m:t> </m:t>
                      </m:r>
                      <m:r>
                        <m:rPr>
                          <m:sty m:val="p"/>
                        </m:rPr>
                        <a:rPr lang="en-GB" sz="2700" i="0">
                          <a:latin typeface="Cambria Math"/>
                        </a:rPr>
                        <m:t>exp</m:t>
                      </m:r>
                      <m:d>
                        <m:dPr>
                          <m:begChr m:val="["/>
                          <m:endChr m:val="]"/>
                          <m:ctrlPr>
                            <a:rPr lang="en-GB" sz="2700" i="1">
                              <a:latin typeface="Cambria Math" panose="02040503050406030204" pitchFamily="18" charset="0"/>
                            </a:rPr>
                          </m:ctrlPr>
                        </m:dPr>
                        <m:e>
                          <m:r>
                            <a:rPr lang="en-GB" sz="2700" i="0">
                              <a:latin typeface="Cambria Math"/>
                            </a:rPr>
                            <m:t>−</m:t>
                          </m:r>
                          <m:sSup>
                            <m:sSupPr>
                              <m:ctrlPr>
                                <a:rPr lang="en-GB" sz="2700" i="1">
                                  <a:latin typeface="Cambria Math" panose="02040503050406030204" pitchFamily="18" charset="0"/>
                                </a:rPr>
                              </m:ctrlPr>
                            </m:sSupPr>
                            <m:e>
                              <m:d>
                                <m:dPr>
                                  <m:ctrlPr>
                                    <a:rPr lang="en-GB" sz="2700" i="1">
                                      <a:latin typeface="Cambria Math" panose="02040503050406030204" pitchFamily="18" charset="0"/>
                                    </a:rPr>
                                  </m:ctrlPr>
                                </m:dPr>
                                <m:e>
                                  <m:r>
                                    <a:rPr lang="en-GB" sz="2700">
                                      <a:latin typeface="Cambria Math"/>
                                    </a:rPr>
                                    <m:t>𝑥</m:t>
                                  </m:r>
                                  <m:r>
                                    <a:rPr lang="en-GB" sz="2700" i="0">
                                      <a:latin typeface="Cambria Math"/>
                                    </a:rPr>
                                    <m:t>−</m:t>
                                  </m:r>
                                  <m:r>
                                    <a:rPr lang="en-GB" sz="2700">
                                      <a:latin typeface="Cambria Math"/>
                                    </a:rPr>
                                    <m:t>𝑐</m:t>
                                  </m:r>
                                </m:e>
                              </m:d>
                            </m:e>
                            <m:sup>
                              <m:r>
                                <a:rPr lang="en-GB" sz="2700">
                                  <a:latin typeface="Cambria Math"/>
                                </a:rPr>
                                <m:t>2</m:t>
                              </m:r>
                            </m:sup>
                          </m:sSup>
                        </m:e>
                      </m:d>
                    </m:oMath>
                  </m:oMathPara>
                </a14:m>
                <a:endParaRPr/>
              </a:p>
            </p:txBody>
          </p:sp>
        </mc:Choice>
        <mc:Fallback>
          <p:sp>
            <p:nvSpPr>
              <p:cNvPr id="12" name="Equation 023" descr="\exp(-x^2)\ \longrightarrow\ \exp[-(x-c)^2]"/>
              <p:cNvSpPr txBox="1">
                <a:spLocks noRot="1" noChangeAspect="1" noMove="1" noResize="1" noEditPoints="1" noAdjustHandles="1" noChangeArrowheads="1" noChangeShapeType="1" noTextEdit="1"/>
              </p:cNvSpPr>
              <p:nvPr/>
            </p:nvSpPr>
            <p:spPr>
              <a:xfrm>
                <a:off x="1037249" y="3412900"/>
                <a:ext cx="4545756" cy="388814"/>
              </a:xfrm>
              <a:prstGeom prst="rect">
                <a:avLst/>
              </a:prstGeom>
              <a:blipFill>
                <a:blip r:embed="rId3"/>
                <a:stretch>
                  <a:fillRect l="-836" t="-12500" b="-40625"/>
                </a:stretch>
              </a:blipFill>
              <a:effectLst/>
            </p:spPr>
            <p:txBody>
              <a:bodyPr/>
              <a:lstStyle/>
              <a:p>
                <a:r>
                  <a:rPr lang="zh-CN" altLang="en-US">
                    <a:noFill/>
                  </a:rPr>
                  <a:t> </a:t>
                </a:r>
              </a:p>
            </p:txBody>
          </p:sp>
        </mc:Fallback>
      </mc:AlternateContent>
      <p:sp>
        <p:nvSpPr>
          <p:cNvPr id="13" name="Rounded Rectangle 12"/>
          <p:cNvSpPr/>
          <p:nvPr/>
        </p:nvSpPr>
        <p:spPr>
          <a:xfrm>
            <a:off x="6227064" y="1728216"/>
            <a:ext cx="5367528" cy="3621024"/>
          </a:xfrm>
          <a:prstGeom prst="roundRect">
            <a:avLst>
              <a:gd name="adj" fmla="val 8000"/>
            </a:avLst>
          </a:prstGeom>
          <a:solidFill>
            <a:srgbClr val="EAF0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6446520" y="1911095"/>
            <a:ext cx="492861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PARAMETER OPTIMISATION</a:t>
            </a:r>
          </a:p>
        </p:txBody>
      </p:sp>
      <p:sp>
        <p:nvSpPr>
          <p:cNvPr id="15" name="TextBox 14"/>
          <p:cNvSpPr txBox="1"/>
          <p:nvPr/>
        </p:nvSpPr>
        <p:spPr>
          <a:xfrm>
            <a:off x="6446520" y="2578608"/>
            <a:ext cx="4928616" cy="2624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Retain the structure; refine its numerical coefficients.</a:t>
            </a:r>
          </a:p>
        </p:txBody>
      </p:sp>
      <mc:AlternateContent xmlns:mc="http://schemas.openxmlformats.org/markup-compatibility/2006">
        <mc:Choice xmlns:a14="http://schemas.microsoft.com/office/drawing/2010/main" Requires="a14">
          <p:sp>
            <p:nvSpPr>
              <p:cNvPr id="16" name="Equation 024" descr="\hat z=a\exp(-bx^2)"/>
              <p:cNvSpPr txBox="1"/>
              <p:nvPr/>
            </p:nvSpPr>
            <p:spPr>
              <a:xfrm>
                <a:off x="7525195" y="3288087"/>
                <a:ext cx="2762120" cy="446416"/>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acc>
                        <m:accPr>
                          <m:chr m:val="̂"/>
                          <m:ctrlPr>
                            <a:rPr lang="en-GB" sz="3100">
                              <a:latin typeface="Cambria Math" panose="02040503050406030204" pitchFamily="18" charset="0"/>
                            </a:rPr>
                          </m:ctrlPr>
                        </m:accPr>
                        <m:e>
                          <m:r>
                            <a:rPr lang="en-GB" sz="3100">
                              <a:latin typeface="Cambria Math"/>
                            </a:rPr>
                            <m:t>𝑧</m:t>
                          </m:r>
                        </m:e>
                      </m:acc>
                      <m:r>
                        <a:rPr lang="en-GB" sz="3100" i="0">
                          <a:latin typeface="Cambria Math"/>
                        </a:rPr>
                        <m:t>=</m:t>
                      </m:r>
                      <m:r>
                        <a:rPr lang="en-GB" sz="3100">
                          <a:latin typeface="Cambria Math"/>
                        </a:rPr>
                        <m:t>𝑎</m:t>
                      </m:r>
                      <m:r>
                        <m:rPr>
                          <m:sty m:val="p"/>
                        </m:rPr>
                        <a:rPr lang="en-GB" sz="3100" i="0">
                          <a:latin typeface="Cambria Math"/>
                        </a:rPr>
                        <m:t>exp</m:t>
                      </m:r>
                      <m:d>
                        <m:dPr>
                          <m:ctrlPr>
                            <a:rPr lang="en-GB" sz="3100" i="1">
                              <a:latin typeface="Cambria Math" panose="02040503050406030204" pitchFamily="18" charset="0"/>
                            </a:rPr>
                          </m:ctrlPr>
                        </m:dPr>
                        <m:e>
                          <m:r>
                            <a:rPr lang="en-GB" sz="3100" i="0">
                              <a:latin typeface="Cambria Math"/>
                            </a:rPr>
                            <m:t>−</m:t>
                          </m:r>
                          <m:r>
                            <a:rPr lang="en-GB" sz="3100">
                              <a:latin typeface="Cambria Math"/>
                            </a:rPr>
                            <m:t>𝑏</m:t>
                          </m:r>
                          <m:sSup>
                            <m:sSupPr>
                              <m:ctrlPr>
                                <a:rPr lang="en-GB" sz="3100" i="1">
                                  <a:latin typeface="Cambria Math" panose="02040503050406030204" pitchFamily="18" charset="0"/>
                                </a:rPr>
                              </m:ctrlPr>
                            </m:sSupPr>
                            <m:e>
                              <m:r>
                                <a:rPr lang="en-GB" sz="3100">
                                  <a:latin typeface="Cambria Math"/>
                                </a:rPr>
                                <m:t>𝑥</m:t>
                              </m:r>
                            </m:e>
                            <m:sup>
                              <m:r>
                                <a:rPr lang="en-GB" sz="3100">
                                  <a:latin typeface="Cambria Math"/>
                                </a:rPr>
                                <m:t>2</m:t>
                              </m:r>
                            </m:sup>
                          </m:sSup>
                        </m:e>
                      </m:d>
                    </m:oMath>
                  </m:oMathPara>
                </a14:m>
                <a:endParaRPr/>
              </a:p>
            </p:txBody>
          </p:sp>
        </mc:Choice>
        <mc:Fallback>
          <p:sp>
            <p:nvSpPr>
              <p:cNvPr id="16" name="Equation 024" descr="\hat z=a\exp(-bx^2)"/>
              <p:cNvSpPr txBox="1">
                <a:spLocks noRot="1" noChangeAspect="1" noMove="1" noResize="1" noEditPoints="1" noAdjustHandles="1" noChangeArrowheads="1" noChangeShapeType="1" noTextEdit="1"/>
              </p:cNvSpPr>
              <p:nvPr/>
            </p:nvSpPr>
            <p:spPr>
              <a:xfrm>
                <a:off x="7525195" y="3288087"/>
                <a:ext cx="2762120" cy="446416"/>
              </a:xfrm>
              <a:prstGeom prst="rect">
                <a:avLst/>
              </a:prstGeom>
              <a:blipFill>
                <a:blip r:embed="rId4"/>
                <a:stretch>
                  <a:fillRect l="-5023" t="-24324" b="-29730"/>
                </a:stretch>
              </a:blipFill>
              <a:effectLst/>
            </p:spPr>
            <p:txBody>
              <a:bodyPr/>
              <a:lstStyle/>
              <a:p>
                <a:r>
                  <a:rPr lang="zh-CN" altLang="en-US">
                    <a:noFill/>
                  </a:rPr>
                  <a:t> </a:t>
                </a:r>
              </a:p>
            </p:txBody>
          </p:sp>
        </mc:Fallback>
      </mc:AlternateContent>
      <p:sp>
        <p:nvSpPr>
          <p:cNvPr id="17" name="TextBox 16"/>
          <p:cNvSpPr txBox="1"/>
          <p:nvPr/>
        </p:nvSpPr>
        <p:spPr>
          <a:xfrm>
            <a:off x="6537960" y="4370832"/>
            <a:ext cx="4617720" cy="60350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Fit a and b for the current candidate.</a:t>
            </a:r>
          </a:p>
        </p:txBody>
      </p:sp>
      <p:sp>
        <p:nvSpPr>
          <p:cNvPr id="18" name="Rounded Rectangle 17"/>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The two searches interact: a good structure can look poor before its constants are fitted.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02 • HOW FORMULA SEARCH WORKS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Keep the useful accuracy–complexity trade-offs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17</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Model-selection principle: [1]. Plot is schematic, not a measured search trajectory.</a:t>
            </a:r>
          </a:p>
        </p:txBody>
      </p:sp>
      <p:pic>
        <p:nvPicPr>
          <p:cNvPr id="9" name="pareto_schematic.png" descr="pareto_schematic.png"/>
          <p:cNvPicPr>
            <a:picLocks noChangeAspect="1"/>
          </p:cNvPicPr>
          <p:nvPr/>
        </p:nvPicPr>
        <p:blipFill>
          <a:blip r:embed="rId3"/>
          <a:stretch>
            <a:fillRect/>
          </a:stretch>
        </p:blipFill>
        <p:spPr>
          <a:xfrm>
            <a:off x="795684" y="1709928"/>
            <a:ext cx="6171887" cy="3968496"/>
          </a:xfrm>
          <a:prstGeom prst="rect">
            <a:avLst/>
          </a:prstGeom>
          <a:effectLst/>
        </p:spPr>
      </p:pic>
      <p:sp>
        <p:nvSpPr>
          <p:cNvPr id="10" name="TextBox 9"/>
          <p:cNvSpPr txBox="1"/>
          <p:nvPr/>
        </p:nvSpPr>
        <p:spPr>
          <a:xfrm>
            <a:off x="7443216" y="1947672"/>
            <a:ext cx="4023360" cy="38404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24777A"/>
                </a:solidFill>
                <a:latin typeface="Arial"/>
              </a:rPr>
              <a:t>NON-DOMINATED</a:t>
            </a:r>
          </a:p>
        </p:txBody>
      </p:sp>
      <p:sp>
        <p:nvSpPr>
          <p:cNvPr id="11" name="TextBox 10"/>
          <p:cNvSpPr txBox="1"/>
          <p:nvPr/>
        </p:nvSpPr>
        <p:spPr>
          <a:xfrm>
            <a:off x="7443216" y="2551176"/>
            <a:ext cx="3931920" cy="106070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50" b="1">
                <a:solidFill>
                  <a:srgbClr val="173042"/>
                </a:solidFill>
                <a:latin typeface="Arial"/>
              </a:rPr>
              <a:t>No other candidate is both simpler and more accurate.</a:t>
            </a:r>
          </a:p>
        </p:txBody>
      </p:sp>
      <p:sp>
        <p:nvSpPr>
          <p:cNvPr id="12" name="TextBox 11"/>
          <p:cNvSpPr txBox="1"/>
          <p:nvPr/>
        </p:nvSpPr>
        <p:spPr>
          <a:xfrm>
            <a:off x="7443216" y="3922776"/>
            <a:ext cx="3913632" cy="1399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Choose a useful compromise with validation data. Do not select the winner using the test set.</a:t>
            </a:r>
          </a:p>
        </p:txBody>
      </p:sp>
      <p:sp>
        <p:nvSpPr>
          <p:cNvPr id="13" name="Rounded Rectangle 12"/>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Prefer sufficient accuracy with a stable, interpretable expression—not maximum length.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02 • HOW FORMULA SEARCH WORKS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Separate fitting, selection and final evaluation</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18</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Data leakage and preprocessing: [6].</a:t>
            </a:r>
          </a:p>
        </p:txBody>
      </p:sp>
      <p:sp>
        <p:nvSpPr>
          <p:cNvPr id="9" name="Rounded Rectangle 8"/>
          <p:cNvSpPr/>
          <p:nvPr/>
        </p:nvSpPr>
        <p:spPr>
          <a:xfrm>
            <a:off x="658368" y="1865376"/>
            <a:ext cx="3483864" cy="3401568"/>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77824" y="2048256"/>
            <a:ext cx="3044952"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TRAIN</a:t>
            </a:r>
          </a:p>
        </p:txBody>
      </p:sp>
      <p:sp>
        <p:nvSpPr>
          <p:cNvPr id="11" name="TextBox 10"/>
          <p:cNvSpPr txBox="1"/>
          <p:nvPr/>
        </p:nvSpPr>
        <p:spPr>
          <a:xfrm>
            <a:off x="877824" y="2715768"/>
            <a:ext cx="3044952" cy="240487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300" b="0">
                <a:solidFill>
                  <a:srgbClr val="173042"/>
                </a:solidFill>
                <a:latin typeface="Arial"/>
              </a:rPr>
              <a:t>Fit coefficients.</a:t>
            </a:r>
          </a:p>
          <a:p>
            <a:pPr algn="l">
              <a:lnSpc>
                <a:spcPct val="113000"/>
              </a:lnSpc>
              <a:spcBef>
                <a:spcPts val="0"/>
              </a:spcBef>
              <a:spcAft>
                <a:spcPts val="400"/>
              </a:spcAft>
            </a:pPr>
            <a:r>
              <a:rPr lang="en-GB" sz="2300" b="0">
                <a:solidFill>
                  <a:srgbClr val="173042"/>
                </a:solidFill>
                <a:latin typeface="Arial"/>
              </a:rPr>
              <a:t>Choose preprocessing scales.</a:t>
            </a:r>
          </a:p>
          <a:p>
            <a:pPr algn="l">
              <a:lnSpc>
                <a:spcPct val="113000"/>
              </a:lnSpc>
              <a:spcBef>
                <a:spcPts val="0"/>
              </a:spcBef>
              <a:spcAft>
                <a:spcPts val="0"/>
              </a:spcAft>
            </a:pPr>
            <a:r>
              <a:rPr lang="en-GB" sz="2300" b="0">
                <a:solidFill>
                  <a:srgbClr val="173042"/>
                </a:solidFill>
                <a:latin typeface="Arial"/>
              </a:rPr>
              <a:t>Search candidate structures.</a:t>
            </a:r>
          </a:p>
        </p:txBody>
      </p:sp>
      <p:sp>
        <p:nvSpPr>
          <p:cNvPr id="12" name="Rounded Rectangle 11"/>
          <p:cNvSpPr/>
          <p:nvPr/>
        </p:nvSpPr>
        <p:spPr>
          <a:xfrm>
            <a:off x="4361688" y="1865376"/>
            <a:ext cx="3483864" cy="3401568"/>
          </a:xfrm>
          <a:prstGeom prst="roundRect">
            <a:avLst>
              <a:gd name="adj" fmla="val 8000"/>
            </a:avLst>
          </a:prstGeom>
          <a:solidFill>
            <a:srgbClr val="EAF0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4581144" y="2048256"/>
            <a:ext cx="3044952"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VALIDATE</a:t>
            </a:r>
          </a:p>
        </p:txBody>
      </p:sp>
      <p:sp>
        <p:nvSpPr>
          <p:cNvPr id="14" name="TextBox 13"/>
          <p:cNvSpPr txBox="1"/>
          <p:nvPr/>
        </p:nvSpPr>
        <p:spPr>
          <a:xfrm>
            <a:off x="4581144" y="2715768"/>
            <a:ext cx="3044952" cy="240487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300" b="0">
                <a:solidFill>
                  <a:srgbClr val="173042"/>
                </a:solidFill>
                <a:latin typeface="Arial"/>
              </a:rPr>
              <a:t>Tune settings.</a:t>
            </a:r>
          </a:p>
          <a:p>
            <a:pPr algn="l">
              <a:lnSpc>
                <a:spcPct val="113000"/>
              </a:lnSpc>
              <a:spcBef>
                <a:spcPts val="0"/>
              </a:spcBef>
              <a:spcAft>
                <a:spcPts val="400"/>
              </a:spcAft>
            </a:pPr>
            <a:r>
              <a:rPr lang="en-GB" sz="2300" b="0">
                <a:solidFill>
                  <a:srgbClr val="173042"/>
                </a:solidFill>
                <a:latin typeface="Arial"/>
              </a:rPr>
              <a:t>Compare candidates.</a:t>
            </a:r>
          </a:p>
          <a:p>
            <a:pPr algn="l">
              <a:lnSpc>
                <a:spcPct val="113000"/>
              </a:lnSpc>
              <a:spcBef>
                <a:spcPts val="0"/>
              </a:spcBef>
              <a:spcAft>
                <a:spcPts val="0"/>
              </a:spcAft>
            </a:pPr>
            <a:r>
              <a:rPr lang="en-GB" sz="2300" b="0">
                <a:solidFill>
                  <a:srgbClr val="173042"/>
                </a:solidFill>
                <a:latin typeface="Arial"/>
              </a:rPr>
              <a:t>Select the model.</a:t>
            </a:r>
          </a:p>
        </p:txBody>
      </p:sp>
      <p:sp>
        <p:nvSpPr>
          <p:cNvPr id="15" name="Rounded Rectangle 14"/>
          <p:cNvSpPr/>
          <p:nvPr/>
        </p:nvSpPr>
        <p:spPr>
          <a:xfrm>
            <a:off x="8065008" y="1865376"/>
            <a:ext cx="3483864" cy="3401568"/>
          </a:xfrm>
          <a:prstGeom prst="roundRect">
            <a:avLst>
              <a:gd name="adj" fmla="val 8000"/>
            </a:avLst>
          </a:prstGeom>
          <a:solidFill>
            <a:srgbClr val="F6F1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284464" y="2048256"/>
            <a:ext cx="3044952"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TEST</a:t>
            </a:r>
          </a:p>
        </p:txBody>
      </p:sp>
      <p:sp>
        <p:nvSpPr>
          <p:cNvPr id="17" name="TextBox 16"/>
          <p:cNvSpPr txBox="1"/>
          <p:nvPr/>
        </p:nvSpPr>
        <p:spPr>
          <a:xfrm>
            <a:off x="8284464" y="2715768"/>
            <a:ext cx="3044952" cy="240487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300" b="0">
                <a:solidFill>
                  <a:srgbClr val="173042"/>
                </a:solidFill>
                <a:latin typeface="Arial"/>
              </a:rPr>
              <a:t>Evaluate once after choices are fixed.</a:t>
            </a:r>
          </a:p>
          <a:p>
            <a:pPr algn="l">
              <a:lnSpc>
                <a:spcPct val="113000"/>
              </a:lnSpc>
              <a:spcBef>
                <a:spcPts val="0"/>
              </a:spcBef>
              <a:spcAft>
                <a:spcPts val="0"/>
              </a:spcAft>
            </a:pPr>
            <a:r>
              <a:rPr lang="en-GB" sz="2300" b="0">
                <a:solidFill>
                  <a:srgbClr val="173042"/>
                </a:solidFill>
                <a:latin typeface="Arial"/>
              </a:rPr>
              <a:t>Do not use it to tune or choose seeds.</a:t>
            </a:r>
          </a:p>
        </p:txBody>
      </p:sp>
      <p:sp>
        <p:nvSpPr>
          <p:cNvPr id="18" name="Rounded Rectangle 17"/>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Group correlated observations by experiment, scenario or trajectory when appropriate.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02 • KNOWLEDGE CHECK</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Before the examples: three questions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19</a:t>
            </a:r>
          </a:p>
        </p:txBody>
      </p:sp>
      <p:sp>
        <p:nvSpPr>
          <p:cNvPr id="8" name="Oval 7"/>
          <p:cNvSpPr/>
          <p:nvPr/>
        </p:nvSpPr>
        <p:spPr>
          <a:xfrm>
            <a:off x="704088" y="1865376"/>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704088" y="1869948"/>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1</a:t>
            </a:r>
          </a:p>
        </p:txBody>
      </p:sp>
      <p:sp>
        <p:nvSpPr>
          <p:cNvPr id="10" name="TextBox 9"/>
          <p:cNvSpPr txBox="1"/>
          <p:nvPr/>
        </p:nvSpPr>
        <p:spPr>
          <a:xfrm>
            <a:off x="1307592" y="1865376"/>
            <a:ext cx="9893808" cy="41148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400" b="1">
                <a:solidFill>
                  <a:srgbClr val="173042"/>
                </a:solidFill>
                <a:latin typeface="Arial"/>
              </a:rPr>
              <a:t>Is this symbolic regression?</a:t>
            </a:r>
          </a:p>
        </p:txBody>
      </p:sp>
      <p:sp>
        <p:nvSpPr>
          <p:cNvPr id="11" name="TextBox 10"/>
          <p:cNvSpPr txBox="1"/>
          <p:nvPr/>
        </p:nvSpPr>
        <p:spPr>
          <a:xfrm>
            <a:off x="1307592" y="2395728"/>
            <a:ext cx="9857232" cy="51206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617481"/>
                </a:solidFill>
                <a:latin typeface="Arial"/>
              </a:rPr>
              <a:t>Fit a and b in a preselected exponential equation.</a:t>
            </a:r>
          </a:p>
        </p:txBody>
      </p:sp>
      <p:sp>
        <p:nvSpPr>
          <p:cNvPr id="12" name="Oval 11"/>
          <p:cNvSpPr/>
          <p:nvPr/>
        </p:nvSpPr>
        <p:spPr>
          <a:xfrm>
            <a:off x="704088" y="3090672"/>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704088" y="3095244"/>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2</a:t>
            </a:r>
          </a:p>
        </p:txBody>
      </p:sp>
      <p:sp>
        <p:nvSpPr>
          <p:cNvPr id="14" name="TextBox 13"/>
          <p:cNvSpPr txBox="1"/>
          <p:nvPr/>
        </p:nvSpPr>
        <p:spPr>
          <a:xfrm>
            <a:off x="1307592" y="3090672"/>
            <a:ext cx="9893808" cy="41148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400" b="1">
                <a:solidFill>
                  <a:srgbClr val="173042"/>
                </a:solidFill>
                <a:latin typeface="Arial"/>
              </a:rPr>
              <a:t>Does a richer grammar guarantee success?</a:t>
            </a:r>
          </a:p>
        </p:txBody>
      </p:sp>
      <p:sp>
        <p:nvSpPr>
          <p:cNvPr id="15" name="TextBox 14"/>
          <p:cNvSpPr txBox="1"/>
          <p:nvPr/>
        </p:nvSpPr>
        <p:spPr>
          <a:xfrm>
            <a:off x="1307592" y="3621024"/>
            <a:ext cx="9857232" cy="51206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617481"/>
                </a:solidFill>
                <a:latin typeface="Arial"/>
              </a:rPr>
              <a:t>The search is allowed to use the exact target operators.</a:t>
            </a:r>
          </a:p>
        </p:txBody>
      </p:sp>
      <p:sp>
        <p:nvSpPr>
          <p:cNvPr id="16" name="Oval 15"/>
          <p:cNvSpPr/>
          <p:nvPr/>
        </p:nvSpPr>
        <p:spPr>
          <a:xfrm>
            <a:off x="704088" y="4315968"/>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704088" y="4320540"/>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3</a:t>
            </a:r>
          </a:p>
        </p:txBody>
      </p:sp>
      <p:sp>
        <p:nvSpPr>
          <p:cNvPr id="18" name="TextBox 17"/>
          <p:cNvSpPr txBox="1"/>
          <p:nvPr/>
        </p:nvSpPr>
        <p:spPr>
          <a:xfrm>
            <a:off x="1307592" y="4315968"/>
            <a:ext cx="9893808" cy="41148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400" b="1">
                <a:solidFill>
                  <a:srgbClr val="173042"/>
                </a:solidFill>
                <a:latin typeface="Arial"/>
              </a:rPr>
              <a:t>Which data choose the final model?</a:t>
            </a:r>
          </a:p>
        </p:txBody>
      </p:sp>
      <p:sp>
        <p:nvSpPr>
          <p:cNvPr id="19" name="TextBox 18"/>
          <p:cNvSpPr txBox="1"/>
          <p:nvPr/>
        </p:nvSpPr>
        <p:spPr>
          <a:xfrm>
            <a:off x="1307592" y="4846320"/>
            <a:ext cx="9857232" cy="51206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617481"/>
                </a:solidFill>
                <a:latin typeface="Arial"/>
              </a:rPr>
              <a:t>Training, validation or test data?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03 • CASE 1 — PEAKS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A two-input function with several peaks and troughs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20</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Reference function: MathWorks [4]. Surface generated from the exact function.</a:t>
            </a:r>
          </a:p>
        </p:txBody>
      </p:sp>
      <p:pic>
        <p:nvPicPr>
          <p:cNvPr id="9" name="peaks_surface.png" descr="peaks_surface.png"/>
          <p:cNvPicPr>
            <a:picLocks noChangeAspect="1"/>
          </p:cNvPicPr>
          <p:nvPr/>
        </p:nvPicPr>
        <p:blipFill>
          <a:blip r:embed="rId3"/>
          <a:stretch>
            <a:fillRect/>
          </a:stretch>
        </p:blipFill>
        <p:spPr>
          <a:xfrm>
            <a:off x="5874690" y="1700784"/>
            <a:ext cx="4408066" cy="4343400"/>
          </a:xfrm>
          <a:prstGeom prst="rect">
            <a:avLst/>
          </a:prstGeom>
          <a:effectLst/>
        </p:spPr>
      </p:pic>
      <p:sp>
        <p:nvSpPr>
          <p:cNvPr id="10" name="TextBox 9"/>
          <p:cNvSpPr txBox="1"/>
          <p:nvPr/>
        </p:nvSpPr>
        <p:spPr>
          <a:xfrm>
            <a:off x="740664" y="2048256"/>
            <a:ext cx="3840480" cy="1188720"/>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700" b="1">
                <a:solidFill>
                  <a:srgbClr val="173042"/>
                </a:solidFill>
                <a:latin typeface="Arial"/>
              </a:rPr>
              <a:t>Treat a known function</a:t>
            </a:r>
          </a:p>
          <a:p>
            <a:pPr algn="l">
              <a:lnSpc>
                <a:spcPct val="113000"/>
              </a:lnSpc>
              <a:spcBef>
                <a:spcPts val="0"/>
              </a:spcBef>
              <a:spcAft>
                <a:spcPts val="0"/>
              </a:spcAft>
            </a:pPr>
            <a:r>
              <a:rPr lang="en-GB" sz="2700" b="1">
                <a:solidFill>
                  <a:srgbClr val="173042"/>
                </a:solidFill>
                <a:latin typeface="Arial"/>
              </a:rPr>
              <a:t>as a black-box simulator.</a:t>
            </a:r>
          </a:p>
        </p:txBody>
      </p:sp>
      <p:sp>
        <p:nvSpPr>
          <p:cNvPr id="11" name="Rounded Rectangle 10"/>
          <p:cNvSpPr/>
          <p:nvPr/>
        </p:nvSpPr>
        <p:spPr>
          <a:xfrm>
            <a:off x="704088" y="3575304"/>
            <a:ext cx="3758184" cy="960120"/>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05256" y="3685032"/>
            <a:ext cx="3355848"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OPERATING DOMAIN</a:t>
            </a:r>
          </a:p>
        </p:txBody>
      </p:sp>
      <mc:AlternateContent xmlns:mc="http://schemas.openxmlformats.org/markup-compatibility/2006">
        <mc:Choice xmlns:a14="http://schemas.microsoft.com/office/drawing/2010/main" Requires="a14">
          <p:sp>
            <p:nvSpPr>
              <p:cNvPr id="13" name="Equation 025" descr="x,y\in[-3,3]"/>
              <p:cNvSpPr txBox="1"/>
              <p:nvPr/>
            </p:nvSpPr>
            <p:spPr>
              <a:xfrm>
                <a:off x="1533925" y="4029456"/>
                <a:ext cx="2098509" cy="381000"/>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r>
                        <a:rPr lang="en-GB" sz="3000">
                          <a:latin typeface="Cambria Math"/>
                        </a:rPr>
                        <m:t>𝑥</m:t>
                      </m:r>
                      <m:r>
                        <a:rPr lang="en-GB" sz="3000" i="0">
                          <a:latin typeface="Cambria Math"/>
                        </a:rPr>
                        <m:t>,</m:t>
                      </m:r>
                      <m:r>
                        <a:rPr lang="en-GB" sz="3000">
                          <a:latin typeface="Cambria Math"/>
                        </a:rPr>
                        <m:t>𝑦</m:t>
                      </m:r>
                      <m:r>
                        <a:rPr lang="en-GB" sz="3000" i="0">
                          <a:latin typeface="Cambria Math"/>
                        </a:rPr>
                        <m:t>∈</m:t>
                      </m:r>
                      <m:d>
                        <m:dPr>
                          <m:begChr m:val="["/>
                          <m:endChr m:val="]"/>
                          <m:ctrlPr>
                            <a:rPr lang="en-GB" sz="3000" i="1">
                              <a:latin typeface="Cambria Math" panose="02040503050406030204" pitchFamily="18" charset="0"/>
                            </a:rPr>
                          </m:ctrlPr>
                        </m:dPr>
                        <m:e>
                          <m:r>
                            <a:rPr lang="en-GB" sz="3000" i="0">
                              <a:latin typeface="Cambria Math"/>
                            </a:rPr>
                            <m:t>−</m:t>
                          </m:r>
                          <m:r>
                            <a:rPr lang="en-GB" sz="3000">
                              <a:latin typeface="Cambria Math"/>
                            </a:rPr>
                            <m:t>3</m:t>
                          </m:r>
                          <m:r>
                            <a:rPr lang="en-GB" sz="3000" i="0">
                              <a:latin typeface="Cambria Math"/>
                            </a:rPr>
                            <m:t>,</m:t>
                          </m:r>
                          <m:r>
                            <a:rPr lang="en-GB" sz="3000">
                              <a:latin typeface="Cambria Math"/>
                            </a:rPr>
                            <m:t>3</m:t>
                          </m:r>
                        </m:e>
                      </m:d>
                    </m:oMath>
                  </m:oMathPara>
                </a14:m>
                <a:endParaRPr/>
              </a:p>
            </p:txBody>
          </p:sp>
        </mc:Choice>
        <mc:Fallback>
          <p:sp>
            <p:nvSpPr>
              <p:cNvPr id="13" name="Equation 025" descr="x,y\in[-3,3]"/>
              <p:cNvSpPr txBox="1">
                <a:spLocks noRot="1" noChangeAspect="1" noMove="1" noResize="1" noEditPoints="1" noAdjustHandles="1" noChangeArrowheads="1" noChangeShapeType="1" noTextEdit="1"/>
              </p:cNvSpPr>
              <p:nvPr/>
            </p:nvSpPr>
            <p:spPr>
              <a:xfrm>
                <a:off x="1533925" y="4029456"/>
                <a:ext cx="2098509" cy="381000"/>
              </a:xfrm>
              <a:prstGeom prst="rect">
                <a:avLst/>
              </a:prstGeom>
              <a:blipFill>
                <a:blip r:embed="rId4"/>
                <a:stretch>
                  <a:fillRect l="-5988" b="-35484"/>
                </a:stretch>
              </a:blipFill>
              <a:effectLst/>
            </p:spPr>
            <p:txBody>
              <a:bodyPr/>
              <a:lstStyle/>
              <a:p>
                <a:r>
                  <a:rPr lang="zh-CN" altLang="en-US">
                    <a:noFill/>
                  </a:rPr>
                  <a:t> </a:t>
                </a:r>
              </a:p>
            </p:txBody>
          </p:sp>
        </mc:Fallback>
      </mc:AlternateContent>
      <p:sp>
        <p:nvSpPr>
          <p:cNvPr id="14" name="TextBox 13"/>
          <p:cNvSpPr txBox="1"/>
          <p:nvPr/>
        </p:nvSpPr>
        <p:spPr>
          <a:xfrm>
            <a:off x="768096" y="4828032"/>
            <a:ext cx="3950208" cy="1060704"/>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000" b="0">
                <a:solidFill>
                  <a:srgbClr val="173042"/>
                </a:solidFill>
                <a:latin typeface="Arial"/>
              </a:rPr>
              <a:t>Inputs: x and y</a:t>
            </a:r>
          </a:p>
          <a:p>
            <a:pPr algn="l">
              <a:lnSpc>
                <a:spcPct val="113000"/>
              </a:lnSpc>
              <a:spcBef>
                <a:spcPts val="0"/>
              </a:spcBef>
              <a:spcAft>
                <a:spcPts val="400"/>
              </a:spcAft>
            </a:pPr>
            <a:r>
              <a:rPr lang="en-GB" sz="2000" b="0">
                <a:solidFill>
                  <a:srgbClr val="173042"/>
                </a:solidFill>
                <a:latin typeface="Arial"/>
              </a:rPr>
              <a:t>Output: a scalar height z</a:t>
            </a:r>
          </a:p>
          <a:p>
            <a:pPr algn="l">
              <a:lnSpc>
                <a:spcPct val="113000"/>
              </a:lnSpc>
              <a:spcBef>
                <a:spcPts val="0"/>
              </a:spcBef>
              <a:spcAft>
                <a:spcPts val="0"/>
              </a:spcAft>
            </a:pPr>
            <a:r>
              <a:rPr lang="en-GB" sz="2000" b="0">
                <a:solidFill>
                  <a:srgbClr val="173042"/>
                </a:solidFill>
                <a:latin typeface="Arial"/>
              </a:rPr>
              <a:t>Data: no added observation noise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03 • CASE 1 — PEAKS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Read the target as three localised contributions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21</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Exact Peaks definition: [4]. Line breaks are for teaching clarity.</a:t>
            </a:r>
          </a:p>
        </p:txBody>
      </p:sp>
      <p:sp>
        <p:nvSpPr>
          <p:cNvPr id="9" name="Rounded Rectangle 8"/>
          <p:cNvSpPr/>
          <p:nvPr/>
        </p:nvSpPr>
        <p:spPr>
          <a:xfrm>
            <a:off x="685800" y="1755648"/>
            <a:ext cx="10835640" cy="1078992"/>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0" name="Equation 026" descr="z=f(x,y)=3(1-x)^2\exp[-x^2-(y+1)^2]"/>
              <p:cNvSpPr txBox="1"/>
              <p:nvPr/>
            </p:nvSpPr>
            <p:spPr>
              <a:xfrm>
                <a:off x="2548432" y="2079136"/>
                <a:ext cx="7110374" cy="432015"/>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r>
                        <a:rPr lang="en-GB" sz="3000">
                          <a:latin typeface="Cambria Math"/>
                        </a:rPr>
                        <m:t>𝑧</m:t>
                      </m:r>
                      <m:r>
                        <a:rPr lang="en-GB" sz="3000" i="0">
                          <a:latin typeface="Cambria Math"/>
                        </a:rPr>
                        <m:t>=</m:t>
                      </m:r>
                      <m:r>
                        <a:rPr lang="en-GB" sz="3000">
                          <a:latin typeface="Cambria Math"/>
                        </a:rPr>
                        <m:t>𝑓</m:t>
                      </m:r>
                      <m:d>
                        <m:dPr>
                          <m:ctrlPr>
                            <a:rPr lang="en-GB" sz="3000" i="1">
                              <a:latin typeface="Cambria Math" panose="02040503050406030204" pitchFamily="18" charset="0"/>
                            </a:rPr>
                          </m:ctrlPr>
                        </m:dPr>
                        <m:e>
                          <m:r>
                            <a:rPr lang="en-GB" sz="3000">
                              <a:latin typeface="Cambria Math"/>
                            </a:rPr>
                            <m:t>𝑥</m:t>
                          </m:r>
                          <m:r>
                            <a:rPr lang="en-GB" sz="3000" i="0">
                              <a:latin typeface="Cambria Math"/>
                            </a:rPr>
                            <m:t>,</m:t>
                          </m:r>
                          <m:r>
                            <a:rPr lang="en-GB" sz="3000">
                              <a:latin typeface="Cambria Math"/>
                            </a:rPr>
                            <m:t>𝑦</m:t>
                          </m:r>
                        </m:e>
                      </m:d>
                      <m:r>
                        <a:rPr lang="en-GB" sz="3000" i="0">
                          <a:latin typeface="Cambria Math"/>
                        </a:rPr>
                        <m:t>=</m:t>
                      </m:r>
                      <m:r>
                        <a:rPr lang="en-GB" sz="3000">
                          <a:latin typeface="Cambria Math"/>
                        </a:rPr>
                        <m:t>3</m:t>
                      </m:r>
                      <m:sSup>
                        <m:sSupPr>
                          <m:ctrlPr>
                            <a:rPr lang="en-GB" sz="3000" i="1">
                              <a:latin typeface="Cambria Math" panose="02040503050406030204" pitchFamily="18" charset="0"/>
                            </a:rPr>
                          </m:ctrlPr>
                        </m:sSupPr>
                        <m:e>
                          <m:d>
                            <m:dPr>
                              <m:ctrlPr>
                                <a:rPr lang="en-GB" sz="3000" i="1">
                                  <a:latin typeface="Cambria Math" panose="02040503050406030204" pitchFamily="18" charset="0"/>
                                </a:rPr>
                              </m:ctrlPr>
                            </m:dPr>
                            <m:e>
                              <m:r>
                                <a:rPr lang="en-GB" sz="3000">
                                  <a:latin typeface="Cambria Math"/>
                                </a:rPr>
                                <m:t>1</m:t>
                              </m:r>
                              <m:r>
                                <a:rPr lang="en-GB" sz="3000" i="0">
                                  <a:latin typeface="Cambria Math"/>
                                </a:rPr>
                                <m:t>−</m:t>
                              </m:r>
                              <m:r>
                                <a:rPr lang="en-GB" sz="3000">
                                  <a:latin typeface="Cambria Math"/>
                                </a:rPr>
                                <m:t>𝑥</m:t>
                              </m:r>
                            </m:e>
                          </m:d>
                        </m:e>
                        <m:sup>
                          <m:r>
                            <a:rPr lang="en-GB" sz="3000">
                              <a:latin typeface="Cambria Math"/>
                            </a:rPr>
                            <m:t>2</m:t>
                          </m:r>
                        </m:sup>
                      </m:sSup>
                      <m:r>
                        <m:rPr>
                          <m:sty m:val="p"/>
                        </m:rPr>
                        <a:rPr lang="en-GB" sz="3000" i="0">
                          <a:latin typeface="Cambria Math"/>
                        </a:rPr>
                        <m:t>exp</m:t>
                      </m:r>
                      <m:d>
                        <m:dPr>
                          <m:begChr m:val="["/>
                          <m:endChr m:val="]"/>
                          <m:ctrlPr>
                            <a:rPr lang="en-GB" sz="3000" i="1">
                              <a:latin typeface="Cambria Math" panose="02040503050406030204" pitchFamily="18" charset="0"/>
                            </a:rPr>
                          </m:ctrlPr>
                        </m:dPr>
                        <m:e>
                          <m:r>
                            <a:rPr lang="en-GB" sz="3000" i="0">
                              <a:latin typeface="Cambria Math"/>
                            </a:rPr>
                            <m:t>−</m:t>
                          </m:r>
                          <m:sSup>
                            <m:sSupPr>
                              <m:ctrlPr>
                                <a:rPr lang="en-GB" sz="3000" i="1">
                                  <a:latin typeface="Cambria Math" panose="02040503050406030204" pitchFamily="18" charset="0"/>
                                </a:rPr>
                              </m:ctrlPr>
                            </m:sSupPr>
                            <m:e>
                              <m:r>
                                <a:rPr lang="en-GB" sz="3000">
                                  <a:latin typeface="Cambria Math"/>
                                </a:rPr>
                                <m:t>𝑥</m:t>
                              </m:r>
                            </m:e>
                            <m:sup>
                              <m:r>
                                <a:rPr lang="en-GB" sz="3000">
                                  <a:latin typeface="Cambria Math"/>
                                </a:rPr>
                                <m:t>2</m:t>
                              </m:r>
                            </m:sup>
                          </m:sSup>
                          <m:r>
                            <a:rPr lang="en-GB" sz="3000" i="0">
                              <a:latin typeface="Cambria Math"/>
                            </a:rPr>
                            <m:t>−</m:t>
                          </m:r>
                          <m:sSup>
                            <m:sSupPr>
                              <m:ctrlPr>
                                <a:rPr lang="en-GB" sz="3000" i="1">
                                  <a:latin typeface="Cambria Math" panose="02040503050406030204" pitchFamily="18" charset="0"/>
                                </a:rPr>
                              </m:ctrlPr>
                            </m:sSupPr>
                            <m:e>
                              <m:d>
                                <m:dPr>
                                  <m:ctrlPr>
                                    <a:rPr lang="en-GB" sz="3000" i="1">
                                      <a:latin typeface="Cambria Math" panose="02040503050406030204" pitchFamily="18" charset="0"/>
                                    </a:rPr>
                                  </m:ctrlPr>
                                </m:dPr>
                                <m:e>
                                  <m:r>
                                    <a:rPr lang="en-GB" sz="3000">
                                      <a:latin typeface="Cambria Math"/>
                                    </a:rPr>
                                    <m:t>𝑦</m:t>
                                  </m:r>
                                  <m:r>
                                    <a:rPr lang="en-GB" sz="3000" i="0">
                                      <a:latin typeface="Cambria Math"/>
                                    </a:rPr>
                                    <m:t>+</m:t>
                                  </m:r>
                                  <m:r>
                                    <a:rPr lang="en-GB" sz="3000">
                                      <a:latin typeface="Cambria Math"/>
                                    </a:rPr>
                                    <m:t>1</m:t>
                                  </m:r>
                                </m:e>
                              </m:d>
                            </m:e>
                            <m:sup>
                              <m:r>
                                <a:rPr lang="en-GB" sz="3000">
                                  <a:latin typeface="Cambria Math"/>
                                </a:rPr>
                                <m:t>2</m:t>
                              </m:r>
                            </m:sup>
                          </m:sSup>
                        </m:e>
                      </m:d>
                    </m:oMath>
                  </m:oMathPara>
                </a14:m>
                <a:endParaRPr/>
              </a:p>
            </p:txBody>
          </p:sp>
        </mc:Choice>
        <mc:Fallback>
          <p:sp>
            <p:nvSpPr>
              <p:cNvPr id="10" name="Equation 026" descr="z=f(x,y)=3(1-x)^2\exp[-x^2-(y+1)^2]"/>
              <p:cNvSpPr txBox="1">
                <a:spLocks noRot="1" noChangeAspect="1" noMove="1" noResize="1" noEditPoints="1" noAdjustHandles="1" noChangeArrowheads="1" noChangeShapeType="1" noTextEdit="1"/>
              </p:cNvSpPr>
              <p:nvPr/>
            </p:nvSpPr>
            <p:spPr>
              <a:xfrm>
                <a:off x="2548432" y="2079136"/>
                <a:ext cx="7110374" cy="432015"/>
              </a:xfrm>
              <a:prstGeom prst="rect">
                <a:avLst/>
              </a:prstGeom>
              <a:blipFill>
                <a:blip r:embed="rId3"/>
                <a:stretch>
                  <a:fillRect l="-2674" t="-5714" b="-42857"/>
                </a:stretch>
              </a:blipFill>
              <a:effectLst/>
            </p:spPr>
            <p:txBody>
              <a:bodyPr/>
              <a:lstStyle/>
              <a:p>
                <a:r>
                  <a:rPr lang="zh-CN" altLang="en-US">
                    <a:noFill/>
                  </a:rPr>
                  <a:t> </a:t>
                </a:r>
              </a:p>
            </p:txBody>
          </p:sp>
        </mc:Fallback>
      </mc:AlternateContent>
      <p:sp>
        <p:nvSpPr>
          <p:cNvPr id="11" name="Rounded Rectangle 10"/>
          <p:cNvSpPr/>
          <p:nvPr/>
        </p:nvSpPr>
        <p:spPr>
          <a:xfrm>
            <a:off x="685800" y="2980944"/>
            <a:ext cx="10835640" cy="1152144"/>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2" name="Equation 027" descr="\qquad-10\left(\frac{x}{5}-x^3-y^5\right)\exp(-x^2-y^2)"/>
              <p:cNvSpPr txBox="1"/>
              <p:nvPr/>
            </p:nvSpPr>
            <p:spPr>
              <a:xfrm>
                <a:off x="2876759" y="3203162"/>
                <a:ext cx="6453720" cy="707707"/>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r>
                        <a:rPr lang="en-GB" sz="3000">
                          <a:latin typeface="Cambria Math"/>
                        </a:rPr>
                        <m:t>  </m:t>
                      </m:r>
                      <m:r>
                        <a:rPr lang="en-GB" sz="3000" i="0">
                          <a:latin typeface="Cambria Math"/>
                        </a:rPr>
                        <m:t>−</m:t>
                      </m:r>
                      <m:r>
                        <a:rPr lang="en-GB" sz="3000">
                          <a:latin typeface="Cambria Math"/>
                        </a:rPr>
                        <m:t>10</m:t>
                      </m:r>
                      <m:d>
                        <m:dPr>
                          <m:ctrlPr>
                            <a:rPr lang="en-GB" sz="3000" i="1">
                              <a:latin typeface="Cambria Math" panose="02040503050406030204" pitchFamily="18" charset="0"/>
                            </a:rPr>
                          </m:ctrlPr>
                        </m:dPr>
                        <m:e>
                          <m:f>
                            <m:fPr>
                              <m:ctrlPr>
                                <a:rPr lang="en-GB" sz="3000" i="1">
                                  <a:latin typeface="Cambria Math" panose="02040503050406030204" pitchFamily="18" charset="0"/>
                                </a:rPr>
                              </m:ctrlPr>
                            </m:fPr>
                            <m:num>
                              <m:r>
                                <a:rPr lang="en-GB" sz="3000">
                                  <a:latin typeface="Cambria Math"/>
                                </a:rPr>
                                <m:t>𝑥</m:t>
                              </m:r>
                            </m:num>
                            <m:den>
                              <m:r>
                                <a:rPr lang="en-GB" sz="3000">
                                  <a:latin typeface="Cambria Math"/>
                                </a:rPr>
                                <m:t>5</m:t>
                              </m:r>
                            </m:den>
                          </m:f>
                          <m:r>
                            <a:rPr lang="en-GB" sz="3000" i="0">
                              <a:latin typeface="Cambria Math"/>
                            </a:rPr>
                            <m:t>−</m:t>
                          </m:r>
                          <m:sSup>
                            <m:sSupPr>
                              <m:ctrlPr>
                                <a:rPr lang="en-GB" sz="3000" i="1">
                                  <a:latin typeface="Cambria Math" panose="02040503050406030204" pitchFamily="18" charset="0"/>
                                </a:rPr>
                              </m:ctrlPr>
                            </m:sSupPr>
                            <m:e>
                              <m:r>
                                <a:rPr lang="en-GB" sz="3000">
                                  <a:latin typeface="Cambria Math"/>
                                </a:rPr>
                                <m:t>𝑥</m:t>
                              </m:r>
                            </m:e>
                            <m:sup>
                              <m:r>
                                <a:rPr lang="en-GB" sz="3000">
                                  <a:latin typeface="Cambria Math"/>
                                </a:rPr>
                                <m:t>3</m:t>
                              </m:r>
                            </m:sup>
                          </m:sSup>
                          <m:r>
                            <a:rPr lang="en-GB" sz="3000" i="0">
                              <a:latin typeface="Cambria Math"/>
                            </a:rPr>
                            <m:t>−</m:t>
                          </m:r>
                          <m:sSup>
                            <m:sSupPr>
                              <m:ctrlPr>
                                <a:rPr lang="en-GB" sz="3000" i="1">
                                  <a:latin typeface="Cambria Math" panose="02040503050406030204" pitchFamily="18" charset="0"/>
                                </a:rPr>
                              </m:ctrlPr>
                            </m:sSupPr>
                            <m:e>
                              <m:r>
                                <a:rPr lang="en-GB" sz="3000">
                                  <a:latin typeface="Cambria Math"/>
                                </a:rPr>
                                <m:t>𝑦</m:t>
                              </m:r>
                            </m:e>
                            <m:sup>
                              <m:r>
                                <a:rPr lang="en-GB" sz="3000">
                                  <a:latin typeface="Cambria Math"/>
                                </a:rPr>
                                <m:t>5</m:t>
                              </m:r>
                            </m:sup>
                          </m:sSup>
                        </m:e>
                      </m:d>
                      <m:r>
                        <m:rPr>
                          <m:sty m:val="p"/>
                        </m:rPr>
                        <a:rPr lang="en-GB" sz="3000" i="0">
                          <a:latin typeface="Cambria Math"/>
                        </a:rPr>
                        <m:t>exp</m:t>
                      </m:r>
                      <m:d>
                        <m:dPr>
                          <m:ctrlPr>
                            <a:rPr lang="en-GB" sz="3000" i="1">
                              <a:latin typeface="Cambria Math" panose="02040503050406030204" pitchFamily="18" charset="0"/>
                            </a:rPr>
                          </m:ctrlPr>
                        </m:dPr>
                        <m:e>
                          <m:r>
                            <a:rPr lang="en-GB" sz="3000" i="0">
                              <a:latin typeface="Cambria Math"/>
                            </a:rPr>
                            <m:t>−</m:t>
                          </m:r>
                          <m:sSup>
                            <m:sSupPr>
                              <m:ctrlPr>
                                <a:rPr lang="en-GB" sz="3000" i="1">
                                  <a:latin typeface="Cambria Math" panose="02040503050406030204" pitchFamily="18" charset="0"/>
                                </a:rPr>
                              </m:ctrlPr>
                            </m:sSupPr>
                            <m:e>
                              <m:r>
                                <a:rPr lang="en-GB" sz="3000">
                                  <a:latin typeface="Cambria Math"/>
                                </a:rPr>
                                <m:t>𝑥</m:t>
                              </m:r>
                            </m:e>
                            <m:sup>
                              <m:r>
                                <a:rPr lang="en-GB" sz="3000">
                                  <a:latin typeface="Cambria Math"/>
                                </a:rPr>
                                <m:t>2</m:t>
                              </m:r>
                            </m:sup>
                          </m:sSup>
                          <m:r>
                            <a:rPr lang="en-GB" sz="3000" i="0">
                              <a:latin typeface="Cambria Math"/>
                            </a:rPr>
                            <m:t>−</m:t>
                          </m:r>
                          <m:sSup>
                            <m:sSupPr>
                              <m:ctrlPr>
                                <a:rPr lang="en-GB" sz="3000" i="1">
                                  <a:latin typeface="Cambria Math" panose="02040503050406030204" pitchFamily="18" charset="0"/>
                                </a:rPr>
                              </m:ctrlPr>
                            </m:sSupPr>
                            <m:e>
                              <m:r>
                                <a:rPr lang="en-GB" sz="3000">
                                  <a:latin typeface="Cambria Math"/>
                                </a:rPr>
                                <m:t>𝑦</m:t>
                              </m:r>
                            </m:e>
                            <m:sup>
                              <m:r>
                                <a:rPr lang="en-GB" sz="3000">
                                  <a:latin typeface="Cambria Math"/>
                                </a:rPr>
                                <m:t>2</m:t>
                              </m:r>
                            </m:sup>
                          </m:sSup>
                        </m:e>
                      </m:d>
                    </m:oMath>
                  </m:oMathPara>
                </a14:m>
                <a:endParaRPr/>
              </a:p>
            </p:txBody>
          </p:sp>
        </mc:Choice>
        <mc:Fallback>
          <p:sp>
            <p:nvSpPr>
              <p:cNvPr id="12" name="Equation 027" descr="\qquad-10\left(\frac{x}{5}-x^3-y^5\right)\exp(-x^2-y^2)"/>
              <p:cNvSpPr txBox="1">
                <a:spLocks noRot="1" noChangeAspect="1" noMove="1" noResize="1" noEditPoints="1" noAdjustHandles="1" noChangeArrowheads="1" noChangeShapeType="1" noTextEdit="1"/>
              </p:cNvSpPr>
              <p:nvPr/>
            </p:nvSpPr>
            <p:spPr>
              <a:xfrm>
                <a:off x="2876759" y="3203162"/>
                <a:ext cx="6453720" cy="707707"/>
              </a:xfrm>
              <a:prstGeom prst="rect">
                <a:avLst/>
              </a:prstGeom>
              <a:blipFill>
                <a:blip r:embed="rId4"/>
                <a:stretch>
                  <a:fillRect l="-2750" t="-7018" b="-22807"/>
                </a:stretch>
              </a:blipFill>
              <a:effectLst/>
            </p:spPr>
            <p:txBody>
              <a:bodyPr/>
              <a:lstStyle/>
              <a:p>
                <a:r>
                  <a:rPr lang="zh-CN" altLang="en-US">
                    <a:noFill/>
                  </a:rPr>
                  <a:t> </a:t>
                </a:r>
              </a:p>
            </p:txBody>
          </p:sp>
        </mc:Fallback>
      </mc:AlternateContent>
      <p:sp>
        <p:nvSpPr>
          <p:cNvPr id="13" name="Rounded Rectangle 12"/>
          <p:cNvSpPr/>
          <p:nvPr/>
        </p:nvSpPr>
        <p:spPr>
          <a:xfrm>
            <a:off x="685800" y="4288536"/>
            <a:ext cx="10835640" cy="117957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4" name="Equation 028" descr="\qquad-\frac{1}{3}\exp[-(x+1)^2-y^2]"/>
              <p:cNvSpPr txBox="1"/>
              <p:nvPr/>
            </p:nvSpPr>
            <p:spPr>
              <a:xfrm>
                <a:off x="3772280" y="4487799"/>
                <a:ext cx="4662678" cy="781049"/>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r>
                        <a:rPr lang="en-GB" sz="3000">
                          <a:latin typeface="Cambria Math"/>
                        </a:rPr>
                        <m:t>  </m:t>
                      </m:r>
                      <m:r>
                        <a:rPr lang="en-GB" sz="3000" i="0">
                          <a:latin typeface="Cambria Math"/>
                        </a:rPr>
                        <m:t>−</m:t>
                      </m:r>
                      <m:f>
                        <m:fPr>
                          <m:ctrlPr>
                            <a:rPr lang="en-GB" sz="3000" i="1">
                              <a:latin typeface="Cambria Math" panose="02040503050406030204" pitchFamily="18" charset="0"/>
                            </a:rPr>
                          </m:ctrlPr>
                        </m:fPr>
                        <m:num>
                          <m:r>
                            <a:rPr lang="en-GB" sz="3000">
                              <a:latin typeface="Cambria Math"/>
                            </a:rPr>
                            <m:t>1</m:t>
                          </m:r>
                        </m:num>
                        <m:den>
                          <m:r>
                            <a:rPr lang="en-GB" sz="3000">
                              <a:latin typeface="Cambria Math"/>
                            </a:rPr>
                            <m:t>3</m:t>
                          </m:r>
                        </m:den>
                      </m:f>
                      <m:r>
                        <m:rPr>
                          <m:sty m:val="p"/>
                        </m:rPr>
                        <a:rPr lang="en-GB" sz="3000" i="0">
                          <a:latin typeface="Cambria Math"/>
                        </a:rPr>
                        <m:t>exp</m:t>
                      </m:r>
                      <m:d>
                        <m:dPr>
                          <m:begChr m:val="["/>
                          <m:endChr m:val="]"/>
                          <m:ctrlPr>
                            <a:rPr lang="en-GB" sz="3000" i="1">
                              <a:latin typeface="Cambria Math" panose="02040503050406030204" pitchFamily="18" charset="0"/>
                            </a:rPr>
                          </m:ctrlPr>
                        </m:dPr>
                        <m:e>
                          <m:r>
                            <a:rPr lang="en-GB" sz="3000" i="0">
                              <a:latin typeface="Cambria Math"/>
                            </a:rPr>
                            <m:t>−</m:t>
                          </m:r>
                          <m:sSup>
                            <m:sSupPr>
                              <m:ctrlPr>
                                <a:rPr lang="en-GB" sz="3000" i="1">
                                  <a:latin typeface="Cambria Math" panose="02040503050406030204" pitchFamily="18" charset="0"/>
                                </a:rPr>
                              </m:ctrlPr>
                            </m:sSupPr>
                            <m:e>
                              <m:d>
                                <m:dPr>
                                  <m:ctrlPr>
                                    <a:rPr lang="en-GB" sz="3000" i="1">
                                      <a:latin typeface="Cambria Math" panose="02040503050406030204" pitchFamily="18" charset="0"/>
                                    </a:rPr>
                                  </m:ctrlPr>
                                </m:dPr>
                                <m:e>
                                  <m:r>
                                    <a:rPr lang="en-GB" sz="3000">
                                      <a:latin typeface="Cambria Math"/>
                                    </a:rPr>
                                    <m:t>𝑥</m:t>
                                  </m:r>
                                  <m:r>
                                    <a:rPr lang="en-GB" sz="3000" i="0">
                                      <a:latin typeface="Cambria Math"/>
                                    </a:rPr>
                                    <m:t>+</m:t>
                                  </m:r>
                                  <m:r>
                                    <a:rPr lang="en-GB" sz="3000">
                                      <a:latin typeface="Cambria Math"/>
                                    </a:rPr>
                                    <m:t>1</m:t>
                                  </m:r>
                                </m:e>
                              </m:d>
                            </m:e>
                            <m:sup>
                              <m:r>
                                <a:rPr lang="en-GB" sz="3000">
                                  <a:latin typeface="Cambria Math"/>
                                </a:rPr>
                                <m:t>2</m:t>
                              </m:r>
                            </m:sup>
                          </m:sSup>
                          <m:r>
                            <a:rPr lang="en-GB" sz="3000" i="0">
                              <a:latin typeface="Cambria Math"/>
                            </a:rPr>
                            <m:t>−</m:t>
                          </m:r>
                          <m:sSup>
                            <m:sSupPr>
                              <m:ctrlPr>
                                <a:rPr lang="en-GB" sz="3000" i="1">
                                  <a:latin typeface="Cambria Math" panose="02040503050406030204" pitchFamily="18" charset="0"/>
                                </a:rPr>
                              </m:ctrlPr>
                            </m:sSupPr>
                            <m:e>
                              <m:r>
                                <a:rPr lang="en-GB" sz="3000">
                                  <a:latin typeface="Cambria Math"/>
                                </a:rPr>
                                <m:t>𝑦</m:t>
                              </m:r>
                            </m:e>
                            <m:sup>
                              <m:r>
                                <a:rPr lang="en-GB" sz="3000">
                                  <a:latin typeface="Cambria Math"/>
                                </a:rPr>
                                <m:t>2</m:t>
                              </m:r>
                            </m:sup>
                          </m:sSup>
                        </m:e>
                      </m:d>
                    </m:oMath>
                  </m:oMathPara>
                </a14:m>
                <a:endParaRPr/>
              </a:p>
            </p:txBody>
          </p:sp>
        </mc:Choice>
        <mc:Fallback>
          <p:sp>
            <p:nvSpPr>
              <p:cNvPr id="14" name="Equation 028" descr="\qquad-\frac{1}{3}\exp[-(x+1)^2-y^2]"/>
              <p:cNvSpPr txBox="1">
                <a:spLocks noRot="1" noChangeAspect="1" noMove="1" noResize="1" noEditPoints="1" noAdjustHandles="1" noChangeArrowheads="1" noChangeShapeType="1" noTextEdit="1"/>
              </p:cNvSpPr>
              <p:nvPr/>
            </p:nvSpPr>
            <p:spPr>
              <a:xfrm>
                <a:off x="3772280" y="4487799"/>
                <a:ext cx="4662678" cy="781049"/>
              </a:xfrm>
              <a:prstGeom prst="rect">
                <a:avLst/>
              </a:prstGeom>
              <a:blipFill>
                <a:blip r:embed="rId5"/>
                <a:stretch>
                  <a:fillRect l="-5978" t="-8065" b="-20968"/>
                </a:stretch>
              </a:blipFill>
              <a:effectLst/>
            </p:spPr>
            <p:txBody>
              <a:bodyPr/>
              <a:lstStyle/>
              <a:p>
                <a:r>
                  <a:rPr lang="zh-CN" altLang="en-US">
                    <a:noFill/>
                  </a:rPr>
                  <a:t> </a:t>
                </a:r>
              </a:p>
            </p:txBody>
          </p:sp>
        </mc:Fallback>
      </mc:AlternateContent>
      <p:sp>
        <p:nvSpPr>
          <p:cNvPr id="15" name="Rounded Rectangle 14"/>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Gaussian envelopes localise the response; polynomial factors change its shape.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03 • CASE 1 — PEAKS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Generate independent designs for each data role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22</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LHS method: [5]. Dataset sizes and seeds: reproduced teaching experiment.</a:t>
            </a:r>
          </a:p>
        </p:txBody>
      </p:sp>
      <p:pic>
        <p:nvPicPr>
          <p:cNvPr id="9" name="lhs_design.png" descr="lhs_design.png"/>
          <p:cNvPicPr>
            <a:picLocks noChangeAspect="1"/>
          </p:cNvPicPr>
          <p:nvPr/>
        </p:nvPicPr>
        <p:blipFill>
          <a:blip r:embed="rId3"/>
          <a:stretch>
            <a:fillRect/>
          </a:stretch>
        </p:blipFill>
        <p:spPr>
          <a:xfrm>
            <a:off x="836434" y="1764792"/>
            <a:ext cx="4398747" cy="4325112"/>
          </a:xfrm>
          <a:prstGeom prst="rect">
            <a:avLst/>
          </a:prstGeom>
          <a:effectLst/>
        </p:spPr>
      </p:pic>
      <p:graphicFrame>
        <p:nvGraphicFramePr>
          <p:cNvPr id="10" name="Table 9"/>
          <p:cNvGraphicFramePr>
            <a:graphicFrameLocks noGrp="1"/>
          </p:cNvGraphicFramePr>
          <p:nvPr/>
        </p:nvGraphicFramePr>
        <p:xfrm>
          <a:off x="5879592" y="1975104"/>
          <a:ext cx="5084064" cy="2596896"/>
        </p:xfrm>
        <a:graphic>
          <a:graphicData uri="http://schemas.openxmlformats.org/drawingml/2006/table">
            <a:tbl>
              <a:tblPr firstRow="1" bandRow="1">
                <a:tableStyleId>{5C22544A-7EE6-4342-B048-85BDC9FD1C3A}</a:tableStyleId>
              </a:tblPr>
              <a:tblGrid>
                <a:gridCol w="2267712">
                  <a:extLst>
                    <a:ext uri="{9D8B030D-6E8A-4147-A177-3AD203B41FA5}">
                      <a16:colId xmlns:a16="http://schemas.microsoft.com/office/drawing/2014/main" val="20000"/>
                    </a:ext>
                  </a:extLst>
                </a:gridCol>
                <a:gridCol w="1408176">
                  <a:extLst>
                    <a:ext uri="{9D8B030D-6E8A-4147-A177-3AD203B41FA5}">
                      <a16:colId xmlns:a16="http://schemas.microsoft.com/office/drawing/2014/main" val="20001"/>
                    </a:ext>
                  </a:extLst>
                </a:gridCol>
                <a:gridCol w="1408176">
                  <a:extLst>
                    <a:ext uri="{9D8B030D-6E8A-4147-A177-3AD203B41FA5}">
                      <a16:colId xmlns:a16="http://schemas.microsoft.com/office/drawing/2014/main" val="20002"/>
                    </a:ext>
                  </a:extLst>
                </a:gridCol>
              </a:tblGrid>
              <a:tr h="649224">
                <a:tc>
                  <a:txBody>
                    <a:bodyPr/>
                    <a:lstStyle/>
                    <a:p>
                      <a:pPr>
                        <a:lnSpc>
                          <a:spcPct val="105000"/>
                        </a:lnSpc>
                        <a:spcAft>
                          <a:spcPts val="0"/>
                        </a:spcAft>
                      </a:pPr>
                      <a:r>
                        <a:rPr lang="en-GB" sz="2050" b="1">
                          <a:solidFill>
                            <a:srgbClr val="FFFFFF"/>
                          </a:solidFill>
                          <a:latin typeface="Arial"/>
                        </a:rPr>
                        <a:t>Dataset</a:t>
                      </a:r>
                    </a:p>
                  </a:txBody>
                  <a:tcPr marL="128016" marR="109728" marT="73152" marB="27432" anchor="ctr">
                    <a:solidFill>
                      <a:srgbClr val="173042"/>
                    </a:solidFill>
                  </a:tcPr>
                </a:tc>
                <a:tc>
                  <a:txBody>
                    <a:bodyPr/>
                    <a:lstStyle/>
                    <a:p>
                      <a:pPr>
                        <a:lnSpc>
                          <a:spcPct val="105000"/>
                        </a:lnSpc>
                        <a:spcAft>
                          <a:spcPts val="0"/>
                        </a:spcAft>
                      </a:pPr>
                      <a:r>
                        <a:rPr lang="en-GB" sz="2050" b="1">
                          <a:solidFill>
                            <a:srgbClr val="FFFFFF"/>
                          </a:solidFill>
                          <a:latin typeface="Arial"/>
                        </a:rPr>
                        <a:t>Samples</a:t>
                      </a:r>
                    </a:p>
                  </a:txBody>
                  <a:tcPr marL="128016" marR="109728" marT="73152" marB="27432" anchor="ctr">
                    <a:solidFill>
                      <a:srgbClr val="173042"/>
                    </a:solidFill>
                  </a:tcPr>
                </a:tc>
                <a:tc>
                  <a:txBody>
                    <a:bodyPr/>
                    <a:lstStyle/>
                    <a:p>
                      <a:pPr>
                        <a:lnSpc>
                          <a:spcPct val="105000"/>
                        </a:lnSpc>
                        <a:spcAft>
                          <a:spcPts val="0"/>
                        </a:spcAft>
                      </a:pPr>
                      <a:r>
                        <a:rPr lang="en-GB" sz="2050" b="1">
                          <a:solidFill>
                            <a:srgbClr val="FFFFFF"/>
                          </a:solidFill>
                          <a:latin typeface="Arial"/>
                        </a:rPr>
                        <a:t>Seed</a:t>
                      </a:r>
                    </a:p>
                  </a:txBody>
                  <a:tcPr marL="128016" marR="109728" marT="73152" marB="27432" anchor="ctr">
                    <a:solidFill>
                      <a:srgbClr val="173042"/>
                    </a:solidFill>
                  </a:tcPr>
                </a:tc>
                <a:extLst>
                  <a:ext uri="{0D108BD9-81ED-4DB2-BD59-A6C34878D82A}">
                    <a16:rowId xmlns:a16="http://schemas.microsoft.com/office/drawing/2014/main" val="10000"/>
                  </a:ext>
                </a:extLst>
              </a:tr>
              <a:tr h="649224">
                <a:tc>
                  <a:txBody>
                    <a:bodyPr/>
                    <a:lstStyle/>
                    <a:p>
                      <a:pPr>
                        <a:lnSpc>
                          <a:spcPct val="105000"/>
                        </a:lnSpc>
                        <a:spcAft>
                          <a:spcPts val="0"/>
                        </a:spcAft>
                      </a:pPr>
                      <a:r>
                        <a:rPr lang="en-GB" sz="2100" b="0">
                          <a:solidFill>
                            <a:srgbClr val="173042"/>
                          </a:solidFill>
                          <a:latin typeface="Arial"/>
                        </a:rPr>
                        <a:t>Training</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600</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42</a:t>
                      </a:r>
                    </a:p>
                  </a:txBody>
                  <a:tcPr marL="128016" marR="109728" marT="73152" marB="27432" anchor="ctr">
                    <a:solidFill>
                      <a:srgbClr val="F6F8FA"/>
                    </a:solidFill>
                  </a:tcPr>
                </a:tc>
                <a:extLst>
                  <a:ext uri="{0D108BD9-81ED-4DB2-BD59-A6C34878D82A}">
                    <a16:rowId xmlns:a16="http://schemas.microsoft.com/office/drawing/2014/main" val="10001"/>
                  </a:ext>
                </a:extLst>
              </a:tr>
              <a:tr h="649224">
                <a:tc>
                  <a:txBody>
                    <a:bodyPr/>
                    <a:lstStyle/>
                    <a:p>
                      <a:pPr>
                        <a:lnSpc>
                          <a:spcPct val="105000"/>
                        </a:lnSpc>
                        <a:spcAft>
                          <a:spcPts val="0"/>
                        </a:spcAft>
                      </a:pPr>
                      <a:r>
                        <a:rPr lang="en-GB" sz="2100" b="0">
                          <a:solidFill>
                            <a:srgbClr val="173042"/>
                          </a:solidFill>
                          <a:latin typeface="Arial"/>
                        </a:rPr>
                        <a:t>Validation</a:t>
                      </a:r>
                    </a:p>
                  </a:txBody>
                  <a:tcPr marL="128016" marR="109728" marT="73152" marB="27432" anchor="ctr">
                    <a:solidFill>
                      <a:srgbClr val="FFFFFF"/>
                    </a:solidFill>
                  </a:tcPr>
                </a:tc>
                <a:tc>
                  <a:txBody>
                    <a:bodyPr/>
                    <a:lstStyle/>
                    <a:p>
                      <a:pPr>
                        <a:lnSpc>
                          <a:spcPct val="105000"/>
                        </a:lnSpc>
                        <a:spcAft>
                          <a:spcPts val="0"/>
                        </a:spcAft>
                      </a:pPr>
                      <a:r>
                        <a:rPr lang="en-GB" sz="2100" b="0">
                          <a:solidFill>
                            <a:srgbClr val="173042"/>
                          </a:solidFill>
                          <a:latin typeface="Arial"/>
                        </a:rPr>
                        <a:t>200</a:t>
                      </a:r>
                    </a:p>
                  </a:txBody>
                  <a:tcPr marL="128016" marR="109728" marT="73152" marB="27432" anchor="ctr">
                    <a:solidFill>
                      <a:srgbClr val="FFFFFF"/>
                    </a:solidFill>
                  </a:tcPr>
                </a:tc>
                <a:tc>
                  <a:txBody>
                    <a:bodyPr/>
                    <a:lstStyle/>
                    <a:p>
                      <a:pPr>
                        <a:lnSpc>
                          <a:spcPct val="105000"/>
                        </a:lnSpc>
                        <a:spcAft>
                          <a:spcPts val="0"/>
                        </a:spcAft>
                      </a:pPr>
                      <a:r>
                        <a:rPr lang="en-GB" sz="2100" b="0">
                          <a:solidFill>
                            <a:srgbClr val="173042"/>
                          </a:solidFill>
                          <a:latin typeface="Arial"/>
                        </a:rPr>
                        <a:t>43</a:t>
                      </a:r>
                    </a:p>
                  </a:txBody>
                  <a:tcPr marL="128016" marR="109728" marT="73152" marB="27432" anchor="ctr">
                    <a:solidFill>
                      <a:srgbClr val="FFFFFF"/>
                    </a:solidFill>
                  </a:tcPr>
                </a:tc>
                <a:extLst>
                  <a:ext uri="{0D108BD9-81ED-4DB2-BD59-A6C34878D82A}">
                    <a16:rowId xmlns:a16="http://schemas.microsoft.com/office/drawing/2014/main" val="10002"/>
                  </a:ext>
                </a:extLst>
              </a:tr>
              <a:tr h="649224">
                <a:tc>
                  <a:txBody>
                    <a:bodyPr/>
                    <a:lstStyle/>
                    <a:p>
                      <a:pPr>
                        <a:lnSpc>
                          <a:spcPct val="105000"/>
                        </a:lnSpc>
                        <a:spcAft>
                          <a:spcPts val="0"/>
                        </a:spcAft>
                      </a:pPr>
                      <a:r>
                        <a:rPr lang="en-GB" sz="2100" b="0">
                          <a:solidFill>
                            <a:srgbClr val="173042"/>
                          </a:solidFill>
                          <a:latin typeface="Arial"/>
                        </a:rPr>
                        <a:t>Test</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2,000</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44</a:t>
                      </a:r>
                    </a:p>
                  </a:txBody>
                  <a:tcPr marL="128016" marR="109728" marT="73152" marB="27432" anchor="ctr">
                    <a:solidFill>
                      <a:srgbClr val="F6F8FA"/>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5961888" y="4910328"/>
            <a:ext cx="4992624" cy="96012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0">
                <a:solidFill>
                  <a:srgbClr val="173042"/>
                </a:solidFill>
                <a:latin typeface="Arial"/>
              </a:rPr>
              <a:t>Latin hypercube sampling stratifies each input range; it does not enumerate every input combination.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03 • CASE 1 — PEAKS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2936" b="1">
                <a:solidFill>
                  <a:srgbClr val="173042"/>
                </a:solidFill>
                <a:latin typeface="Arial"/>
              </a:rPr>
              <a:t>Establish simple baselines before searching richer formulas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23</a:t>
            </a:r>
          </a:p>
        </p:txBody>
      </p:sp>
      <p:sp>
        <p:nvSpPr>
          <p:cNvPr id="8" name="Rounded Rectangle 7"/>
          <p:cNvSpPr/>
          <p:nvPr/>
        </p:nvSpPr>
        <p:spPr>
          <a:xfrm>
            <a:off x="685800" y="1773936"/>
            <a:ext cx="10835640" cy="134416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886968" y="1883664"/>
            <a:ext cx="10433304"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QUADRATIC RESPONSE SURFACE — 6 TERMS</a:t>
            </a:r>
          </a:p>
        </p:txBody>
      </p:sp>
      <mc:AlternateContent xmlns:mc="http://schemas.openxmlformats.org/markup-compatibility/2006">
        <mc:Choice xmlns:a14="http://schemas.microsoft.com/office/drawing/2010/main" Requires="a14">
          <p:sp>
            <p:nvSpPr>
              <p:cNvPr id="10" name="Equation 029" descr="\hat z_2=a_0+a_1x+a_2y+a_3x^2+a_4xy+a_5y^2"/>
              <p:cNvSpPr txBox="1"/>
              <p:nvPr/>
            </p:nvSpPr>
            <p:spPr>
              <a:xfrm>
                <a:off x="2636558" y="2403176"/>
                <a:ext cx="6934123" cy="414870"/>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sSub>
                        <m:sSubPr>
                          <m:ctrlPr>
                            <a:rPr lang="en-GB" sz="3000">
                              <a:latin typeface="Cambria Math" panose="02040503050406030204" pitchFamily="18" charset="0"/>
                            </a:rPr>
                          </m:ctrlPr>
                        </m:sSubPr>
                        <m:e>
                          <m:acc>
                            <m:accPr>
                              <m:chr m:val="̂"/>
                              <m:ctrlPr>
                                <a:rPr lang="en-GB" sz="3000">
                                  <a:latin typeface="Cambria Math" panose="02040503050406030204" pitchFamily="18" charset="0"/>
                                </a:rPr>
                              </m:ctrlPr>
                            </m:accPr>
                            <m:e>
                              <m:r>
                                <a:rPr lang="en-GB" sz="3000">
                                  <a:latin typeface="Cambria Math"/>
                                </a:rPr>
                                <m:t>𝑧</m:t>
                              </m:r>
                            </m:e>
                          </m:acc>
                        </m:e>
                        <m:sub>
                          <m:r>
                            <a:rPr lang="en-GB" sz="3000">
                              <a:latin typeface="Cambria Math"/>
                            </a:rPr>
                            <m:t>2</m:t>
                          </m:r>
                        </m:sub>
                      </m:sSub>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0</m:t>
                          </m:r>
                        </m:sub>
                      </m:sSub>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1</m:t>
                          </m:r>
                        </m:sub>
                      </m:sSub>
                      <m:r>
                        <a:rPr lang="en-GB" sz="3000">
                          <a:latin typeface="Cambria Math"/>
                        </a:rPr>
                        <m:t>𝑥</m:t>
                      </m:r>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2</m:t>
                          </m:r>
                        </m:sub>
                      </m:sSub>
                      <m:r>
                        <a:rPr lang="en-GB" sz="3000">
                          <a:latin typeface="Cambria Math"/>
                        </a:rPr>
                        <m:t>𝑦</m:t>
                      </m:r>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3</m:t>
                          </m:r>
                        </m:sub>
                      </m:sSub>
                      <m:sSup>
                        <m:sSupPr>
                          <m:ctrlPr>
                            <a:rPr lang="en-GB" sz="3000" i="1">
                              <a:latin typeface="Cambria Math" panose="02040503050406030204" pitchFamily="18" charset="0"/>
                            </a:rPr>
                          </m:ctrlPr>
                        </m:sSupPr>
                        <m:e>
                          <m:r>
                            <a:rPr lang="en-GB" sz="3000">
                              <a:latin typeface="Cambria Math"/>
                            </a:rPr>
                            <m:t>𝑥</m:t>
                          </m:r>
                        </m:e>
                        <m:sup>
                          <m:r>
                            <a:rPr lang="en-GB" sz="3000">
                              <a:latin typeface="Cambria Math"/>
                            </a:rPr>
                            <m:t>2</m:t>
                          </m:r>
                        </m:sup>
                      </m:sSup>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4</m:t>
                          </m:r>
                        </m:sub>
                      </m:sSub>
                      <m:r>
                        <a:rPr lang="en-GB" sz="3000">
                          <a:latin typeface="Cambria Math"/>
                        </a:rPr>
                        <m:t>𝑥𝑦</m:t>
                      </m:r>
                      <m:r>
                        <a:rPr lang="en-GB" sz="3000" i="0">
                          <a:latin typeface="Cambria Math"/>
                        </a:rPr>
                        <m:t>+</m:t>
                      </m:r>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5</m:t>
                          </m:r>
                        </m:sub>
                      </m:sSub>
                      <m:sSup>
                        <m:sSupPr>
                          <m:ctrlPr>
                            <a:rPr lang="en-GB" sz="3000" i="1">
                              <a:latin typeface="Cambria Math" panose="02040503050406030204" pitchFamily="18" charset="0"/>
                            </a:rPr>
                          </m:ctrlPr>
                        </m:sSupPr>
                        <m:e>
                          <m:r>
                            <a:rPr lang="en-GB" sz="3000">
                              <a:latin typeface="Cambria Math"/>
                            </a:rPr>
                            <m:t>𝑦</m:t>
                          </m:r>
                        </m:e>
                        <m:sup>
                          <m:r>
                            <a:rPr lang="en-GB" sz="3000">
                              <a:latin typeface="Cambria Math"/>
                            </a:rPr>
                            <m:t>2</m:t>
                          </m:r>
                        </m:sup>
                      </m:sSup>
                    </m:oMath>
                  </m:oMathPara>
                </a14:m>
                <a:endParaRPr/>
              </a:p>
            </p:txBody>
          </p:sp>
        </mc:Choice>
        <mc:Fallback>
          <p:sp>
            <p:nvSpPr>
              <p:cNvPr id="10" name="Equation 029" descr="\hat z_2=a_0+a_1x+a_2y+a_3x^2+a_4xy+a_5y^2"/>
              <p:cNvSpPr txBox="1">
                <a:spLocks noRot="1" noChangeAspect="1" noMove="1" noResize="1" noEditPoints="1" noAdjustHandles="1" noChangeArrowheads="1" noChangeShapeType="1" noTextEdit="1"/>
              </p:cNvSpPr>
              <p:nvPr/>
            </p:nvSpPr>
            <p:spPr>
              <a:xfrm>
                <a:off x="2636558" y="2403176"/>
                <a:ext cx="6934123" cy="414870"/>
              </a:xfrm>
              <a:prstGeom prst="rect">
                <a:avLst/>
              </a:prstGeom>
              <a:blipFill>
                <a:blip r:embed="rId3"/>
                <a:stretch>
                  <a:fillRect l="-3108" t="-21212" r="-1645" b="-30303"/>
                </a:stretch>
              </a:blipFill>
              <a:effectLst/>
            </p:spPr>
            <p:txBody>
              <a:bodyPr/>
              <a:lstStyle/>
              <a:p>
                <a:r>
                  <a:rPr lang="zh-CN" altLang="en-US">
                    <a:noFill/>
                  </a:rPr>
                  <a:t> </a:t>
                </a:r>
              </a:p>
            </p:txBody>
          </p:sp>
        </mc:Fallback>
      </mc:AlternateContent>
      <p:sp>
        <p:nvSpPr>
          <p:cNvPr id="11" name="Rounded Rectangle 10"/>
          <p:cNvSpPr/>
          <p:nvPr/>
        </p:nvSpPr>
        <p:spPr>
          <a:xfrm>
            <a:off x="704088" y="3429000"/>
            <a:ext cx="5404104" cy="161848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05256" y="3538728"/>
            <a:ext cx="5001768"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TOTAL-DEGREE-FIVE POLYNOMIAL — 21 TERMS</a:t>
            </a:r>
          </a:p>
        </p:txBody>
      </p:sp>
      <mc:AlternateContent xmlns:mc="http://schemas.openxmlformats.org/markup-compatibility/2006">
        <mc:Choice xmlns:a14="http://schemas.microsoft.com/office/drawing/2010/main" Requires="a14">
          <p:sp>
            <p:nvSpPr>
              <p:cNvPr id="13" name="Equation 030" descr="\hat z_5=\sum_{p+q\leq5}a_{pq}x^py^q"/>
              <p:cNvSpPr txBox="1"/>
              <p:nvPr/>
            </p:nvSpPr>
            <p:spPr>
              <a:xfrm>
                <a:off x="1931974" y="3969429"/>
                <a:ext cx="2948330" cy="866813"/>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sSub>
                        <m:sSubPr>
                          <m:ctrlPr>
                            <a:rPr lang="en-GB" sz="3000">
                              <a:latin typeface="Cambria Math" panose="02040503050406030204" pitchFamily="18" charset="0"/>
                            </a:rPr>
                          </m:ctrlPr>
                        </m:sSubPr>
                        <m:e>
                          <m:acc>
                            <m:accPr>
                              <m:chr m:val="̂"/>
                              <m:ctrlPr>
                                <a:rPr lang="en-GB" sz="3000">
                                  <a:latin typeface="Cambria Math" panose="02040503050406030204" pitchFamily="18" charset="0"/>
                                </a:rPr>
                              </m:ctrlPr>
                            </m:accPr>
                            <m:e>
                              <m:r>
                                <a:rPr lang="en-GB" sz="3000">
                                  <a:latin typeface="Cambria Math"/>
                                </a:rPr>
                                <m:t>𝑧</m:t>
                              </m:r>
                            </m:e>
                          </m:acc>
                        </m:e>
                        <m:sub>
                          <m:r>
                            <a:rPr lang="en-GB" sz="3000">
                              <a:latin typeface="Cambria Math"/>
                            </a:rPr>
                            <m:t>5</m:t>
                          </m:r>
                        </m:sub>
                      </m:sSub>
                      <m:r>
                        <a:rPr lang="en-GB" sz="3000" i="0">
                          <a:latin typeface="Cambria Math"/>
                        </a:rPr>
                        <m:t>=</m:t>
                      </m:r>
                      <m:nary>
                        <m:naryPr>
                          <m:chr m:val="∑"/>
                          <m:limLoc m:val="undOvr"/>
                          <m:ctrlPr>
                            <a:rPr lang="en-GB" sz="3000" i="1">
                              <a:latin typeface="Cambria Math" panose="02040503050406030204" pitchFamily="18" charset="0"/>
                            </a:rPr>
                          </m:ctrlPr>
                        </m:naryPr>
                        <m:sub>
                          <m:r>
                            <a:rPr lang="en-GB" sz="3000">
                              <a:latin typeface="Cambria Math"/>
                            </a:rPr>
                            <m:t>𝑝</m:t>
                          </m:r>
                          <m:r>
                            <a:rPr lang="en-GB" sz="3000" i="0">
                              <a:latin typeface="Cambria Math"/>
                            </a:rPr>
                            <m:t>+</m:t>
                          </m:r>
                          <m:r>
                            <a:rPr lang="en-GB" sz="3000">
                              <a:latin typeface="Cambria Math"/>
                            </a:rPr>
                            <m:t>𝑞</m:t>
                          </m:r>
                          <m:r>
                            <a:rPr lang="en-GB" sz="3000" i="0">
                              <a:latin typeface="Cambria Math"/>
                            </a:rPr>
                            <m:t>≤</m:t>
                          </m:r>
                          <m:r>
                            <a:rPr lang="en-GB" sz="3000">
                              <a:latin typeface="Cambria Math"/>
                            </a:rPr>
                            <m:t>5</m:t>
                          </m:r>
                        </m:sub>
                        <m:sup>
                          <m:r>
                            <a:rPr lang="en-GB" sz="3000">
                              <a:latin typeface="Cambria Math"/>
                            </a:rPr>
                            <m:t>​</m:t>
                          </m:r>
                        </m:sup>
                        <m:e>
                          <m:sSub>
                            <m:sSubPr>
                              <m:ctrlPr>
                                <a:rPr lang="en-GB" sz="3000" i="1">
                                  <a:latin typeface="Cambria Math" panose="02040503050406030204" pitchFamily="18" charset="0"/>
                                </a:rPr>
                              </m:ctrlPr>
                            </m:sSubPr>
                            <m:e>
                              <m:r>
                                <a:rPr lang="en-GB" sz="3000">
                                  <a:latin typeface="Cambria Math"/>
                                </a:rPr>
                                <m:t>𝑎</m:t>
                              </m:r>
                            </m:e>
                            <m:sub>
                              <m:r>
                                <a:rPr lang="en-GB" sz="3000">
                                  <a:latin typeface="Cambria Math"/>
                                </a:rPr>
                                <m:t>𝑝𝑞</m:t>
                              </m:r>
                            </m:sub>
                          </m:sSub>
                        </m:e>
                      </m:nary>
                      <m:sSup>
                        <m:sSupPr>
                          <m:ctrlPr>
                            <a:rPr lang="en-GB" sz="3000" i="1">
                              <a:latin typeface="Cambria Math" panose="02040503050406030204" pitchFamily="18" charset="0"/>
                            </a:rPr>
                          </m:ctrlPr>
                        </m:sSupPr>
                        <m:e>
                          <m:r>
                            <a:rPr lang="en-GB" sz="3000">
                              <a:latin typeface="Cambria Math"/>
                            </a:rPr>
                            <m:t>𝑥</m:t>
                          </m:r>
                        </m:e>
                        <m:sup>
                          <m:r>
                            <a:rPr lang="en-GB" sz="3000">
                              <a:latin typeface="Cambria Math"/>
                            </a:rPr>
                            <m:t>𝑝</m:t>
                          </m:r>
                        </m:sup>
                      </m:sSup>
                      <m:sSup>
                        <m:sSupPr>
                          <m:ctrlPr>
                            <a:rPr lang="en-GB" sz="3000" i="1">
                              <a:latin typeface="Cambria Math" panose="02040503050406030204" pitchFamily="18" charset="0"/>
                            </a:rPr>
                          </m:ctrlPr>
                        </m:sSupPr>
                        <m:e>
                          <m:r>
                            <a:rPr lang="en-GB" sz="3000">
                              <a:latin typeface="Cambria Math"/>
                            </a:rPr>
                            <m:t>𝑦</m:t>
                          </m:r>
                        </m:e>
                        <m:sup>
                          <m:r>
                            <a:rPr lang="en-GB" sz="3000">
                              <a:latin typeface="Cambria Math"/>
                            </a:rPr>
                            <m:t>𝑞</m:t>
                          </m:r>
                        </m:sup>
                      </m:sSup>
                    </m:oMath>
                  </m:oMathPara>
                </a14:m>
                <a:endParaRPr/>
              </a:p>
            </p:txBody>
          </p:sp>
        </mc:Choice>
        <mc:Fallback>
          <p:sp>
            <p:nvSpPr>
              <p:cNvPr id="13" name="Equation 030" descr="\hat z_5=\sum_{p+q\leq5}a_{pq}x^py^q"/>
              <p:cNvSpPr txBox="1">
                <a:spLocks noRot="1" noChangeAspect="1" noMove="1" noResize="1" noEditPoints="1" noAdjustHandles="1" noChangeArrowheads="1" noChangeShapeType="1" noTextEdit="1"/>
              </p:cNvSpPr>
              <p:nvPr/>
            </p:nvSpPr>
            <p:spPr>
              <a:xfrm>
                <a:off x="1931974" y="3969429"/>
                <a:ext cx="2948330" cy="866813"/>
              </a:xfrm>
              <a:prstGeom prst="rect">
                <a:avLst/>
              </a:prstGeom>
              <a:blipFill>
                <a:blip r:embed="rId4"/>
                <a:stretch>
                  <a:fillRect l="-21030" t="-205797" r="-6438" b="-275362"/>
                </a:stretch>
              </a:blipFill>
              <a:effectLst/>
            </p:spPr>
            <p:txBody>
              <a:bodyPr/>
              <a:lstStyle/>
              <a:p>
                <a:r>
                  <a:rPr lang="zh-CN" altLang="en-US">
                    <a:noFill/>
                  </a:rPr>
                  <a:t> </a:t>
                </a:r>
              </a:p>
            </p:txBody>
          </p:sp>
        </mc:Fallback>
      </mc:AlternateContent>
      <p:sp>
        <p:nvSpPr>
          <p:cNvPr id="14" name="TextBox 13"/>
          <p:cNvSpPr txBox="1"/>
          <p:nvPr/>
        </p:nvSpPr>
        <p:spPr>
          <a:xfrm>
            <a:off x="6665976" y="3621024"/>
            <a:ext cx="4572000" cy="126187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50" b="1">
                <a:solidFill>
                  <a:srgbClr val="173042"/>
                </a:solidFill>
                <a:latin typeface="Arial"/>
              </a:rPr>
              <a:t>A better coefficient fit cannot overcome a fundamentally unsuitable function family.</a:t>
            </a:r>
          </a:p>
        </p:txBody>
      </p:sp>
      <p:sp>
        <p:nvSpPr>
          <p:cNvPr id="15" name="Rounded Rectangle 14"/>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The baseline shows what is gained by changing representation, not merely adding parameters.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03 • CASE 1 — PEAKS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Restrict the search to a finite dictionary</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24</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Sparse-library principle: [3]. This experiment fits a static function, not dynamical equations.</a:t>
            </a:r>
          </a:p>
        </p:txBody>
      </p:sp>
      <p:sp>
        <p:nvSpPr>
          <p:cNvPr id="9" name="Rounded Rectangle 8"/>
          <p:cNvSpPr/>
          <p:nvPr/>
        </p:nvSpPr>
        <p:spPr>
          <a:xfrm>
            <a:off x="694944" y="1764792"/>
            <a:ext cx="10817352" cy="125272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96112" y="1874519"/>
            <a:ext cx="10415016"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CANDIDATE FUNCTION</a:t>
            </a:r>
          </a:p>
        </p:txBody>
      </p:sp>
      <mc:AlternateContent xmlns:mc="http://schemas.openxmlformats.org/markup-compatibility/2006">
        <mc:Choice xmlns:a14="http://schemas.microsoft.com/office/drawing/2010/main" Requires="a14">
          <p:sp>
            <p:nvSpPr>
              <p:cNvPr id="11" name="Equation 031" descr="\phi_{pquv}(x,y)=x^py^q\exp[-(x-u)^2-(y-v)^2]"/>
              <p:cNvSpPr txBox="1"/>
              <p:nvPr/>
            </p:nvSpPr>
            <p:spPr>
              <a:xfrm>
                <a:off x="2387367" y="2325216"/>
                <a:ext cx="7432504" cy="461062"/>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sSub>
                        <m:sSubPr>
                          <m:ctrlPr>
                            <a:rPr lang="en-GB" sz="3100">
                              <a:latin typeface="Cambria Math" panose="02040503050406030204" pitchFamily="18" charset="0"/>
                            </a:rPr>
                          </m:ctrlPr>
                        </m:sSubPr>
                        <m:e>
                          <m:r>
                            <a:rPr lang="en-GB" sz="3100">
                              <a:latin typeface="Cambria Math"/>
                            </a:rPr>
                            <m:t>𝜙</m:t>
                          </m:r>
                        </m:e>
                        <m:sub>
                          <m:r>
                            <a:rPr lang="en-GB" sz="3100">
                              <a:latin typeface="Cambria Math"/>
                            </a:rPr>
                            <m:t>𝑝𝑞𝑢𝑣</m:t>
                          </m:r>
                        </m:sub>
                      </m:sSub>
                      <m:d>
                        <m:dPr>
                          <m:ctrlPr>
                            <a:rPr lang="en-GB" sz="3100" i="1">
                              <a:latin typeface="Cambria Math" panose="02040503050406030204" pitchFamily="18" charset="0"/>
                            </a:rPr>
                          </m:ctrlPr>
                        </m:dPr>
                        <m:e>
                          <m:r>
                            <a:rPr lang="en-GB" sz="3100">
                              <a:latin typeface="Cambria Math"/>
                            </a:rPr>
                            <m:t>𝑥</m:t>
                          </m:r>
                          <m:r>
                            <a:rPr lang="en-GB" sz="3100" i="0">
                              <a:latin typeface="Cambria Math"/>
                            </a:rPr>
                            <m:t>,</m:t>
                          </m:r>
                          <m:r>
                            <a:rPr lang="en-GB" sz="3100">
                              <a:latin typeface="Cambria Math"/>
                            </a:rPr>
                            <m:t>𝑦</m:t>
                          </m:r>
                        </m:e>
                      </m:d>
                      <m:r>
                        <a:rPr lang="en-GB" sz="3100" i="0">
                          <a:latin typeface="Cambria Math"/>
                        </a:rPr>
                        <m:t>=</m:t>
                      </m:r>
                      <m:sSup>
                        <m:sSupPr>
                          <m:ctrlPr>
                            <a:rPr lang="en-GB" sz="3100" i="1">
                              <a:latin typeface="Cambria Math" panose="02040503050406030204" pitchFamily="18" charset="0"/>
                            </a:rPr>
                          </m:ctrlPr>
                        </m:sSupPr>
                        <m:e>
                          <m:r>
                            <a:rPr lang="en-GB" sz="3100">
                              <a:latin typeface="Cambria Math"/>
                            </a:rPr>
                            <m:t>𝑥</m:t>
                          </m:r>
                        </m:e>
                        <m:sup>
                          <m:r>
                            <a:rPr lang="en-GB" sz="3100">
                              <a:latin typeface="Cambria Math"/>
                            </a:rPr>
                            <m:t>𝑝</m:t>
                          </m:r>
                        </m:sup>
                      </m:sSup>
                      <m:sSup>
                        <m:sSupPr>
                          <m:ctrlPr>
                            <a:rPr lang="en-GB" sz="3100" i="1">
                              <a:latin typeface="Cambria Math" panose="02040503050406030204" pitchFamily="18" charset="0"/>
                            </a:rPr>
                          </m:ctrlPr>
                        </m:sSupPr>
                        <m:e>
                          <m:r>
                            <a:rPr lang="en-GB" sz="3100">
                              <a:latin typeface="Cambria Math"/>
                            </a:rPr>
                            <m:t>𝑦</m:t>
                          </m:r>
                        </m:e>
                        <m:sup>
                          <m:r>
                            <a:rPr lang="en-GB" sz="3100">
                              <a:latin typeface="Cambria Math"/>
                            </a:rPr>
                            <m:t>𝑞</m:t>
                          </m:r>
                        </m:sup>
                      </m:sSup>
                      <m:r>
                        <m:rPr>
                          <m:sty m:val="p"/>
                        </m:rPr>
                        <a:rPr lang="en-GB" sz="3100" i="0">
                          <a:latin typeface="Cambria Math"/>
                        </a:rPr>
                        <m:t>exp</m:t>
                      </m:r>
                      <m:d>
                        <m:dPr>
                          <m:begChr m:val="["/>
                          <m:endChr m:val="]"/>
                          <m:ctrlPr>
                            <a:rPr lang="en-GB" sz="3100" i="1">
                              <a:latin typeface="Cambria Math" panose="02040503050406030204" pitchFamily="18" charset="0"/>
                            </a:rPr>
                          </m:ctrlPr>
                        </m:dPr>
                        <m:e>
                          <m:r>
                            <a:rPr lang="en-GB" sz="3100" i="0">
                              <a:latin typeface="Cambria Math"/>
                            </a:rPr>
                            <m:t>−</m:t>
                          </m:r>
                          <m:sSup>
                            <m:sSupPr>
                              <m:ctrlPr>
                                <a:rPr lang="en-GB" sz="3100" i="1">
                                  <a:latin typeface="Cambria Math" panose="02040503050406030204" pitchFamily="18" charset="0"/>
                                </a:rPr>
                              </m:ctrlPr>
                            </m:sSupPr>
                            <m:e>
                              <m:d>
                                <m:dPr>
                                  <m:ctrlPr>
                                    <a:rPr lang="en-GB" sz="3100" i="1">
                                      <a:latin typeface="Cambria Math" panose="02040503050406030204" pitchFamily="18" charset="0"/>
                                    </a:rPr>
                                  </m:ctrlPr>
                                </m:dPr>
                                <m:e>
                                  <m:r>
                                    <a:rPr lang="en-GB" sz="3100">
                                      <a:latin typeface="Cambria Math"/>
                                    </a:rPr>
                                    <m:t>𝑥</m:t>
                                  </m:r>
                                  <m:r>
                                    <a:rPr lang="en-GB" sz="3100" i="0">
                                      <a:latin typeface="Cambria Math"/>
                                    </a:rPr>
                                    <m:t>−</m:t>
                                  </m:r>
                                  <m:r>
                                    <a:rPr lang="en-GB" sz="3100">
                                      <a:latin typeface="Cambria Math"/>
                                    </a:rPr>
                                    <m:t>𝑢</m:t>
                                  </m:r>
                                </m:e>
                              </m:d>
                            </m:e>
                            <m:sup>
                              <m:r>
                                <a:rPr lang="en-GB" sz="3100">
                                  <a:latin typeface="Cambria Math"/>
                                </a:rPr>
                                <m:t>2</m:t>
                              </m:r>
                            </m:sup>
                          </m:sSup>
                          <m:r>
                            <a:rPr lang="en-GB" sz="3100" i="0">
                              <a:latin typeface="Cambria Math"/>
                            </a:rPr>
                            <m:t>−</m:t>
                          </m:r>
                          <m:sSup>
                            <m:sSupPr>
                              <m:ctrlPr>
                                <a:rPr lang="en-GB" sz="3100" i="1">
                                  <a:latin typeface="Cambria Math" panose="02040503050406030204" pitchFamily="18" charset="0"/>
                                </a:rPr>
                              </m:ctrlPr>
                            </m:sSupPr>
                            <m:e>
                              <m:d>
                                <m:dPr>
                                  <m:ctrlPr>
                                    <a:rPr lang="en-GB" sz="3100" i="1">
                                      <a:latin typeface="Cambria Math" panose="02040503050406030204" pitchFamily="18" charset="0"/>
                                    </a:rPr>
                                  </m:ctrlPr>
                                </m:dPr>
                                <m:e>
                                  <m:r>
                                    <a:rPr lang="en-GB" sz="3100">
                                      <a:latin typeface="Cambria Math"/>
                                    </a:rPr>
                                    <m:t>𝑦</m:t>
                                  </m:r>
                                  <m:r>
                                    <a:rPr lang="en-GB" sz="3100" i="0">
                                      <a:latin typeface="Cambria Math"/>
                                    </a:rPr>
                                    <m:t>−</m:t>
                                  </m:r>
                                  <m:r>
                                    <a:rPr lang="en-GB" sz="3100">
                                      <a:latin typeface="Cambria Math"/>
                                    </a:rPr>
                                    <m:t>𝑣</m:t>
                                  </m:r>
                                </m:e>
                              </m:d>
                            </m:e>
                            <m:sup>
                              <m:r>
                                <a:rPr lang="en-GB" sz="3100">
                                  <a:latin typeface="Cambria Math"/>
                                </a:rPr>
                                <m:t>2</m:t>
                              </m:r>
                            </m:sup>
                          </m:sSup>
                        </m:e>
                      </m:d>
                    </m:oMath>
                  </m:oMathPara>
                </a14:m>
                <a:endParaRPr/>
              </a:p>
            </p:txBody>
          </p:sp>
        </mc:Choice>
        <mc:Fallback>
          <p:sp>
            <p:nvSpPr>
              <p:cNvPr id="11" name="Equation 031" descr="\phi_{pquv}(x,y)=x^py^q\exp[-(x-u)^2-(y-v)^2]"/>
              <p:cNvSpPr txBox="1">
                <a:spLocks noRot="1" noChangeAspect="1" noMove="1" noResize="1" noEditPoints="1" noAdjustHandles="1" noChangeArrowheads="1" noChangeShapeType="1" noTextEdit="1"/>
              </p:cNvSpPr>
              <p:nvPr/>
            </p:nvSpPr>
            <p:spPr>
              <a:xfrm>
                <a:off x="2387367" y="2325216"/>
                <a:ext cx="7432504" cy="461062"/>
              </a:xfrm>
              <a:prstGeom prst="rect">
                <a:avLst/>
              </a:prstGeom>
              <a:blipFill>
                <a:blip r:embed="rId3"/>
                <a:stretch>
                  <a:fillRect l="-5461" t="-2632" r="-1195" b="-31579"/>
                </a:stretch>
              </a:blipFill>
              <a:effectLst/>
            </p:spPr>
            <p:txBody>
              <a:bodyPr/>
              <a:lstStyle/>
              <a:p>
                <a:r>
                  <a:rPr lang="zh-CN" altLang="en-US">
                    <a:noFill/>
                  </a:rPr>
                  <a:t> </a:t>
                </a:r>
              </a:p>
            </p:txBody>
          </p:sp>
        </mc:Fallback>
      </mc:AlternateContent>
      <p:sp>
        <p:nvSpPr>
          <p:cNvPr id="12" name="Rounded Rectangle 11"/>
          <p:cNvSpPr/>
          <p:nvPr/>
        </p:nvSpPr>
        <p:spPr>
          <a:xfrm>
            <a:off x="694944" y="3319272"/>
            <a:ext cx="10817352" cy="1005840"/>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3" name="Equation 032" descr="p,q\geq0,\quad p+q\leq5,\quad u,v\in\{-1,0,1\}"/>
              <p:cNvSpPr txBox="1"/>
              <p:nvPr/>
            </p:nvSpPr>
            <p:spPr>
              <a:xfrm>
                <a:off x="2965501" y="3638042"/>
                <a:ext cx="6276237" cy="368300"/>
              </a:xfrm>
              <a:prstGeom prst="rect">
                <a:avLst/>
              </a:prstGeom>
              <a:noFill/>
              <a:effectLst/>
            </p:spPr>
            <p:txBody>
              <a:bodyPr wrap="none" lIns="0" tIns="0" rIns="0" bIns="0" anchor="ctr">
                <a:noAutofit/>
              </a:bodyPr>
              <a:lstStyle/>
              <a:p>
                <a:pPr algn="ctr">
                  <a:spcBef>
                    <a:spcPts val="0"/>
                  </a:spcBef>
                  <a:spcAft>
                    <a:spcPts val="0"/>
                  </a:spcAft>
                  <a:defRPr sz="2900">
                    <a:latin typeface="Cambria Math"/>
                  </a:defRPr>
                </a:pPr>
                <a14:m>
                  <m:oMathPara xmlns:m="http://schemas.openxmlformats.org/officeDocument/2006/math">
                    <m:oMathParaPr>
                      <m:jc m:val="center"/>
                    </m:oMathParaPr>
                    <m:oMath xmlns:m="http://schemas.openxmlformats.org/officeDocument/2006/math">
                      <m:r>
                        <a:rPr lang="en-GB" sz="2900">
                          <a:latin typeface="Cambria Math"/>
                        </a:rPr>
                        <m:t>𝑝</m:t>
                      </m:r>
                      <m:r>
                        <a:rPr lang="en-GB" sz="2900" i="0">
                          <a:latin typeface="Cambria Math"/>
                        </a:rPr>
                        <m:t>,</m:t>
                      </m:r>
                      <m:r>
                        <a:rPr lang="en-GB" sz="2900">
                          <a:latin typeface="Cambria Math"/>
                        </a:rPr>
                        <m:t>𝑞</m:t>
                      </m:r>
                      <m:r>
                        <a:rPr lang="en-GB" sz="2900" i="0">
                          <a:latin typeface="Cambria Math"/>
                        </a:rPr>
                        <m:t>≥</m:t>
                      </m:r>
                      <m:r>
                        <a:rPr lang="en-GB" sz="2900">
                          <a:latin typeface="Cambria Math"/>
                        </a:rPr>
                        <m:t>0</m:t>
                      </m:r>
                      <m:r>
                        <a:rPr lang="en-GB" sz="2900" i="0">
                          <a:latin typeface="Cambria Math"/>
                        </a:rPr>
                        <m:t>,</m:t>
                      </m:r>
                      <m:r>
                        <a:rPr lang="en-GB" sz="2900">
                          <a:latin typeface="Cambria Math"/>
                        </a:rPr>
                        <m:t> </m:t>
                      </m:r>
                      <m:r>
                        <a:rPr lang="en-GB" sz="2900">
                          <a:latin typeface="Cambria Math"/>
                        </a:rPr>
                        <m:t>𝑝</m:t>
                      </m:r>
                      <m:r>
                        <a:rPr lang="en-GB" sz="2900" i="0">
                          <a:latin typeface="Cambria Math"/>
                        </a:rPr>
                        <m:t>+</m:t>
                      </m:r>
                      <m:r>
                        <a:rPr lang="en-GB" sz="2900">
                          <a:latin typeface="Cambria Math"/>
                        </a:rPr>
                        <m:t>𝑞</m:t>
                      </m:r>
                      <m:r>
                        <a:rPr lang="en-GB" sz="2900" i="0">
                          <a:latin typeface="Cambria Math"/>
                        </a:rPr>
                        <m:t>≤</m:t>
                      </m:r>
                      <m:r>
                        <a:rPr lang="en-GB" sz="2900">
                          <a:latin typeface="Cambria Math"/>
                        </a:rPr>
                        <m:t>5</m:t>
                      </m:r>
                      <m:r>
                        <a:rPr lang="en-GB" sz="2900" i="0">
                          <a:latin typeface="Cambria Math"/>
                        </a:rPr>
                        <m:t>,</m:t>
                      </m:r>
                      <m:r>
                        <a:rPr lang="en-GB" sz="2900">
                          <a:latin typeface="Cambria Math"/>
                        </a:rPr>
                        <m:t> </m:t>
                      </m:r>
                      <m:r>
                        <a:rPr lang="en-GB" sz="2900">
                          <a:latin typeface="Cambria Math"/>
                        </a:rPr>
                        <m:t>𝑢</m:t>
                      </m:r>
                      <m:r>
                        <a:rPr lang="en-GB" sz="2900" i="0">
                          <a:latin typeface="Cambria Math"/>
                        </a:rPr>
                        <m:t>,</m:t>
                      </m:r>
                      <m:r>
                        <a:rPr lang="en-GB" sz="2900">
                          <a:latin typeface="Cambria Math"/>
                        </a:rPr>
                        <m:t>𝑣</m:t>
                      </m:r>
                      <m:r>
                        <a:rPr lang="en-GB" sz="2900" i="0">
                          <a:latin typeface="Cambria Math"/>
                        </a:rPr>
                        <m:t>∈{−</m:t>
                      </m:r>
                      <m:r>
                        <a:rPr lang="en-GB" sz="2900">
                          <a:latin typeface="Cambria Math"/>
                        </a:rPr>
                        <m:t>1</m:t>
                      </m:r>
                      <m:r>
                        <a:rPr lang="en-GB" sz="2900" i="0">
                          <a:latin typeface="Cambria Math"/>
                        </a:rPr>
                        <m:t>,</m:t>
                      </m:r>
                      <m:r>
                        <a:rPr lang="en-GB" sz="2900">
                          <a:latin typeface="Cambria Math"/>
                        </a:rPr>
                        <m:t>0</m:t>
                      </m:r>
                      <m:r>
                        <a:rPr lang="en-GB" sz="2900" i="0">
                          <a:latin typeface="Cambria Math"/>
                        </a:rPr>
                        <m:t>,</m:t>
                      </m:r>
                      <m:r>
                        <a:rPr lang="en-GB" sz="2900">
                          <a:latin typeface="Cambria Math"/>
                        </a:rPr>
                        <m:t>1</m:t>
                      </m:r>
                      <m:r>
                        <a:rPr lang="en-GB" sz="2900" i="0">
                          <a:latin typeface="Cambria Math"/>
                        </a:rPr>
                        <m:t>}</m:t>
                      </m:r>
                    </m:oMath>
                  </m:oMathPara>
                </a14:m>
                <a:endParaRPr/>
              </a:p>
            </p:txBody>
          </p:sp>
        </mc:Choice>
        <mc:Fallback>
          <p:sp>
            <p:nvSpPr>
              <p:cNvPr id="13" name="Equation 032" descr="p,q\geq0,\quad p+q\leq5,\quad u,v\in\{-1,0,1\}"/>
              <p:cNvSpPr txBox="1">
                <a:spLocks noRot="1" noChangeAspect="1" noMove="1" noResize="1" noEditPoints="1" noAdjustHandles="1" noChangeArrowheads="1" noChangeShapeType="1" noTextEdit="1"/>
              </p:cNvSpPr>
              <p:nvPr/>
            </p:nvSpPr>
            <p:spPr>
              <a:xfrm>
                <a:off x="2965501" y="3638042"/>
                <a:ext cx="6276237" cy="368300"/>
              </a:xfrm>
              <a:prstGeom prst="rect">
                <a:avLst/>
              </a:prstGeom>
              <a:blipFill>
                <a:blip r:embed="rId4"/>
                <a:stretch>
                  <a:fillRect l="-1414" t="-20000" r="-808" b="-53333"/>
                </a:stretch>
              </a:blipFill>
              <a:effectLst/>
            </p:spPr>
            <p:txBody>
              <a:bodyPr/>
              <a:lstStyle/>
              <a:p>
                <a:r>
                  <a:rPr lang="zh-CN" altLang="en-US">
                    <a:noFill/>
                  </a:rPr>
                  <a:t> </a:t>
                </a:r>
              </a:p>
            </p:txBody>
          </p:sp>
        </mc:Fallback>
      </mc:AlternateContent>
      <p:sp>
        <p:nvSpPr>
          <p:cNvPr id="14" name="TextBox 13"/>
          <p:cNvSpPr txBox="1"/>
          <p:nvPr/>
        </p:nvSpPr>
        <p:spPr>
          <a:xfrm>
            <a:off x="1152144" y="4663440"/>
            <a:ext cx="2103120" cy="621792"/>
          </a:xfrm>
          <a:prstGeom prst="rect">
            <a:avLst/>
          </a:prstGeom>
          <a:noFill/>
          <a:effectLst/>
        </p:spPr>
        <p:txBody>
          <a:bodyPr wrap="square" lIns="0" tIns="0" rIns="0" bIns="0" anchor="t">
            <a:noAutofit/>
          </a:bodyPr>
          <a:lstStyle/>
          <a:p>
            <a:pPr algn="ctr">
              <a:lnSpc>
                <a:spcPct val="113000"/>
              </a:lnSpc>
              <a:spcBef>
                <a:spcPts val="0"/>
              </a:spcBef>
              <a:spcAft>
                <a:spcPts val="0"/>
              </a:spcAft>
            </a:pPr>
            <a:r>
              <a:rPr lang="en-GB" sz="3600" b="1">
                <a:solidFill>
                  <a:srgbClr val="24777A"/>
                </a:solidFill>
                <a:latin typeface="Arial"/>
              </a:rPr>
              <a:t>21</a:t>
            </a:r>
          </a:p>
        </p:txBody>
      </p:sp>
      <p:sp>
        <p:nvSpPr>
          <p:cNvPr id="15" name="TextBox 14"/>
          <p:cNvSpPr txBox="1"/>
          <p:nvPr/>
        </p:nvSpPr>
        <p:spPr>
          <a:xfrm>
            <a:off x="795528" y="5376672"/>
            <a:ext cx="2862072" cy="429768"/>
          </a:xfrm>
          <a:prstGeom prst="rect">
            <a:avLst/>
          </a:prstGeom>
          <a:noFill/>
          <a:effectLst/>
        </p:spPr>
        <p:txBody>
          <a:bodyPr wrap="square" lIns="0" tIns="0" rIns="0" bIns="0" anchor="t">
            <a:noAutofit/>
          </a:bodyPr>
          <a:lstStyle/>
          <a:p>
            <a:pPr algn="ctr">
              <a:lnSpc>
                <a:spcPct val="113000"/>
              </a:lnSpc>
              <a:spcBef>
                <a:spcPts val="0"/>
              </a:spcBef>
              <a:spcAft>
                <a:spcPts val="0"/>
              </a:spcAft>
            </a:pPr>
            <a:r>
              <a:rPr lang="en-GB" sz="2000" b="0">
                <a:solidFill>
                  <a:srgbClr val="173042"/>
                </a:solidFill>
                <a:latin typeface="Arial"/>
              </a:rPr>
              <a:t>polynomial factors</a:t>
            </a:r>
          </a:p>
        </p:txBody>
      </p:sp>
      <p:sp>
        <p:nvSpPr>
          <p:cNvPr id="16" name="TextBox 15"/>
          <p:cNvSpPr txBox="1"/>
          <p:nvPr/>
        </p:nvSpPr>
        <p:spPr>
          <a:xfrm>
            <a:off x="3739896" y="4718304"/>
            <a:ext cx="512064" cy="457200"/>
          </a:xfrm>
          <a:prstGeom prst="rect">
            <a:avLst/>
          </a:prstGeom>
          <a:noFill/>
          <a:effectLst/>
        </p:spPr>
        <p:txBody>
          <a:bodyPr wrap="square" lIns="0" tIns="0" rIns="0" bIns="0" anchor="t">
            <a:noAutofit/>
          </a:bodyPr>
          <a:lstStyle/>
          <a:p>
            <a:pPr algn="ctr">
              <a:lnSpc>
                <a:spcPct val="113000"/>
              </a:lnSpc>
              <a:spcBef>
                <a:spcPts val="0"/>
              </a:spcBef>
              <a:spcAft>
                <a:spcPts val="0"/>
              </a:spcAft>
            </a:pPr>
            <a:r>
              <a:rPr lang="en-GB" sz="2900" b="1">
                <a:solidFill>
                  <a:srgbClr val="173042"/>
                </a:solidFill>
                <a:latin typeface="Arial"/>
              </a:rPr>
              <a:t>×</a:t>
            </a:r>
          </a:p>
        </p:txBody>
      </p:sp>
      <p:sp>
        <p:nvSpPr>
          <p:cNvPr id="17" name="TextBox 16"/>
          <p:cNvSpPr txBox="1"/>
          <p:nvPr/>
        </p:nvSpPr>
        <p:spPr>
          <a:xfrm>
            <a:off x="4946904" y="4663440"/>
            <a:ext cx="2103120" cy="621792"/>
          </a:xfrm>
          <a:prstGeom prst="rect">
            <a:avLst/>
          </a:prstGeom>
          <a:noFill/>
          <a:effectLst/>
        </p:spPr>
        <p:txBody>
          <a:bodyPr wrap="square" lIns="0" tIns="0" rIns="0" bIns="0" anchor="t">
            <a:noAutofit/>
          </a:bodyPr>
          <a:lstStyle/>
          <a:p>
            <a:pPr algn="ctr">
              <a:lnSpc>
                <a:spcPct val="113000"/>
              </a:lnSpc>
              <a:spcBef>
                <a:spcPts val="0"/>
              </a:spcBef>
              <a:spcAft>
                <a:spcPts val="0"/>
              </a:spcAft>
            </a:pPr>
            <a:r>
              <a:rPr lang="en-GB" sz="3600" b="1">
                <a:solidFill>
                  <a:srgbClr val="24777A"/>
                </a:solidFill>
                <a:latin typeface="Arial"/>
              </a:rPr>
              <a:t>9</a:t>
            </a:r>
          </a:p>
        </p:txBody>
      </p:sp>
      <p:sp>
        <p:nvSpPr>
          <p:cNvPr id="18" name="TextBox 17"/>
          <p:cNvSpPr txBox="1"/>
          <p:nvPr/>
        </p:nvSpPr>
        <p:spPr>
          <a:xfrm>
            <a:off x="4517136" y="5376672"/>
            <a:ext cx="3127248" cy="429768"/>
          </a:xfrm>
          <a:prstGeom prst="rect">
            <a:avLst/>
          </a:prstGeom>
          <a:noFill/>
          <a:effectLst/>
        </p:spPr>
        <p:txBody>
          <a:bodyPr wrap="square" lIns="0" tIns="0" rIns="0" bIns="0" anchor="t">
            <a:noAutofit/>
          </a:bodyPr>
          <a:lstStyle/>
          <a:p>
            <a:pPr algn="ctr">
              <a:lnSpc>
                <a:spcPct val="113000"/>
              </a:lnSpc>
              <a:spcBef>
                <a:spcPts val="0"/>
              </a:spcBef>
              <a:spcAft>
                <a:spcPts val="0"/>
              </a:spcAft>
            </a:pPr>
            <a:r>
              <a:rPr lang="en-GB" sz="2000" b="0">
                <a:solidFill>
                  <a:srgbClr val="173042"/>
                </a:solidFill>
                <a:latin typeface="Arial"/>
              </a:rPr>
              <a:t>specified Gaussian centres</a:t>
            </a:r>
          </a:p>
        </p:txBody>
      </p:sp>
      <p:sp>
        <p:nvSpPr>
          <p:cNvPr id="19" name="TextBox 18"/>
          <p:cNvSpPr txBox="1"/>
          <p:nvPr/>
        </p:nvSpPr>
        <p:spPr>
          <a:xfrm>
            <a:off x="7927848" y="4718304"/>
            <a:ext cx="512064" cy="457200"/>
          </a:xfrm>
          <a:prstGeom prst="rect">
            <a:avLst/>
          </a:prstGeom>
          <a:noFill/>
          <a:effectLst/>
        </p:spPr>
        <p:txBody>
          <a:bodyPr wrap="square" lIns="0" tIns="0" rIns="0" bIns="0" anchor="t">
            <a:noAutofit/>
          </a:bodyPr>
          <a:lstStyle/>
          <a:p>
            <a:pPr algn="ctr">
              <a:lnSpc>
                <a:spcPct val="113000"/>
              </a:lnSpc>
              <a:spcBef>
                <a:spcPts val="0"/>
              </a:spcBef>
              <a:spcAft>
                <a:spcPts val="0"/>
              </a:spcAft>
            </a:pPr>
            <a:r>
              <a:rPr lang="en-GB" sz="2900" b="1">
                <a:solidFill>
                  <a:srgbClr val="173042"/>
                </a:solidFill>
                <a:latin typeface="Arial"/>
              </a:rPr>
              <a:t>=</a:t>
            </a:r>
          </a:p>
        </p:txBody>
      </p:sp>
      <p:sp>
        <p:nvSpPr>
          <p:cNvPr id="20" name="TextBox 19"/>
          <p:cNvSpPr txBox="1"/>
          <p:nvPr/>
        </p:nvSpPr>
        <p:spPr>
          <a:xfrm>
            <a:off x="9116568" y="4663440"/>
            <a:ext cx="2103120" cy="621792"/>
          </a:xfrm>
          <a:prstGeom prst="rect">
            <a:avLst/>
          </a:prstGeom>
          <a:noFill/>
          <a:effectLst/>
        </p:spPr>
        <p:txBody>
          <a:bodyPr wrap="square" lIns="0" tIns="0" rIns="0" bIns="0" anchor="t">
            <a:noAutofit/>
          </a:bodyPr>
          <a:lstStyle/>
          <a:p>
            <a:pPr algn="ctr">
              <a:lnSpc>
                <a:spcPct val="113000"/>
              </a:lnSpc>
              <a:spcBef>
                <a:spcPts val="0"/>
              </a:spcBef>
              <a:spcAft>
                <a:spcPts val="0"/>
              </a:spcAft>
            </a:pPr>
            <a:r>
              <a:rPr lang="en-GB" sz="3600" b="1">
                <a:solidFill>
                  <a:srgbClr val="24777A"/>
                </a:solidFill>
                <a:latin typeface="Arial"/>
              </a:rPr>
              <a:t>189</a:t>
            </a:r>
          </a:p>
        </p:txBody>
      </p:sp>
      <p:sp>
        <p:nvSpPr>
          <p:cNvPr id="21" name="TextBox 20"/>
          <p:cNvSpPr txBox="1"/>
          <p:nvPr/>
        </p:nvSpPr>
        <p:spPr>
          <a:xfrm>
            <a:off x="8686800" y="5376672"/>
            <a:ext cx="2843784" cy="429768"/>
          </a:xfrm>
          <a:prstGeom prst="rect">
            <a:avLst/>
          </a:prstGeom>
          <a:noFill/>
          <a:effectLst/>
        </p:spPr>
        <p:txBody>
          <a:bodyPr wrap="square" lIns="0" tIns="0" rIns="0" bIns="0" anchor="t">
            <a:noAutofit/>
          </a:bodyPr>
          <a:lstStyle/>
          <a:p>
            <a:pPr algn="ctr">
              <a:lnSpc>
                <a:spcPct val="113000"/>
              </a:lnSpc>
              <a:spcBef>
                <a:spcPts val="0"/>
              </a:spcBef>
              <a:spcAft>
                <a:spcPts val="0"/>
              </a:spcAft>
            </a:pPr>
            <a:r>
              <a:rPr lang="en-GB" sz="2000" b="0">
                <a:solidFill>
                  <a:srgbClr val="173042"/>
                </a:solidFill>
                <a:latin typeface="Arial"/>
              </a:rPr>
              <a:t>candidate terms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03 • CASE 1 — PEAKS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Turn the dictionary into a regression matrix</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25</a:t>
            </a:r>
          </a:p>
        </p:txBody>
      </p:sp>
      <p:sp>
        <p:nvSpPr>
          <p:cNvPr id="8" name="Rounded Rectangle 7"/>
          <p:cNvSpPr/>
          <p:nvPr/>
        </p:nvSpPr>
        <p:spPr>
          <a:xfrm>
            <a:off x="740664" y="1783080"/>
            <a:ext cx="10671048" cy="193852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941832" y="1892807"/>
            <a:ext cx="10268712"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EVALUATE EVERY CANDIDATE AT EVERY TRAINING POINT</a:t>
            </a:r>
          </a:p>
        </p:txBody>
      </p:sp>
      <mc:AlternateContent xmlns:mc="http://schemas.openxmlformats.org/markup-compatibility/2006">
        <mc:Choice xmlns:a14="http://schemas.microsoft.com/office/drawing/2010/main" Requires="a14">
          <p:sp>
            <p:nvSpPr>
              <p:cNvPr id="10" name="Equation 033" descr="\boldsymbol{\Phi}=\begin{bmatrix}\phi_1(x_1,y_1)&amp;\cdots&amp;\phi_{189}(x_1,y_1)\\\vdots&amp;\ddots&amp;\vdots\\\phi_1(x_{600},y_{600})&amp;\cdots&amp;\phi_{189}(x_{600},y_{600})\end{bmatrix}"/>
              <p:cNvSpPr txBox="1"/>
              <p:nvPr/>
            </p:nvSpPr>
            <p:spPr>
              <a:xfrm>
                <a:off x="3233045" y="2221991"/>
                <a:ext cx="5686284" cy="1389888"/>
              </a:xfrm>
              <a:prstGeom prst="rect">
                <a:avLst/>
              </a:prstGeom>
              <a:noFill/>
              <a:effectLst/>
            </p:spPr>
            <p:txBody>
              <a:bodyPr wrap="none" lIns="0" tIns="0" rIns="0" bIns="0" anchor="ctr">
                <a:noAutofit/>
              </a:bodyPr>
              <a:lstStyle/>
              <a:p>
                <a:pPr algn="ctr">
                  <a:spcBef>
                    <a:spcPts val="0"/>
                  </a:spcBef>
                  <a:spcAft>
                    <a:spcPts val="0"/>
                  </a:spcAft>
                  <a:defRPr sz="2394">
                    <a:latin typeface="Cambria Math"/>
                  </a:defRPr>
                </a:pPr>
                <a14:m>
                  <m:oMathPara xmlns:m="http://schemas.openxmlformats.org/officeDocument/2006/math">
                    <m:oMathParaPr>
                      <m:jc m:val="center"/>
                    </m:oMathParaPr>
                    <m:oMath xmlns:m="http://schemas.openxmlformats.org/officeDocument/2006/math">
                      <m:r>
                        <a:rPr lang="en-GB" sz="2395" i="0">
                          <a:latin typeface="Cambria Math"/>
                        </a:rPr>
                        <m:t>𝚽</m:t>
                      </m:r>
                      <m:r>
                        <a:rPr lang="en-GB" sz="2395" i="0">
                          <a:latin typeface="Cambria Math"/>
                        </a:rPr>
                        <m:t>=</m:t>
                      </m:r>
                      <m:d>
                        <m:dPr>
                          <m:begChr m:val="["/>
                          <m:endChr m:val="]"/>
                          <m:ctrlPr>
                            <a:rPr lang="en-GB" sz="2395" i="1">
                              <a:latin typeface="Cambria Math" panose="02040503050406030204" pitchFamily="18" charset="0"/>
                            </a:rPr>
                          </m:ctrlPr>
                        </m:dPr>
                        <m:e>
                          <m:m>
                            <m:mPr>
                              <m:plcHide m:val="on"/>
                              <m:mcs>
                                <m:mc>
                                  <m:mcPr>
                                    <m:count m:val="3"/>
                                    <m:mcJc m:val="center"/>
                                  </m:mcPr>
                                </m:mc>
                              </m:mcs>
                              <m:ctrlPr>
                                <a:rPr lang="en-GB" sz="2395" i="1">
                                  <a:latin typeface="Cambria Math" panose="02040503050406030204" pitchFamily="18" charset="0"/>
                                </a:rPr>
                              </m:ctrlPr>
                            </m:mPr>
                            <m:mr>
                              <m:e>
                                <m:sSub>
                                  <m:sSubPr>
                                    <m:ctrlPr>
                                      <a:rPr lang="en-GB" sz="2395" i="1">
                                        <a:latin typeface="Cambria Math" panose="02040503050406030204" pitchFamily="18" charset="0"/>
                                      </a:rPr>
                                    </m:ctrlPr>
                                  </m:sSubPr>
                                  <m:e>
                                    <m:r>
                                      <a:rPr lang="en-GB" sz="2395">
                                        <a:latin typeface="Cambria Math"/>
                                      </a:rPr>
                                      <m:t>𝜙</m:t>
                                    </m:r>
                                  </m:e>
                                  <m:sub>
                                    <m:r>
                                      <a:rPr lang="en-GB" sz="2395">
                                        <a:latin typeface="Cambria Math"/>
                                      </a:rPr>
                                      <m:t>1</m:t>
                                    </m:r>
                                  </m:sub>
                                </m:sSub>
                                <m:d>
                                  <m:dPr>
                                    <m:ctrlPr>
                                      <a:rPr lang="en-GB" sz="2395" i="1">
                                        <a:latin typeface="Cambria Math" panose="02040503050406030204" pitchFamily="18" charset="0"/>
                                      </a:rPr>
                                    </m:ctrlPr>
                                  </m:dPr>
                                  <m:e>
                                    <m:sSub>
                                      <m:sSubPr>
                                        <m:ctrlPr>
                                          <a:rPr lang="en-GB" sz="2395" i="1">
                                            <a:latin typeface="Cambria Math" panose="02040503050406030204" pitchFamily="18" charset="0"/>
                                          </a:rPr>
                                        </m:ctrlPr>
                                      </m:sSubPr>
                                      <m:e>
                                        <m:r>
                                          <a:rPr lang="en-GB" sz="2395">
                                            <a:latin typeface="Cambria Math"/>
                                          </a:rPr>
                                          <m:t>𝑥</m:t>
                                        </m:r>
                                      </m:e>
                                      <m:sub>
                                        <m:r>
                                          <a:rPr lang="en-GB" sz="2395">
                                            <a:latin typeface="Cambria Math"/>
                                          </a:rPr>
                                          <m:t>1</m:t>
                                        </m:r>
                                      </m:sub>
                                    </m:sSub>
                                    <m:r>
                                      <a:rPr lang="en-GB" sz="2395" i="0">
                                        <a:latin typeface="Cambria Math"/>
                                      </a:rPr>
                                      <m:t>,</m:t>
                                    </m:r>
                                    <m:sSub>
                                      <m:sSubPr>
                                        <m:ctrlPr>
                                          <a:rPr lang="en-GB" sz="2395" i="1">
                                            <a:latin typeface="Cambria Math" panose="02040503050406030204" pitchFamily="18" charset="0"/>
                                          </a:rPr>
                                        </m:ctrlPr>
                                      </m:sSubPr>
                                      <m:e>
                                        <m:r>
                                          <a:rPr lang="en-GB" sz="2395">
                                            <a:latin typeface="Cambria Math"/>
                                          </a:rPr>
                                          <m:t>𝑦</m:t>
                                        </m:r>
                                      </m:e>
                                      <m:sub>
                                        <m:r>
                                          <a:rPr lang="en-GB" sz="2395">
                                            <a:latin typeface="Cambria Math"/>
                                          </a:rPr>
                                          <m:t>1</m:t>
                                        </m:r>
                                      </m:sub>
                                    </m:sSub>
                                  </m:e>
                                </m:d>
                              </m:e>
                              <m:e>
                                <m:r>
                                  <a:rPr lang="en-GB" sz="2395" i="0">
                                    <a:latin typeface="Cambria Math"/>
                                  </a:rPr>
                                  <m:t>⋯</m:t>
                                </m:r>
                              </m:e>
                              <m:e>
                                <m:sSub>
                                  <m:sSubPr>
                                    <m:ctrlPr>
                                      <a:rPr lang="en-GB" sz="2395" i="1">
                                        <a:latin typeface="Cambria Math" panose="02040503050406030204" pitchFamily="18" charset="0"/>
                                      </a:rPr>
                                    </m:ctrlPr>
                                  </m:sSubPr>
                                  <m:e>
                                    <m:r>
                                      <a:rPr lang="en-GB" sz="2395">
                                        <a:latin typeface="Cambria Math"/>
                                      </a:rPr>
                                      <m:t>𝜙</m:t>
                                    </m:r>
                                  </m:e>
                                  <m:sub>
                                    <m:r>
                                      <a:rPr lang="en-GB" sz="2395">
                                        <a:latin typeface="Cambria Math"/>
                                      </a:rPr>
                                      <m:t>189</m:t>
                                    </m:r>
                                  </m:sub>
                                </m:sSub>
                                <m:d>
                                  <m:dPr>
                                    <m:ctrlPr>
                                      <a:rPr lang="en-GB" sz="2395" i="1">
                                        <a:latin typeface="Cambria Math" panose="02040503050406030204" pitchFamily="18" charset="0"/>
                                      </a:rPr>
                                    </m:ctrlPr>
                                  </m:dPr>
                                  <m:e>
                                    <m:sSub>
                                      <m:sSubPr>
                                        <m:ctrlPr>
                                          <a:rPr lang="en-GB" sz="2395" i="1">
                                            <a:latin typeface="Cambria Math" panose="02040503050406030204" pitchFamily="18" charset="0"/>
                                          </a:rPr>
                                        </m:ctrlPr>
                                      </m:sSubPr>
                                      <m:e>
                                        <m:r>
                                          <a:rPr lang="en-GB" sz="2395">
                                            <a:latin typeface="Cambria Math"/>
                                          </a:rPr>
                                          <m:t>𝑥</m:t>
                                        </m:r>
                                      </m:e>
                                      <m:sub>
                                        <m:r>
                                          <a:rPr lang="en-GB" sz="2395">
                                            <a:latin typeface="Cambria Math"/>
                                          </a:rPr>
                                          <m:t>1</m:t>
                                        </m:r>
                                      </m:sub>
                                    </m:sSub>
                                    <m:r>
                                      <a:rPr lang="en-GB" sz="2395" i="0">
                                        <a:latin typeface="Cambria Math"/>
                                      </a:rPr>
                                      <m:t>,</m:t>
                                    </m:r>
                                    <m:sSub>
                                      <m:sSubPr>
                                        <m:ctrlPr>
                                          <a:rPr lang="en-GB" sz="2395" i="1">
                                            <a:latin typeface="Cambria Math" panose="02040503050406030204" pitchFamily="18" charset="0"/>
                                          </a:rPr>
                                        </m:ctrlPr>
                                      </m:sSubPr>
                                      <m:e>
                                        <m:r>
                                          <a:rPr lang="en-GB" sz="2395">
                                            <a:latin typeface="Cambria Math"/>
                                          </a:rPr>
                                          <m:t>𝑦</m:t>
                                        </m:r>
                                      </m:e>
                                      <m:sub>
                                        <m:r>
                                          <a:rPr lang="en-GB" sz="2395">
                                            <a:latin typeface="Cambria Math"/>
                                          </a:rPr>
                                          <m:t>1</m:t>
                                        </m:r>
                                      </m:sub>
                                    </m:sSub>
                                  </m:e>
                                </m:d>
                              </m:e>
                            </m:mr>
                            <m:mr>
                              <m:e>
                                <m:r>
                                  <a:rPr lang="en-GB" sz="2395" i="0">
                                    <a:latin typeface="Cambria Math"/>
                                  </a:rPr>
                                  <m:t>⋮</m:t>
                                </m:r>
                              </m:e>
                              <m:e>
                                <m:r>
                                  <a:rPr lang="en-GB" sz="2395" i="0">
                                    <a:latin typeface="Cambria Math"/>
                                  </a:rPr>
                                  <m:t>⋱</m:t>
                                </m:r>
                              </m:e>
                              <m:e>
                                <m:r>
                                  <a:rPr lang="en-GB" sz="2395" i="0">
                                    <a:latin typeface="Cambria Math"/>
                                  </a:rPr>
                                  <m:t>⋮</m:t>
                                </m:r>
                              </m:e>
                            </m:mr>
                            <m:mr>
                              <m:e>
                                <m:sSub>
                                  <m:sSubPr>
                                    <m:ctrlPr>
                                      <a:rPr lang="en-GB" sz="2395" i="1">
                                        <a:latin typeface="Cambria Math" panose="02040503050406030204" pitchFamily="18" charset="0"/>
                                      </a:rPr>
                                    </m:ctrlPr>
                                  </m:sSubPr>
                                  <m:e>
                                    <m:r>
                                      <a:rPr lang="en-GB" sz="2395">
                                        <a:latin typeface="Cambria Math"/>
                                      </a:rPr>
                                      <m:t>𝜙</m:t>
                                    </m:r>
                                  </m:e>
                                  <m:sub>
                                    <m:r>
                                      <a:rPr lang="en-GB" sz="2395">
                                        <a:latin typeface="Cambria Math"/>
                                      </a:rPr>
                                      <m:t>1</m:t>
                                    </m:r>
                                  </m:sub>
                                </m:sSub>
                                <m:d>
                                  <m:dPr>
                                    <m:ctrlPr>
                                      <a:rPr lang="en-GB" sz="2395" i="1">
                                        <a:latin typeface="Cambria Math" panose="02040503050406030204" pitchFamily="18" charset="0"/>
                                      </a:rPr>
                                    </m:ctrlPr>
                                  </m:dPr>
                                  <m:e>
                                    <m:sSub>
                                      <m:sSubPr>
                                        <m:ctrlPr>
                                          <a:rPr lang="en-GB" sz="2395" i="1">
                                            <a:latin typeface="Cambria Math" panose="02040503050406030204" pitchFamily="18" charset="0"/>
                                          </a:rPr>
                                        </m:ctrlPr>
                                      </m:sSubPr>
                                      <m:e>
                                        <m:r>
                                          <a:rPr lang="en-GB" sz="2395">
                                            <a:latin typeface="Cambria Math"/>
                                          </a:rPr>
                                          <m:t>𝑥</m:t>
                                        </m:r>
                                      </m:e>
                                      <m:sub>
                                        <m:r>
                                          <a:rPr lang="en-GB" sz="2395">
                                            <a:latin typeface="Cambria Math"/>
                                          </a:rPr>
                                          <m:t>600</m:t>
                                        </m:r>
                                      </m:sub>
                                    </m:sSub>
                                    <m:r>
                                      <a:rPr lang="en-GB" sz="2395" i="0">
                                        <a:latin typeface="Cambria Math"/>
                                      </a:rPr>
                                      <m:t>,</m:t>
                                    </m:r>
                                    <m:sSub>
                                      <m:sSubPr>
                                        <m:ctrlPr>
                                          <a:rPr lang="en-GB" sz="2395" i="1">
                                            <a:latin typeface="Cambria Math" panose="02040503050406030204" pitchFamily="18" charset="0"/>
                                          </a:rPr>
                                        </m:ctrlPr>
                                      </m:sSubPr>
                                      <m:e>
                                        <m:r>
                                          <a:rPr lang="en-GB" sz="2395">
                                            <a:latin typeface="Cambria Math"/>
                                          </a:rPr>
                                          <m:t>𝑦</m:t>
                                        </m:r>
                                      </m:e>
                                      <m:sub>
                                        <m:r>
                                          <a:rPr lang="en-GB" sz="2395">
                                            <a:latin typeface="Cambria Math"/>
                                          </a:rPr>
                                          <m:t>600</m:t>
                                        </m:r>
                                      </m:sub>
                                    </m:sSub>
                                  </m:e>
                                </m:d>
                              </m:e>
                              <m:e>
                                <m:r>
                                  <a:rPr lang="en-GB" sz="2395" i="0">
                                    <a:latin typeface="Cambria Math"/>
                                  </a:rPr>
                                  <m:t>⋯</m:t>
                                </m:r>
                              </m:e>
                              <m:e>
                                <m:sSub>
                                  <m:sSubPr>
                                    <m:ctrlPr>
                                      <a:rPr lang="en-GB" sz="2395" i="1">
                                        <a:latin typeface="Cambria Math" panose="02040503050406030204" pitchFamily="18" charset="0"/>
                                      </a:rPr>
                                    </m:ctrlPr>
                                  </m:sSubPr>
                                  <m:e>
                                    <m:r>
                                      <a:rPr lang="en-GB" sz="2395">
                                        <a:latin typeface="Cambria Math"/>
                                      </a:rPr>
                                      <m:t>𝜙</m:t>
                                    </m:r>
                                  </m:e>
                                  <m:sub>
                                    <m:r>
                                      <a:rPr lang="en-GB" sz="2395">
                                        <a:latin typeface="Cambria Math"/>
                                      </a:rPr>
                                      <m:t>189</m:t>
                                    </m:r>
                                  </m:sub>
                                </m:sSub>
                                <m:d>
                                  <m:dPr>
                                    <m:ctrlPr>
                                      <a:rPr lang="en-GB" sz="2395" i="1">
                                        <a:latin typeface="Cambria Math" panose="02040503050406030204" pitchFamily="18" charset="0"/>
                                      </a:rPr>
                                    </m:ctrlPr>
                                  </m:dPr>
                                  <m:e>
                                    <m:sSub>
                                      <m:sSubPr>
                                        <m:ctrlPr>
                                          <a:rPr lang="en-GB" sz="2395" i="1">
                                            <a:latin typeface="Cambria Math" panose="02040503050406030204" pitchFamily="18" charset="0"/>
                                          </a:rPr>
                                        </m:ctrlPr>
                                      </m:sSubPr>
                                      <m:e>
                                        <m:r>
                                          <a:rPr lang="en-GB" sz="2395">
                                            <a:latin typeface="Cambria Math"/>
                                          </a:rPr>
                                          <m:t>𝑥</m:t>
                                        </m:r>
                                      </m:e>
                                      <m:sub>
                                        <m:r>
                                          <a:rPr lang="en-GB" sz="2395">
                                            <a:latin typeface="Cambria Math"/>
                                          </a:rPr>
                                          <m:t>600</m:t>
                                        </m:r>
                                      </m:sub>
                                    </m:sSub>
                                    <m:r>
                                      <a:rPr lang="en-GB" sz="2395" i="0">
                                        <a:latin typeface="Cambria Math"/>
                                      </a:rPr>
                                      <m:t>,</m:t>
                                    </m:r>
                                    <m:sSub>
                                      <m:sSubPr>
                                        <m:ctrlPr>
                                          <a:rPr lang="en-GB" sz="2395" i="1">
                                            <a:latin typeface="Cambria Math" panose="02040503050406030204" pitchFamily="18" charset="0"/>
                                          </a:rPr>
                                        </m:ctrlPr>
                                      </m:sSubPr>
                                      <m:e>
                                        <m:r>
                                          <a:rPr lang="en-GB" sz="2395">
                                            <a:latin typeface="Cambria Math"/>
                                          </a:rPr>
                                          <m:t>𝑦</m:t>
                                        </m:r>
                                      </m:e>
                                      <m:sub>
                                        <m:r>
                                          <a:rPr lang="en-GB" sz="2395">
                                            <a:latin typeface="Cambria Math"/>
                                          </a:rPr>
                                          <m:t>600</m:t>
                                        </m:r>
                                      </m:sub>
                                    </m:sSub>
                                  </m:e>
                                </m:d>
                              </m:e>
                            </m:mr>
                          </m:m>
                        </m:e>
                      </m:d>
                    </m:oMath>
                  </m:oMathPara>
                </a14:m>
                <a:endParaRPr/>
              </a:p>
            </p:txBody>
          </p:sp>
        </mc:Choice>
        <mc:Fallback>
          <p:sp>
            <p:nvSpPr>
              <p:cNvPr id="10" name="Equation 033" descr="\boldsymbol{\Phi}=\begin{bmatrix}\phi_1(x_1,y_1)&amp;\cdots&amp;\phi_{189}(x_1,y_1)\\\vdots&amp;\ddots&amp;\vdots\\\phi_1(x_{600},y_{600})&amp;\cdots&amp;\phi_{189}(x_{600},y_{600})\end{bmatrix}"/>
              <p:cNvSpPr txBox="1">
                <a:spLocks noRot="1" noChangeAspect="1" noMove="1" noResize="1" noEditPoints="1" noAdjustHandles="1" noChangeArrowheads="1" noChangeShapeType="1" noTextEdit="1"/>
              </p:cNvSpPr>
              <p:nvPr/>
            </p:nvSpPr>
            <p:spPr>
              <a:xfrm>
                <a:off x="3233045" y="2221991"/>
                <a:ext cx="5686284" cy="1389888"/>
              </a:xfrm>
              <a:prstGeom prst="rect">
                <a:avLst/>
              </a:prstGeom>
              <a:blipFill>
                <a:blip r:embed="rId3"/>
                <a:stretch>
                  <a:fillRect l="-2227"/>
                </a:stretch>
              </a:blipFill>
              <a:effectLst/>
            </p:spPr>
            <p:txBody>
              <a:bodyPr/>
              <a:lstStyle/>
              <a:p>
                <a:r>
                  <a:rPr lang="zh-CN" altLang="en-US">
                    <a:noFill/>
                  </a:rPr>
                  <a:t> </a:t>
                </a:r>
              </a:p>
            </p:txBody>
          </p:sp>
        </mc:Fallback>
      </mc:AlternateContent>
      <p:sp>
        <p:nvSpPr>
          <p:cNvPr id="11" name="Rounded Rectangle 10"/>
          <p:cNvSpPr/>
          <p:nvPr/>
        </p:nvSpPr>
        <p:spPr>
          <a:xfrm>
            <a:off x="749808" y="4032504"/>
            <a:ext cx="4809744" cy="106984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2" name="Equation 034" descr="\mathbf{z}\approx\boldsymbol{\Phi}\mathbf{c}"/>
              <p:cNvSpPr txBox="1"/>
              <p:nvPr/>
            </p:nvSpPr>
            <p:spPr>
              <a:xfrm>
                <a:off x="2466693" y="4418025"/>
                <a:ext cx="1375973" cy="298805"/>
              </a:xfrm>
              <a:prstGeom prst="rect">
                <a:avLst/>
              </a:prstGeom>
              <a:noFill/>
              <a:effectLst/>
            </p:spPr>
            <p:txBody>
              <a:bodyPr wrap="none" lIns="0" tIns="0" rIns="0" bIns="0" anchor="ctr">
                <a:noAutofit/>
              </a:bodyPr>
              <a:lstStyle/>
              <a:p>
                <a:pPr algn="ctr">
                  <a:spcBef>
                    <a:spcPts val="0"/>
                  </a:spcBef>
                  <a:spcAft>
                    <a:spcPts val="0"/>
                  </a:spcAft>
                  <a:defRPr sz="3400">
                    <a:latin typeface="Cambria Math"/>
                  </a:defRPr>
                </a:pPr>
                <a14:m>
                  <m:oMathPara xmlns:m="http://schemas.openxmlformats.org/officeDocument/2006/math">
                    <m:oMathParaPr>
                      <m:jc m:val="center"/>
                    </m:oMathParaPr>
                    <m:oMath xmlns:m="http://schemas.openxmlformats.org/officeDocument/2006/math">
                      <m:r>
                        <a:rPr lang="en-GB" sz="3400" i="0">
                          <a:latin typeface="Cambria Math"/>
                        </a:rPr>
                        <m:t>𝐳</m:t>
                      </m:r>
                      <m:r>
                        <a:rPr lang="en-GB" sz="3400" i="0">
                          <a:latin typeface="Cambria Math"/>
                        </a:rPr>
                        <m:t>≈</m:t>
                      </m:r>
                      <m:r>
                        <a:rPr lang="en-GB" sz="3400" i="0">
                          <a:latin typeface="Cambria Math"/>
                        </a:rPr>
                        <m:t>𝚽</m:t>
                      </m:r>
                      <m:r>
                        <a:rPr lang="en-GB" sz="3400" i="0">
                          <a:latin typeface="Cambria Math"/>
                        </a:rPr>
                        <m:t>𝐜</m:t>
                      </m:r>
                    </m:oMath>
                  </m:oMathPara>
                </a14:m>
                <a:endParaRPr/>
              </a:p>
            </p:txBody>
          </p:sp>
        </mc:Choice>
        <mc:Fallback>
          <p:sp>
            <p:nvSpPr>
              <p:cNvPr id="12" name="Equation 034" descr="\mathbf{z}\approx\boldsymbol{\Phi}\mathbf{c}"/>
              <p:cNvSpPr txBox="1">
                <a:spLocks noRot="1" noChangeAspect="1" noMove="1" noResize="1" noEditPoints="1" noAdjustHandles="1" noChangeArrowheads="1" noChangeShapeType="1" noTextEdit="1"/>
              </p:cNvSpPr>
              <p:nvPr/>
            </p:nvSpPr>
            <p:spPr>
              <a:xfrm>
                <a:off x="2466693" y="4418025"/>
                <a:ext cx="1375973" cy="298805"/>
              </a:xfrm>
              <a:prstGeom prst="rect">
                <a:avLst/>
              </a:prstGeom>
              <a:blipFill>
                <a:blip r:embed="rId4"/>
                <a:stretch>
                  <a:fillRect l="-10092" t="-25000" r="-6422" b="-50000"/>
                </a:stretch>
              </a:blipFill>
              <a:effectLst/>
            </p:spPr>
            <p:txBody>
              <a:bodyPr/>
              <a:lstStyle/>
              <a:p>
                <a:r>
                  <a:rPr lang="zh-CN" altLang="en-US">
                    <a:noFill/>
                  </a:rPr>
                  <a:t> </a:t>
                </a:r>
              </a:p>
            </p:txBody>
          </p:sp>
        </mc:Fallback>
      </mc:AlternateContent>
      <p:sp>
        <p:nvSpPr>
          <p:cNvPr id="13" name="TextBox 12"/>
          <p:cNvSpPr txBox="1"/>
          <p:nvPr/>
        </p:nvSpPr>
        <p:spPr>
          <a:xfrm>
            <a:off x="6117336" y="3977639"/>
            <a:ext cx="5001768" cy="1435608"/>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400" b="0">
                <a:solidFill>
                  <a:srgbClr val="173042"/>
                </a:solidFill>
                <a:latin typeface="Arial"/>
              </a:rPr>
              <a:t>Nonlinear in the inputs.</a:t>
            </a:r>
          </a:p>
          <a:p>
            <a:pPr algn="l">
              <a:lnSpc>
                <a:spcPct val="113000"/>
              </a:lnSpc>
              <a:spcBef>
                <a:spcPts val="0"/>
              </a:spcBef>
              <a:spcAft>
                <a:spcPts val="400"/>
              </a:spcAft>
            </a:pPr>
            <a:r>
              <a:rPr lang="en-GB" sz="2400" b="0">
                <a:solidFill>
                  <a:srgbClr val="173042"/>
                </a:solidFill>
                <a:latin typeface="Arial"/>
              </a:rPr>
              <a:t>Linear in the coefficients.</a:t>
            </a:r>
          </a:p>
          <a:p>
            <a:pPr algn="l">
              <a:lnSpc>
                <a:spcPct val="113000"/>
              </a:lnSpc>
              <a:spcBef>
                <a:spcPts val="0"/>
              </a:spcBef>
              <a:spcAft>
                <a:spcPts val="0"/>
              </a:spcAft>
            </a:pPr>
            <a:r>
              <a:rPr lang="en-GB" sz="2400" b="0">
                <a:solidFill>
                  <a:srgbClr val="173042"/>
                </a:solidFill>
                <a:latin typeface="Arial"/>
              </a:rPr>
              <a:t>Sparse if most coefficients are zero.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03 • CASE 1 — PEAKS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Select terms, refit coefficients, then validate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26</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Actual procedure in symbolic_regression_tutorial.py; not a genetic-programming run.</a:t>
            </a:r>
          </a:p>
        </p:txBody>
      </p:sp>
      <p:sp>
        <p:nvSpPr>
          <p:cNvPr id="9" name="Oval 8"/>
          <p:cNvSpPr/>
          <p:nvPr/>
        </p:nvSpPr>
        <p:spPr>
          <a:xfrm>
            <a:off x="731520" y="1865376"/>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31520" y="1869948"/>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1</a:t>
            </a:r>
          </a:p>
        </p:txBody>
      </p:sp>
      <p:sp>
        <p:nvSpPr>
          <p:cNvPr id="11" name="TextBox 10"/>
          <p:cNvSpPr txBox="1"/>
          <p:nvPr/>
        </p:nvSpPr>
        <p:spPr>
          <a:xfrm>
            <a:off x="1325880" y="1865376"/>
            <a:ext cx="3118104" cy="402336"/>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173042"/>
                </a:solidFill>
                <a:latin typeface="Arial"/>
              </a:rPr>
              <a:t>Scale columns</a:t>
            </a:r>
          </a:p>
        </p:txBody>
      </p:sp>
      <p:sp>
        <p:nvSpPr>
          <p:cNvPr id="12" name="TextBox 11"/>
          <p:cNvSpPr txBox="1"/>
          <p:nvPr/>
        </p:nvSpPr>
        <p:spPr>
          <a:xfrm>
            <a:off x="4700016" y="1865376"/>
            <a:ext cx="6565392" cy="64922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0">
                <a:solidFill>
                  <a:srgbClr val="173042"/>
                </a:solidFill>
                <a:latin typeface="Arial"/>
              </a:rPr>
              <a:t>Estimate column norms using the training design only.</a:t>
            </a:r>
          </a:p>
        </p:txBody>
      </p:sp>
      <p:sp>
        <p:nvSpPr>
          <p:cNvPr id="13" name="Oval 12"/>
          <p:cNvSpPr/>
          <p:nvPr/>
        </p:nvSpPr>
        <p:spPr>
          <a:xfrm>
            <a:off x="731520" y="2724912"/>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731520" y="2729484"/>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2</a:t>
            </a:r>
          </a:p>
        </p:txBody>
      </p:sp>
      <p:sp>
        <p:nvSpPr>
          <p:cNvPr id="15" name="TextBox 14"/>
          <p:cNvSpPr txBox="1"/>
          <p:nvPr/>
        </p:nvSpPr>
        <p:spPr>
          <a:xfrm>
            <a:off x="1325880" y="2724912"/>
            <a:ext cx="3118104" cy="402336"/>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173042"/>
                </a:solidFill>
                <a:latin typeface="Arial"/>
              </a:rPr>
              <a:t>Fit the dense model</a:t>
            </a:r>
          </a:p>
        </p:txBody>
      </p:sp>
      <p:sp>
        <p:nvSpPr>
          <p:cNvPr id="16" name="TextBox 15"/>
          <p:cNvSpPr txBox="1"/>
          <p:nvPr/>
        </p:nvSpPr>
        <p:spPr>
          <a:xfrm>
            <a:off x="4700016" y="2724912"/>
            <a:ext cx="6565392" cy="64922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0">
                <a:solidFill>
                  <a:srgbClr val="173042"/>
                </a:solidFill>
                <a:latin typeface="Arial"/>
              </a:rPr>
              <a:t>Solve least squares; convert coefficients back to the original basis.</a:t>
            </a:r>
          </a:p>
        </p:txBody>
      </p:sp>
      <p:sp>
        <p:nvSpPr>
          <p:cNvPr id="17" name="Oval 16"/>
          <p:cNvSpPr/>
          <p:nvPr/>
        </p:nvSpPr>
        <p:spPr>
          <a:xfrm>
            <a:off x="731520" y="3584448"/>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731520" y="3589020"/>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3</a:t>
            </a:r>
          </a:p>
        </p:txBody>
      </p:sp>
      <p:sp>
        <p:nvSpPr>
          <p:cNvPr id="19" name="TextBox 18"/>
          <p:cNvSpPr txBox="1"/>
          <p:nvPr/>
        </p:nvSpPr>
        <p:spPr>
          <a:xfrm>
            <a:off x="1325880" y="3584448"/>
            <a:ext cx="3118104" cy="402336"/>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173042"/>
                </a:solidFill>
                <a:latin typeface="Arial"/>
              </a:rPr>
              <a:t>Threshold and refit</a:t>
            </a:r>
          </a:p>
        </p:txBody>
      </p:sp>
      <p:sp>
        <p:nvSpPr>
          <p:cNvPr id="20" name="TextBox 19"/>
          <p:cNvSpPr txBox="1"/>
          <p:nvPr/>
        </p:nvSpPr>
        <p:spPr>
          <a:xfrm>
            <a:off x="4700016" y="3584448"/>
            <a:ext cx="6565392" cy="64922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0">
                <a:solidFill>
                  <a:srgbClr val="173042"/>
                </a:solidFill>
                <a:latin typeface="Arial"/>
              </a:rPr>
              <a:t>Retain coefficients above each candidate threshold; refit those terms.</a:t>
            </a:r>
          </a:p>
        </p:txBody>
      </p:sp>
      <p:sp>
        <p:nvSpPr>
          <p:cNvPr id="21" name="Oval 20"/>
          <p:cNvSpPr/>
          <p:nvPr/>
        </p:nvSpPr>
        <p:spPr>
          <a:xfrm>
            <a:off x="731520" y="4443983"/>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731520" y="4448555"/>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4</a:t>
            </a:r>
          </a:p>
        </p:txBody>
      </p:sp>
      <p:sp>
        <p:nvSpPr>
          <p:cNvPr id="23" name="TextBox 22"/>
          <p:cNvSpPr txBox="1"/>
          <p:nvPr/>
        </p:nvSpPr>
        <p:spPr>
          <a:xfrm>
            <a:off x="1325880" y="4443983"/>
            <a:ext cx="3118104" cy="402336"/>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173042"/>
                </a:solidFill>
                <a:latin typeface="Arial"/>
              </a:rPr>
              <a:t>Choose by validation</a:t>
            </a:r>
          </a:p>
        </p:txBody>
      </p:sp>
      <p:sp>
        <p:nvSpPr>
          <p:cNvPr id="24" name="TextBox 23"/>
          <p:cNvSpPr txBox="1"/>
          <p:nvPr/>
        </p:nvSpPr>
        <p:spPr>
          <a:xfrm>
            <a:off x="4700016" y="4443983"/>
            <a:ext cx="6565392" cy="64922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0">
                <a:solidFill>
                  <a:srgbClr val="173042"/>
                </a:solidFill>
                <a:latin typeface="Arial"/>
              </a:rPr>
              <a:t>Among numerically equivalent candidates, retain the fewest terms.</a:t>
            </a:r>
          </a:p>
        </p:txBody>
      </p:sp>
      <p:sp>
        <p:nvSpPr>
          <p:cNvPr id="25" name="Rounded Rectangle 24"/>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Thresholds and selection tolerance are fixed without consulting the test set.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03 • CASE 1 — PEAKS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The selected seven terms recover the target expression</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27</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Computed noise-free finite-library fit. Equivalence is within numerical precision.</a:t>
            </a:r>
          </a:p>
        </p:txBody>
      </p:sp>
      <p:sp>
        <p:nvSpPr>
          <p:cNvPr id="9" name="Rounded Rectangle 8"/>
          <p:cNvSpPr/>
          <p:nvPr/>
        </p:nvSpPr>
        <p:spPr>
          <a:xfrm>
            <a:off x="694944" y="1755648"/>
            <a:ext cx="10789920" cy="97840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0" name="Equation 035" descr="\hat z=(3-6x+3x^2)\exp[-x^2-(y+1)^2]"/>
              <p:cNvSpPr txBox="1"/>
              <p:nvPr/>
            </p:nvSpPr>
            <p:spPr>
              <a:xfrm>
                <a:off x="2891656" y="2028844"/>
                <a:ext cx="6396494" cy="432015"/>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acc>
                        <m:accPr>
                          <m:chr m:val="̂"/>
                          <m:ctrlPr>
                            <a:rPr lang="en-GB" sz="3000">
                              <a:latin typeface="Cambria Math" panose="02040503050406030204" pitchFamily="18" charset="0"/>
                            </a:rPr>
                          </m:ctrlPr>
                        </m:accPr>
                        <m:e>
                          <m:r>
                            <a:rPr lang="en-GB" sz="3000">
                              <a:latin typeface="Cambria Math"/>
                            </a:rPr>
                            <m:t>𝑧</m:t>
                          </m:r>
                        </m:e>
                      </m:acc>
                      <m:r>
                        <a:rPr lang="en-GB" sz="3000" i="0">
                          <a:latin typeface="Cambria Math"/>
                        </a:rPr>
                        <m:t>=</m:t>
                      </m:r>
                      <m:d>
                        <m:dPr>
                          <m:ctrlPr>
                            <a:rPr lang="en-GB" sz="3000" i="1">
                              <a:latin typeface="Cambria Math" panose="02040503050406030204" pitchFamily="18" charset="0"/>
                            </a:rPr>
                          </m:ctrlPr>
                        </m:dPr>
                        <m:e>
                          <m:r>
                            <a:rPr lang="en-GB" sz="3000">
                              <a:latin typeface="Cambria Math"/>
                            </a:rPr>
                            <m:t>3</m:t>
                          </m:r>
                          <m:r>
                            <a:rPr lang="en-GB" sz="3000" i="0">
                              <a:latin typeface="Cambria Math"/>
                            </a:rPr>
                            <m:t>−</m:t>
                          </m:r>
                          <m:r>
                            <a:rPr lang="en-GB" sz="3000">
                              <a:latin typeface="Cambria Math"/>
                            </a:rPr>
                            <m:t>6</m:t>
                          </m:r>
                          <m:r>
                            <a:rPr lang="en-GB" sz="3000">
                              <a:latin typeface="Cambria Math"/>
                            </a:rPr>
                            <m:t>𝑥</m:t>
                          </m:r>
                          <m:r>
                            <a:rPr lang="en-GB" sz="3000" i="0">
                              <a:latin typeface="Cambria Math"/>
                            </a:rPr>
                            <m:t>+</m:t>
                          </m:r>
                          <m:r>
                            <a:rPr lang="en-GB" sz="3000">
                              <a:latin typeface="Cambria Math"/>
                            </a:rPr>
                            <m:t>3</m:t>
                          </m:r>
                          <m:sSup>
                            <m:sSupPr>
                              <m:ctrlPr>
                                <a:rPr lang="en-GB" sz="3000" i="1">
                                  <a:latin typeface="Cambria Math" panose="02040503050406030204" pitchFamily="18" charset="0"/>
                                </a:rPr>
                              </m:ctrlPr>
                            </m:sSupPr>
                            <m:e>
                              <m:r>
                                <a:rPr lang="en-GB" sz="3000">
                                  <a:latin typeface="Cambria Math"/>
                                </a:rPr>
                                <m:t>𝑥</m:t>
                              </m:r>
                            </m:e>
                            <m:sup>
                              <m:r>
                                <a:rPr lang="en-GB" sz="3000">
                                  <a:latin typeface="Cambria Math"/>
                                </a:rPr>
                                <m:t>2</m:t>
                              </m:r>
                            </m:sup>
                          </m:sSup>
                        </m:e>
                      </m:d>
                      <m:r>
                        <m:rPr>
                          <m:sty m:val="p"/>
                        </m:rPr>
                        <a:rPr lang="en-GB" sz="3000" i="0">
                          <a:latin typeface="Cambria Math"/>
                        </a:rPr>
                        <m:t>exp</m:t>
                      </m:r>
                      <m:d>
                        <m:dPr>
                          <m:begChr m:val="["/>
                          <m:endChr m:val="]"/>
                          <m:ctrlPr>
                            <a:rPr lang="en-GB" sz="3000" i="1">
                              <a:latin typeface="Cambria Math" panose="02040503050406030204" pitchFamily="18" charset="0"/>
                            </a:rPr>
                          </m:ctrlPr>
                        </m:dPr>
                        <m:e>
                          <m:r>
                            <a:rPr lang="en-GB" sz="3000" i="0">
                              <a:latin typeface="Cambria Math"/>
                            </a:rPr>
                            <m:t>−</m:t>
                          </m:r>
                          <m:sSup>
                            <m:sSupPr>
                              <m:ctrlPr>
                                <a:rPr lang="en-GB" sz="3000" i="1">
                                  <a:latin typeface="Cambria Math" panose="02040503050406030204" pitchFamily="18" charset="0"/>
                                </a:rPr>
                              </m:ctrlPr>
                            </m:sSupPr>
                            <m:e>
                              <m:r>
                                <a:rPr lang="en-GB" sz="3000">
                                  <a:latin typeface="Cambria Math"/>
                                </a:rPr>
                                <m:t>𝑥</m:t>
                              </m:r>
                            </m:e>
                            <m:sup>
                              <m:r>
                                <a:rPr lang="en-GB" sz="3000">
                                  <a:latin typeface="Cambria Math"/>
                                </a:rPr>
                                <m:t>2</m:t>
                              </m:r>
                            </m:sup>
                          </m:sSup>
                          <m:r>
                            <a:rPr lang="en-GB" sz="3000" i="0">
                              <a:latin typeface="Cambria Math"/>
                            </a:rPr>
                            <m:t>−</m:t>
                          </m:r>
                          <m:sSup>
                            <m:sSupPr>
                              <m:ctrlPr>
                                <a:rPr lang="en-GB" sz="3000" i="1">
                                  <a:latin typeface="Cambria Math" panose="02040503050406030204" pitchFamily="18" charset="0"/>
                                </a:rPr>
                              </m:ctrlPr>
                            </m:sSupPr>
                            <m:e>
                              <m:d>
                                <m:dPr>
                                  <m:ctrlPr>
                                    <a:rPr lang="en-GB" sz="3000" i="1">
                                      <a:latin typeface="Cambria Math" panose="02040503050406030204" pitchFamily="18" charset="0"/>
                                    </a:rPr>
                                  </m:ctrlPr>
                                </m:dPr>
                                <m:e>
                                  <m:r>
                                    <a:rPr lang="en-GB" sz="3000">
                                      <a:latin typeface="Cambria Math"/>
                                    </a:rPr>
                                    <m:t>𝑦</m:t>
                                  </m:r>
                                  <m:r>
                                    <a:rPr lang="en-GB" sz="3000" i="0">
                                      <a:latin typeface="Cambria Math"/>
                                    </a:rPr>
                                    <m:t>+</m:t>
                                  </m:r>
                                  <m:r>
                                    <a:rPr lang="en-GB" sz="3000">
                                      <a:latin typeface="Cambria Math"/>
                                    </a:rPr>
                                    <m:t>1</m:t>
                                  </m:r>
                                </m:e>
                              </m:d>
                            </m:e>
                            <m:sup>
                              <m:r>
                                <a:rPr lang="en-GB" sz="3000">
                                  <a:latin typeface="Cambria Math"/>
                                </a:rPr>
                                <m:t>2</m:t>
                              </m:r>
                            </m:sup>
                          </m:sSup>
                        </m:e>
                      </m:d>
                    </m:oMath>
                  </m:oMathPara>
                </a14:m>
                <a:endParaRPr/>
              </a:p>
            </p:txBody>
          </p:sp>
        </mc:Choice>
        <mc:Fallback>
          <p:sp>
            <p:nvSpPr>
              <p:cNvPr id="10" name="Equation 035" descr="\hat z=(3-6x+3x^2)\exp[-x^2-(y+1)^2]"/>
              <p:cNvSpPr txBox="1">
                <a:spLocks noRot="1" noChangeAspect="1" noMove="1" noResize="1" noEditPoints="1" noAdjustHandles="1" noChangeArrowheads="1" noChangeShapeType="1" noTextEdit="1"/>
              </p:cNvSpPr>
              <p:nvPr/>
            </p:nvSpPr>
            <p:spPr>
              <a:xfrm>
                <a:off x="2891656" y="2028844"/>
                <a:ext cx="6396494" cy="432015"/>
              </a:xfrm>
              <a:prstGeom prst="rect">
                <a:avLst/>
              </a:prstGeom>
              <a:blipFill>
                <a:blip r:embed="rId3"/>
                <a:stretch>
                  <a:fillRect l="-2970" t="-17143" b="-28571"/>
                </a:stretch>
              </a:blipFill>
              <a:effectLst/>
            </p:spPr>
            <p:txBody>
              <a:bodyPr/>
              <a:lstStyle/>
              <a:p>
                <a:r>
                  <a:rPr lang="zh-CN" altLang="en-US">
                    <a:noFill/>
                  </a:rPr>
                  <a:t> </a:t>
                </a:r>
              </a:p>
            </p:txBody>
          </p:sp>
        </mc:Fallback>
      </mc:AlternateContent>
      <p:sp>
        <p:nvSpPr>
          <p:cNvPr id="11" name="Rounded Rectangle 10"/>
          <p:cNvSpPr/>
          <p:nvPr/>
        </p:nvSpPr>
        <p:spPr>
          <a:xfrm>
            <a:off x="694944" y="2916936"/>
            <a:ext cx="10789920" cy="97840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2" name="Equation 036" descr="\quad+(-2x+10x^3+10y^5)\exp(-x^2-y^2)"/>
              <p:cNvSpPr txBox="1"/>
              <p:nvPr/>
            </p:nvSpPr>
            <p:spPr>
              <a:xfrm>
                <a:off x="2814408" y="3190132"/>
                <a:ext cx="6550990" cy="432015"/>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r>
                        <a:rPr lang="en-GB" sz="3000">
                          <a:latin typeface="Cambria Math"/>
                        </a:rPr>
                        <m:t> </m:t>
                      </m:r>
                      <m:r>
                        <a:rPr lang="en-GB" sz="3000" i="0">
                          <a:latin typeface="Cambria Math"/>
                        </a:rPr>
                        <m:t>+</m:t>
                      </m:r>
                      <m:d>
                        <m:dPr>
                          <m:ctrlPr>
                            <a:rPr lang="en-GB" sz="3000" i="1">
                              <a:latin typeface="Cambria Math" panose="02040503050406030204" pitchFamily="18" charset="0"/>
                            </a:rPr>
                          </m:ctrlPr>
                        </m:dPr>
                        <m:e>
                          <m:r>
                            <a:rPr lang="en-GB" sz="3000" i="0">
                              <a:latin typeface="Cambria Math"/>
                            </a:rPr>
                            <m:t>−</m:t>
                          </m:r>
                          <m:r>
                            <a:rPr lang="en-GB" sz="3000">
                              <a:latin typeface="Cambria Math"/>
                            </a:rPr>
                            <m:t>2</m:t>
                          </m:r>
                          <m:r>
                            <a:rPr lang="en-GB" sz="3000">
                              <a:latin typeface="Cambria Math"/>
                            </a:rPr>
                            <m:t>𝑥</m:t>
                          </m:r>
                          <m:r>
                            <a:rPr lang="en-GB" sz="3000" i="0">
                              <a:latin typeface="Cambria Math"/>
                            </a:rPr>
                            <m:t>+</m:t>
                          </m:r>
                          <m:r>
                            <a:rPr lang="en-GB" sz="3000">
                              <a:latin typeface="Cambria Math"/>
                            </a:rPr>
                            <m:t>10</m:t>
                          </m:r>
                          <m:sSup>
                            <m:sSupPr>
                              <m:ctrlPr>
                                <a:rPr lang="en-GB" sz="3000" i="1">
                                  <a:latin typeface="Cambria Math" panose="02040503050406030204" pitchFamily="18" charset="0"/>
                                </a:rPr>
                              </m:ctrlPr>
                            </m:sSupPr>
                            <m:e>
                              <m:r>
                                <a:rPr lang="en-GB" sz="3000">
                                  <a:latin typeface="Cambria Math"/>
                                </a:rPr>
                                <m:t>𝑥</m:t>
                              </m:r>
                            </m:e>
                            <m:sup>
                              <m:r>
                                <a:rPr lang="en-GB" sz="3000">
                                  <a:latin typeface="Cambria Math"/>
                                </a:rPr>
                                <m:t>3</m:t>
                              </m:r>
                            </m:sup>
                          </m:sSup>
                          <m:r>
                            <a:rPr lang="en-GB" sz="3000" i="0">
                              <a:latin typeface="Cambria Math"/>
                            </a:rPr>
                            <m:t>+</m:t>
                          </m:r>
                          <m:r>
                            <a:rPr lang="en-GB" sz="3000">
                              <a:latin typeface="Cambria Math"/>
                            </a:rPr>
                            <m:t>10</m:t>
                          </m:r>
                          <m:sSup>
                            <m:sSupPr>
                              <m:ctrlPr>
                                <a:rPr lang="en-GB" sz="3000" i="1">
                                  <a:latin typeface="Cambria Math" panose="02040503050406030204" pitchFamily="18" charset="0"/>
                                </a:rPr>
                              </m:ctrlPr>
                            </m:sSupPr>
                            <m:e>
                              <m:r>
                                <a:rPr lang="en-GB" sz="3000">
                                  <a:latin typeface="Cambria Math"/>
                                </a:rPr>
                                <m:t>𝑦</m:t>
                              </m:r>
                            </m:e>
                            <m:sup>
                              <m:r>
                                <a:rPr lang="en-GB" sz="3000">
                                  <a:latin typeface="Cambria Math"/>
                                </a:rPr>
                                <m:t>5</m:t>
                              </m:r>
                            </m:sup>
                          </m:sSup>
                        </m:e>
                      </m:d>
                      <m:r>
                        <m:rPr>
                          <m:sty m:val="p"/>
                        </m:rPr>
                        <a:rPr lang="en-GB" sz="3000" i="0">
                          <a:latin typeface="Cambria Math"/>
                        </a:rPr>
                        <m:t>exp</m:t>
                      </m:r>
                      <m:d>
                        <m:dPr>
                          <m:ctrlPr>
                            <a:rPr lang="en-GB" sz="3000" i="1">
                              <a:latin typeface="Cambria Math" panose="02040503050406030204" pitchFamily="18" charset="0"/>
                            </a:rPr>
                          </m:ctrlPr>
                        </m:dPr>
                        <m:e>
                          <m:r>
                            <a:rPr lang="en-GB" sz="3000" i="0">
                              <a:latin typeface="Cambria Math"/>
                            </a:rPr>
                            <m:t>−</m:t>
                          </m:r>
                          <m:sSup>
                            <m:sSupPr>
                              <m:ctrlPr>
                                <a:rPr lang="en-GB" sz="3000" i="1">
                                  <a:latin typeface="Cambria Math" panose="02040503050406030204" pitchFamily="18" charset="0"/>
                                </a:rPr>
                              </m:ctrlPr>
                            </m:sSupPr>
                            <m:e>
                              <m:r>
                                <a:rPr lang="en-GB" sz="3000">
                                  <a:latin typeface="Cambria Math"/>
                                </a:rPr>
                                <m:t>𝑥</m:t>
                              </m:r>
                            </m:e>
                            <m:sup>
                              <m:r>
                                <a:rPr lang="en-GB" sz="3000">
                                  <a:latin typeface="Cambria Math"/>
                                </a:rPr>
                                <m:t>2</m:t>
                              </m:r>
                            </m:sup>
                          </m:sSup>
                          <m:r>
                            <a:rPr lang="en-GB" sz="3000" i="0">
                              <a:latin typeface="Cambria Math"/>
                            </a:rPr>
                            <m:t>−</m:t>
                          </m:r>
                          <m:sSup>
                            <m:sSupPr>
                              <m:ctrlPr>
                                <a:rPr lang="en-GB" sz="3000" i="1">
                                  <a:latin typeface="Cambria Math" panose="02040503050406030204" pitchFamily="18" charset="0"/>
                                </a:rPr>
                              </m:ctrlPr>
                            </m:sSupPr>
                            <m:e>
                              <m:r>
                                <a:rPr lang="en-GB" sz="3000">
                                  <a:latin typeface="Cambria Math"/>
                                </a:rPr>
                                <m:t>𝑦</m:t>
                              </m:r>
                            </m:e>
                            <m:sup>
                              <m:r>
                                <a:rPr lang="en-GB" sz="3000">
                                  <a:latin typeface="Cambria Math"/>
                                </a:rPr>
                                <m:t>2</m:t>
                              </m:r>
                            </m:sup>
                          </m:sSup>
                        </m:e>
                      </m:d>
                    </m:oMath>
                  </m:oMathPara>
                </a14:m>
                <a:endParaRPr/>
              </a:p>
            </p:txBody>
          </p:sp>
        </mc:Choice>
        <mc:Fallback>
          <p:sp>
            <p:nvSpPr>
              <p:cNvPr id="12" name="Equation 036" descr="\quad+(-2x+10x^3+10y^5)\exp(-x^2-y^2)"/>
              <p:cNvSpPr txBox="1">
                <a:spLocks noRot="1" noChangeAspect="1" noMove="1" noResize="1" noEditPoints="1" noAdjustHandles="1" noChangeArrowheads="1" noChangeShapeType="1" noTextEdit="1"/>
              </p:cNvSpPr>
              <p:nvPr/>
            </p:nvSpPr>
            <p:spPr>
              <a:xfrm>
                <a:off x="2814408" y="3190132"/>
                <a:ext cx="6550990" cy="432015"/>
              </a:xfrm>
              <a:prstGeom prst="rect">
                <a:avLst/>
              </a:prstGeom>
              <a:blipFill>
                <a:blip r:embed="rId4"/>
                <a:stretch>
                  <a:fillRect l="-4642" t="-8571" b="-42857"/>
                </a:stretch>
              </a:blipFill>
              <a:effectLst/>
            </p:spPr>
            <p:txBody>
              <a:bodyPr/>
              <a:lstStyle/>
              <a:p>
                <a:r>
                  <a:rPr lang="zh-CN" altLang="en-US">
                    <a:noFill/>
                  </a:rPr>
                  <a:t> </a:t>
                </a:r>
              </a:p>
            </p:txBody>
          </p:sp>
        </mc:Fallback>
      </mc:AlternateContent>
      <p:sp>
        <p:nvSpPr>
          <p:cNvPr id="13" name="Rounded Rectangle 12"/>
          <p:cNvSpPr/>
          <p:nvPr/>
        </p:nvSpPr>
        <p:spPr>
          <a:xfrm>
            <a:off x="694944" y="4069080"/>
            <a:ext cx="10789920" cy="1014984"/>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4" name="Equation 037" descr="\quad-\frac{1}{3}\exp[-(x+1)^2-y^2]"/>
              <p:cNvSpPr txBox="1"/>
              <p:nvPr/>
            </p:nvSpPr>
            <p:spPr>
              <a:xfrm>
                <a:off x="3949064" y="4186047"/>
                <a:ext cx="4281678" cy="781049"/>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r>
                        <a:rPr lang="en-GB" sz="3000">
                          <a:latin typeface="Cambria Math"/>
                        </a:rPr>
                        <m:t> </m:t>
                      </m:r>
                      <m:r>
                        <a:rPr lang="en-GB" sz="3000" i="0">
                          <a:latin typeface="Cambria Math"/>
                        </a:rPr>
                        <m:t>−</m:t>
                      </m:r>
                      <m:f>
                        <m:fPr>
                          <m:ctrlPr>
                            <a:rPr lang="en-GB" sz="3000" i="1">
                              <a:latin typeface="Cambria Math" panose="02040503050406030204" pitchFamily="18" charset="0"/>
                            </a:rPr>
                          </m:ctrlPr>
                        </m:fPr>
                        <m:num>
                          <m:r>
                            <a:rPr lang="en-GB" sz="3000">
                              <a:latin typeface="Cambria Math"/>
                            </a:rPr>
                            <m:t>1</m:t>
                          </m:r>
                        </m:num>
                        <m:den>
                          <m:r>
                            <a:rPr lang="en-GB" sz="3000">
                              <a:latin typeface="Cambria Math"/>
                            </a:rPr>
                            <m:t>3</m:t>
                          </m:r>
                        </m:den>
                      </m:f>
                      <m:r>
                        <m:rPr>
                          <m:sty m:val="p"/>
                        </m:rPr>
                        <a:rPr lang="en-GB" sz="3000" i="0">
                          <a:latin typeface="Cambria Math"/>
                        </a:rPr>
                        <m:t>exp</m:t>
                      </m:r>
                      <m:d>
                        <m:dPr>
                          <m:begChr m:val="["/>
                          <m:endChr m:val="]"/>
                          <m:ctrlPr>
                            <a:rPr lang="en-GB" sz="3000" i="1">
                              <a:latin typeface="Cambria Math" panose="02040503050406030204" pitchFamily="18" charset="0"/>
                            </a:rPr>
                          </m:ctrlPr>
                        </m:dPr>
                        <m:e>
                          <m:r>
                            <a:rPr lang="en-GB" sz="3000" i="0">
                              <a:latin typeface="Cambria Math"/>
                            </a:rPr>
                            <m:t>−</m:t>
                          </m:r>
                          <m:sSup>
                            <m:sSupPr>
                              <m:ctrlPr>
                                <a:rPr lang="en-GB" sz="3000" i="1">
                                  <a:latin typeface="Cambria Math" panose="02040503050406030204" pitchFamily="18" charset="0"/>
                                </a:rPr>
                              </m:ctrlPr>
                            </m:sSupPr>
                            <m:e>
                              <m:d>
                                <m:dPr>
                                  <m:ctrlPr>
                                    <a:rPr lang="en-GB" sz="3000" i="1">
                                      <a:latin typeface="Cambria Math" panose="02040503050406030204" pitchFamily="18" charset="0"/>
                                    </a:rPr>
                                  </m:ctrlPr>
                                </m:dPr>
                                <m:e>
                                  <m:r>
                                    <a:rPr lang="en-GB" sz="3000">
                                      <a:latin typeface="Cambria Math"/>
                                    </a:rPr>
                                    <m:t>𝑥</m:t>
                                  </m:r>
                                  <m:r>
                                    <a:rPr lang="en-GB" sz="3000" i="0">
                                      <a:latin typeface="Cambria Math"/>
                                    </a:rPr>
                                    <m:t>+</m:t>
                                  </m:r>
                                  <m:r>
                                    <a:rPr lang="en-GB" sz="3000">
                                      <a:latin typeface="Cambria Math"/>
                                    </a:rPr>
                                    <m:t>1</m:t>
                                  </m:r>
                                </m:e>
                              </m:d>
                            </m:e>
                            <m:sup>
                              <m:r>
                                <a:rPr lang="en-GB" sz="3000">
                                  <a:latin typeface="Cambria Math"/>
                                </a:rPr>
                                <m:t>2</m:t>
                              </m:r>
                            </m:sup>
                          </m:sSup>
                          <m:r>
                            <a:rPr lang="en-GB" sz="3000" i="0">
                              <a:latin typeface="Cambria Math"/>
                            </a:rPr>
                            <m:t>−</m:t>
                          </m:r>
                          <m:sSup>
                            <m:sSupPr>
                              <m:ctrlPr>
                                <a:rPr lang="en-GB" sz="3000" i="1">
                                  <a:latin typeface="Cambria Math" panose="02040503050406030204" pitchFamily="18" charset="0"/>
                                </a:rPr>
                              </m:ctrlPr>
                            </m:sSupPr>
                            <m:e>
                              <m:r>
                                <a:rPr lang="en-GB" sz="3000">
                                  <a:latin typeface="Cambria Math"/>
                                </a:rPr>
                                <m:t>𝑦</m:t>
                              </m:r>
                            </m:e>
                            <m:sup>
                              <m:r>
                                <a:rPr lang="en-GB" sz="3000">
                                  <a:latin typeface="Cambria Math"/>
                                </a:rPr>
                                <m:t>2</m:t>
                              </m:r>
                            </m:sup>
                          </m:sSup>
                        </m:e>
                      </m:d>
                    </m:oMath>
                  </m:oMathPara>
                </a14:m>
                <a:endParaRPr/>
              </a:p>
            </p:txBody>
          </p:sp>
        </mc:Choice>
        <mc:Fallback>
          <p:sp>
            <p:nvSpPr>
              <p:cNvPr id="14" name="Equation 037" descr="\quad-\frac{1}{3}\exp[-(x+1)^2-y^2]"/>
              <p:cNvSpPr txBox="1">
                <a:spLocks noRot="1" noChangeAspect="1" noMove="1" noResize="1" noEditPoints="1" noAdjustHandles="1" noChangeArrowheads="1" noChangeShapeType="1" noTextEdit="1"/>
              </p:cNvSpPr>
              <p:nvPr/>
            </p:nvSpPr>
            <p:spPr>
              <a:xfrm>
                <a:off x="3949064" y="4186047"/>
                <a:ext cx="4281678" cy="781049"/>
              </a:xfrm>
              <a:prstGeom prst="rect">
                <a:avLst/>
              </a:prstGeom>
              <a:blipFill>
                <a:blip r:embed="rId5"/>
                <a:stretch>
                  <a:fillRect l="-6825" t="-7937" b="-19048"/>
                </a:stretch>
              </a:blipFill>
              <a:effectLst/>
            </p:spPr>
            <p:txBody>
              <a:bodyPr/>
              <a:lstStyle/>
              <a:p>
                <a:r>
                  <a:rPr lang="zh-CN" altLang="en-US">
                    <a:noFill/>
                  </a:rPr>
                  <a:t> </a:t>
                </a:r>
              </a:p>
            </p:txBody>
          </p:sp>
        </mc:Fallback>
      </mc:AlternateContent>
      <p:sp>
        <p:nvSpPr>
          <p:cNvPr id="15" name="Rounded Rectangle 14"/>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Factorisation shows equivalence to Peaks; Gaussian centres and widths were already supplied.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03 • CASE 1 — PEAKS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Evaluate on 2,000 untouched test points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28</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Values reproduced from the teaching script. RMSE uses the original Peaks output scale.</a:t>
            </a:r>
          </a:p>
        </p:txBody>
      </p:sp>
      <p:graphicFrame>
        <p:nvGraphicFramePr>
          <p:cNvPr id="9" name="Table 8"/>
          <p:cNvGraphicFramePr>
            <a:graphicFrameLocks noGrp="1"/>
          </p:cNvGraphicFramePr>
          <p:nvPr/>
        </p:nvGraphicFramePr>
        <p:xfrm>
          <a:off x="731520" y="1975104"/>
          <a:ext cx="10753344" cy="2926080"/>
        </p:xfrm>
        <a:graphic>
          <a:graphicData uri="http://schemas.openxmlformats.org/drawingml/2006/table">
            <a:tbl>
              <a:tblPr firstRow="1" bandRow="1">
                <a:tableStyleId>{5C22544A-7EE6-4342-B048-85BDC9FD1C3A}</a:tableStyleId>
              </a:tblPr>
              <a:tblGrid>
                <a:gridCol w="508406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1956816">
                  <a:extLst>
                    <a:ext uri="{9D8B030D-6E8A-4147-A177-3AD203B41FA5}">
                      <a16:colId xmlns:a16="http://schemas.microsoft.com/office/drawing/2014/main" val="20003"/>
                    </a:ext>
                  </a:extLst>
                </a:gridCol>
              </a:tblGrid>
              <a:tr h="731520">
                <a:tc>
                  <a:txBody>
                    <a:bodyPr/>
                    <a:lstStyle/>
                    <a:p>
                      <a:pPr>
                        <a:lnSpc>
                          <a:spcPct val="105000"/>
                        </a:lnSpc>
                        <a:spcAft>
                          <a:spcPts val="0"/>
                        </a:spcAft>
                      </a:pPr>
                      <a:r>
                        <a:rPr lang="en-GB" sz="2050" b="1">
                          <a:solidFill>
                            <a:srgbClr val="FFFFFF"/>
                          </a:solidFill>
                          <a:latin typeface="Arial"/>
                        </a:rPr>
                        <a:t>Model</a:t>
                      </a:r>
                    </a:p>
                  </a:txBody>
                  <a:tcPr marL="128016" marR="109728" marT="73152" marB="27432" anchor="ctr">
                    <a:solidFill>
                      <a:srgbClr val="173042"/>
                    </a:solidFill>
                  </a:tcPr>
                </a:tc>
                <a:tc>
                  <a:txBody>
                    <a:bodyPr/>
                    <a:lstStyle/>
                    <a:p>
                      <a:pPr>
                        <a:lnSpc>
                          <a:spcPct val="105000"/>
                        </a:lnSpc>
                        <a:spcAft>
                          <a:spcPts val="0"/>
                        </a:spcAft>
                      </a:pPr>
                      <a:r>
                        <a:rPr lang="en-GB" sz="2050" b="1">
                          <a:solidFill>
                            <a:srgbClr val="FFFFFF"/>
                          </a:solidFill>
                          <a:latin typeface="Arial"/>
                        </a:rPr>
                        <a:t>Terms</a:t>
                      </a:r>
                    </a:p>
                  </a:txBody>
                  <a:tcPr marL="128016" marR="109728" marT="73152" marB="27432" anchor="ctr">
                    <a:solidFill>
                      <a:srgbClr val="173042"/>
                    </a:solidFill>
                  </a:tcPr>
                </a:tc>
                <a:tc>
                  <a:txBody>
                    <a:bodyPr/>
                    <a:lstStyle/>
                    <a:p>
                      <a:pPr>
                        <a:lnSpc>
                          <a:spcPct val="105000"/>
                        </a:lnSpc>
                        <a:spcAft>
                          <a:spcPts val="0"/>
                        </a:spcAft>
                      </a:pPr>
                      <a:r>
                        <a:rPr lang="en-GB" sz="2050" b="1">
                          <a:solidFill>
                            <a:srgbClr val="FFFFFF"/>
                          </a:solidFill>
                          <a:latin typeface="Arial"/>
                        </a:rPr>
                        <a:t>Test RMSE</a:t>
                      </a:r>
                    </a:p>
                  </a:txBody>
                  <a:tcPr marL="128016" marR="109728" marT="73152" marB="27432" anchor="ctr">
                    <a:solidFill>
                      <a:srgbClr val="173042"/>
                    </a:solidFill>
                  </a:tcPr>
                </a:tc>
                <a:tc>
                  <a:txBody>
                    <a:bodyPr/>
                    <a:lstStyle/>
                    <a:p>
                      <a:pPr>
                        <a:lnSpc>
                          <a:spcPct val="105000"/>
                        </a:lnSpc>
                        <a:spcAft>
                          <a:spcPts val="0"/>
                        </a:spcAft>
                      </a:pPr>
                      <a:r>
                        <a:rPr lang="en-GB" sz="2050" b="1">
                          <a:solidFill>
                            <a:srgbClr val="FFFFFF"/>
                          </a:solidFill>
                          <a:latin typeface="Arial"/>
                        </a:rPr>
                        <a:t>Test R²</a:t>
                      </a:r>
                    </a:p>
                  </a:txBody>
                  <a:tcPr marL="128016" marR="109728" marT="73152" marB="27432" anchor="ctr">
                    <a:solidFill>
                      <a:srgbClr val="173042"/>
                    </a:solidFill>
                  </a:tcPr>
                </a:tc>
                <a:extLst>
                  <a:ext uri="{0D108BD9-81ED-4DB2-BD59-A6C34878D82A}">
                    <a16:rowId xmlns:a16="http://schemas.microsoft.com/office/drawing/2014/main" val="10000"/>
                  </a:ext>
                </a:extLst>
              </a:tr>
              <a:tr h="731520">
                <a:tc>
                  <a:txBody>
                    <a:bodyPr/>
                    <a:lstStyle/>
                    <a:p>
                      <a:pPr>
                        <a:lnSpc>
                          <a:spcPct val="105000"/>
                        </a:lnSpc>
                        <a:spcAft>
                          <a:spcPts val="0"/>
                        </a:spcAft>
                      </a:pPr>
                      <a:r>
                        <a:rPr lang="en-GB" sz="2100" b="0">
                          <a:solidFill>
                            <a:srgbClr val="173042"/>
                          </a:solidFill>
                          <a:latin typeface="Arial"/>
                        </a:rPr>
                        <a:t>Quadratic polynomial</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6</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1.6959</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0.1803</a:t>
                      </a:r>
                    </a:p>
                  </a:txBody>
                  <a:tcPr marL="128016" marR="109728" marT="73152" marB="27432" anchor="ctr">
                    <a:solidFill>
                      <a:srgbClr val="F6F8FA"/>
                    </a:solidFill>
                  </a:tcPr>
                </a:tc>
                <a:extLst>
                  <a:ext uri="{0D108BD9-81ED-4DB2-BD59-A6C34878D82A}">
                    <a16:rowId xmlns:a16="http://schemas.microsoft.com/office/drawing/2014/main" val="10001"/>
                  </a:ext>
                </a:extLst>
              </a:tr>
              <a:tr h="731520">
                <a:tc>
                  <a:txBody>
                    <a:bodyPr/>
                    <a:lstStyle/>
                    <a:p>
                      <a:pPr>
                        <a:lnSpc>
                          <a:spcPct val="105000"/>
                        </a:lnSpc>
                        <a:spcAft>
                          <a:spcPts val="0"/>
                        </a:spcAft>
                      </a:pPr>
                      <a:r>
                        <a:rPr lang="en-GB" sz="2100" b="0">
                          <a:solidFill>
                            <a:srgbClr val="173042"/>
                          </a:solidFill>
                          <a:latin typeface="Arial"/>
                        </a:rPr>
                        <a:t>Degree-five polynomial</a:t>
                      </a:r>
                    </a:p>
                  </a:txBody>
                  <a:tcPr marL="128016" marR="109728" marT="73152" marB="27432" anchor="ctr">
                    <a:solidFill>
                      <a:srgbClr val="FFFFFF"/>
                    </a:solidFill>
                  </a:tcPr>
                </a:tc>
                <a:tc>
                  <a:txBody>
                    <a:bodyPr/>
                    <a:lstStyle/>
                    <a:p>
                      <a:pPr>
                        <a:lnSpc>
                          <a:spcPct val="105000"/>
                        </a:lnSpc>
                        <a:spcAft>
                          <a:spcPts val="0"/>
                        </a:spcAft>
                      </a:pPr>
                      <a:r>
                        <a:rPr lang="en-GB" sz="2100" b="0">
                          <a:solidFill>
                            <a:srgbClr val="173042"/>
                          </a:solidFill>
                          <a:latin typeface="Arial"/>
                        </a:rPr>
                        <a:t>21</a:t>
                      </a:r>
                    </a:p>
                  </a:txBody>
                  <a:tcPr marL="128016" marR="109728" marT="73152" marB="27432" anchor="ctr">
                    <a:solidFill>
                      <a:srgbClr val="FFFFFF"/>
                    </a:solidFill>
                  </a:tcPr>
                </a:tc>
                <a:tc>
                  <a:txBody>
                    <a:bodyPr/>
                    <a:lstStyle/>
                    <a:p>
                      <a:pPr>
                        <a:lnSpc>
                          <a:spcPct val="105000"/>
                        </a:lnSpc>
                        <a:spcAft>
                          <a:spcPts val="0"/>
                        </a:spcAft>
                      </a:pPr>
                      <a:r>
                        <a:rPr lang="en-GB" sz="2100" b="0">
                          <a:solidFill>
                            <a:srgbClr val="173042"/>
                          </a:solidFill>
                          <a:latin typeface="Arial"/>
                        </a:rPr>
                        <a:t>1.2170</a:t>
                      </a:r>
                    </a:p>
                  </a:txBody>
                  <a:tcPr marL="128016" marR="109728" marT="73152" marB="27432" anchor="ctr">
                    <a:solidFill>
                      <a:srgbClr val="FFFFFF"/>
                    </a:solidFill>
                  </a:tcPr>
                </a:tc>
                <a:tc>
                  <a:txBody>
                    <a:bodyPr/>
                    <a:lstStyle/>
                    <a:p>
                      <a:pPr>
                        <a:lnSpc>
                          <a:spcPct val="105000"/>
                        </a:lnSpc>
                        <a:spcAft>
                          <a:spcPts val="0"/>
                        </a:spcAft>
                      </a:pPr>
                      <a:r>
                        <a:rPr lang="en-GB" sz="2100" b="0">
                          <a:solidFill>
                            <a:srgbClr val="173042"/>
                          </a:solidFill>
                          <a:latin typeface="Arial"/>
                        </a:rPr>
                        <a:t>0.5779</a:t>
                      </a:r>
                    </a:p>
                  </a:txBody>
                  <a:tcPr marL="128016" marR="109728" marT="73152" marB="27432" anchor="ctr">
                    <a:solidFill>
                      <a:srgbClr val="FFFFFF"/>
                    </a:solidFill>
                  </a:tcPr>
                </a:tc>
                <a:extLst>
                  <a:ext uri="{0D108BD9-81ED-4DB2-BD59-A6C34878D82A}">
                    <a16:rowId xmlns:a16="http://schemas.microsoft.com/office/drawing/2014/main" val="10002"/>
                  </a:ext>
                </a:extLst>
              </a:tr>
              <a:tr h="731520">
                <a:tc>
                  <a:txBody>
                    <a:bodyPr/>
                    <a:lstStyle/>
                    <a:p>
                      <a:pPr>
                        <a:lnSpc>
                          <a:spcPct val="105000"/>
                        </a:lnSpc>
                        <a:spcAft>
                          <a:spcPts val="0"/>
                        </a:spcAft>
                      </a:pPr>
                      <a:r>
                        <a:rPr lang="en-GB" sz="2100" b="0">
                          <a:solidFill>
                            <a:srgbClr val="173042"/>
                          </a:solidFill>
                          <a:latin typeface="Arial"/>
                        </a:rPr>
                        <a:t>Restricted-library SR</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7</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&lt; 10⁻¹²</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 1.0000</a:t>
                      </a:r>
                    </a:p>
                  </a:txBody>
                  <a:tcPr marL="128016" marR="109728" marT="73152" marB="27432" anchor="ctr">
                    <a:solidFill>
                      <a:srgbClr val="F6F8FA"/>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841248" y="5285232"/>
            <a:ext cx="10323576" cy="47548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700" b="1">
                <a:solidFill>
                  <a:srgbClr val="24777A"/>
                </a:solidFill>
                <a:latin typeface="Arial"/>
              </a:rPr>
              <a:t>A better representation can outperform a larger polynomial.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03 • CASE 1 — PEAKS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Inspect the shape—not only a scalar score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29</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Slice through the computed models at y = 1. No fitting is performed on the slice.</a:t>
            </a:r>
          </a:p>
        </p:txBody>
      </p:sp>
      <p:pic>
        <p:nvPicPr>
          <p:cNvPr id="9" name="peaks_slice.png" descr="peaks_slice.png"/>
          <p:cNvPicPr>
            <a:picLocks noChangeAspect="1"/>
          </p:cNvPicPr>
          <p:nvPr/>
        </p:nvPicPr>
        <p:blipFill>
          <a:blip r:embed="rId3"/>
          <a:stretch>
            <a:fillRect/>
          </a:stretch>
        </p:blipFill>
        <p:spPr>
          <a:xfrm>
            <a:off x="2097712" y="1746504"/>
            <a:ext cx="7956951" cy="4224528"/>
          </a:xfrm>
          <a:prstGeom prst="rect">
            <a:avLst/>
          </a:prstGeom>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03 • CASE 1 — PEAKS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Why this success is deliberately favourable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30</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Dictionary conditioning calculated from the training design. Method context: [3].</a:t>
            </a:r>
          </a:p>
        </p:txBody>
      </p:sp>
      <p:sp>
        <p:nvSpPr>
          <p:cNvPr id="9" name="Rounded Rectangle 8"/>
          <p:cNvSpPr/>
          <p:nvPr/>
        </p:nvSpPr>
        <p:spPr>
          <a:xfrm>
            <a:off x="667512" y="1773936"/>
            <a:ext cx="3474720" cy="363931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86968" y="1956816"/>
            <a:ext cx="3035808"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60" b="1">
                <a:solidFill>
                  <a:srgbClr val="24777A"/>
                </a:solidFill>
                <a:latin typeface="Arial"/>
              </a:rPr>
              <a:t>THE RIGHT TERMS EXIST</a:t>
            </a:r>
          </a:p>
        </p:txBody>
      </p:sp>
      <p:sp>
        <p:nvSpPr>
          <p:cNvPr id="11" name="TextBox 10"/>
          <p:cNvSpPr txBox="1"/>
          <p:nvPr/>
        </p:nvSpPr>
        <p:spPr>
          <a:xfrm>
            <a:off x="886968" y="2624328"/>
            <a:ext cx="3035808" cy="2642615"/>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The supplied dictionary contains the exact target terms. Centres and widths are fixed.</a:t>
            </a:r>
          </a:p>
        </p:txBody>
      </p:sp>
      <p:sp>
        <p:nvSpPr>
          <p:cNvPr id="12" name="Rounded Rectangle 11"/>
          <p:cNvSpPr/>
          <p:nvPr/>
        </p:nvSpPr>
        <p:spPr>
          <a:xfrm>
            <a:off x="4379976" y="1773936"/>
            <a:ext cx="3474720" cy="3639312"/>
          </a:xfrm>
          <a:prstGeom prst="roundRect">
            <a:avLst>
              <a:gd name="adj" fmla="val 8000"/>
            </a:avLst>
          </a:prstGeom>
          <a:solidFill>
            <a:srgbClr val="F6F1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4599432" y="1956816"/>
            <a:ext cx="3035808"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NO ADDED NOISE</a:t>
            </a:r>
          </a:p>
        </p:txBody>
      </p:sp>
      <p:sp>
        <p:nvSpPr>
          <p:cNvPr id="14" name="TextBox 13"/>
          <p:cNvSpPr txBox="1"/>
          <p:nvPr/>
        </p:nvSpPr>
        <p:spPr>
          <a:xfrm>
            <a:off x="4599432" y="2624328"/>
            <a:ext cx="3035808" cy="2642615"/>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0">
                <a:solidFill>
                  <a:srgbClr val="173042"/>
                </a:solidFill>
                <a:latin typeface="Arial"/>
              </a:rPr>
              <a:t>The scaled dictionary has a condition number of about 1.55 × 10¹¹. Noise stability is not established.</a:t>
            </a:r>
          </a:p>
        </p:txBody>
      </p:sp>
      <p:sp>
        <p:nvSpPr>
          <p:cNvPr id="15" name="Rounded Rectangle 14"/>
          <p:cNvSpPr/>
          <p:nvPr/>
        </p:nvSpPr>
        <p:spPr>
          <a:xfrm>
            <a:off x="8092440" y="1773936"/>
            <a:ext cx="3474720" cy="3639312"/>
          </a:xfrm>
          <a:prstGeom prst="roundRect">
            <a:avLst>
              <a:gd name="adj" fmla="val 8000"/>
            </a:avLst>
          </a:prstGeom>
          <a:solidFill>
            <a:srgbClr val="EAF0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311896" y="1956816"/>
            <a:ext cx="3035808"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982" b="1">
                <a:solidFill>
                  <a:srgbClr val="24777A"/>
                </a:solidFill>
                <a:latin typeface="Arial"/>
              </a:rPr>
              <a:t>NOT A GP BENCHMARK</a:t>
            </a:r>
          </a:p>
        </p:txBody>
      </p:sp>
      <p:sp>
        <p:nvSpPr>
          <p:cNvPr id="17" name="TextBox 16"/>
          <p:cNvSpPr txBox="1"/>
          <p:nvPr/>
        </p:nvSpPr>
        <p:spPr>
          <a:xfrm>
            <a:off x="8311896" y="2624328"/>
            <a:ext cx="3035808" cy="2642615"/>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The computation uses finite-library thresholding and refitting, not unrestricted tree search.</a:t>
            </a:r>
          </a:p>
        </p:txBody>
      </p:sp>
      <p:sp>
        <p:nvSpPr>
          <p:cNvPr id="18" name="Rounded Rectangle 17"/>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Performance depends on data, representation and selection—not the algorithm name alone.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2930" b="1">
                <a:solidFill>
                  <a:srgbClr val="173042"/>
                </a:solidFill>
                <a:latin typeface="Arial"/>
              </a:rPr>
              <a:t>From a mathematical surface to a coupled chemical process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31</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Conceptual process schematic. No full plant dataset is fitted in this teaching case.</a:t>
            </a:r>
          </a:p>
        </p:txBody>
      </p:sp>
      <p:sp>
        <p:nvSpPr>
          <p:cNvPr id="9" name="Rounded Rectangle 8"/>
          <p:cNvSpPr/>
          <p:nvPr/>
        </p:nvSpPr>
        <p:spPr>
          <a:xfrm>
            <a:off x="630936" y="2304288"/>
            <a:ext cx="1938528" cy="80467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40664" y="2359152"/>
            <a:ext cx="1719072" cy="694944"/>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50" b="1">
                <a:solidFill>
                  <a:srgbClr val="173042"/>
                </a:solidFill>
                <a:latin typeface="Arial"/>
              </a:rPr>
              <a:t>Water electrolysis</a:t>
            </a:r>
          </a:p>
        </p:txBody>
      </p:sp>
      <p:sp>
        <p:nvSpPr>
          <p:cNvPr id="11" name="Rounded Rectangle 10"/>
          <p:cNvSpPr/>
          <p:nvPr/>
        </p:nvSpPr>
        <p:spPr>
          <a:xfrm>
            <a:off x="3209544" y="2304288"/>
            <a:ext cx="1728216" cy="804672"/>
          </a:xfrm>
          <a:prstGeom prst="roundRect">
            <a:avLst>
              <a:gd name="adj" fmla="val 8000"/>
            </a:avLst>
          </a:prstGeom>
          <a:solidFill>
            <a:srgbClr val="EAF0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3319272" y="2359152"/>
            <a:ext cx="1508760" cy="694944"/>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800" b="1">
                <a:solidFill>
                  <a:srgbClr val="173042"/>
                </a:solidFill>
                <a:latin typeface="Arial"/>
              </a:rPr>
              <a:t>Compression</a:t>
            </a:r>
          </a:p>
        </p:txBody>
      </p:sp>
      <p:sp>
        <p:nvSpPr>
          <p:cNvPr id="13" name="Rounded Rectangle 12"/>
          <p:cNvSpPr/>
          <p:nvPr/>
        </p:nvSpPr>
        <p:spPr>
          <a:xfrm>
            <a:off x="5586984" y="2240280"/>
            <a:ext cx="1911095" cy="932688"/>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5696712" y="2295144"/>
            <a:ext cx="1691639" cy="822960"/>
          </a:xfrm>
          <a:prstGeom prst="rect">
            <a:avLst/>
          </a:prstGeom>
          <a:noFill/>
          <a:effectLst/>
        </p:spPr>
        <p:txBody>
          <a:bodyPr wrap="square" lIns="0" tIns="0" rIns="0" bIns="0" anchor="ctr">
            <a:noAutofit/>
          </a:bodyPr>
          <a:lstStyle/>
          <a:p>
            <a:pPr algn="ctr">
              <a:lnSpc>
                <a:spcPct val="113000"/>
              </a:lnSpc>
              <a:spcBef>
                <a:spcPts val="0"/>
              </a:spcBef>
              <a:spcAft>
                <a:spcPts val="400"/>
              </a:spcAft>
            </a:pPr>
            <a:r>
              <a:rPr lang="en-GB" sz="1800" b="1">
                <a:solidFill>
                  <a:srgbClr val="173042"/>
                </a:solidFill>
                <a:latin typeface="Arial"/>
              </a:rPr>
              <a:t>Methanol</a:t>
            </a:r>
          </a:p>
          <a:p>
            <a:pPr algn="ctr">
              <a:lnSpc>
                <a:spcPct val="113000"/>
              </a:lnSpc>
              <a:spcBef>
                <a:spcPts val="0"/>
              </a:spcBef>
              <a:spcAft>
                <a:spcPts val="0"/>
              </a:spcAft>
            </a:pPr>
            <a:r>
              <a:rPr lang="en-GB" sz="1800" b="1">
                <a:solidFill>
                  <a:srgbClr val="173042"/>
                </a:solidFill>
                <a:latin typeface="Arial"/>
              </a:rPr>
              <a:t>synthesis</a:t>
            </a:r>
          </a:p>
        </p:txBody>
      </p:sp>
      <p:sp>
        <p:nvSpPr>
          <p:cNvPr id="15" name="Rounded Rectangle 14"/>
          <p:cNvSpPr/>
          <p:nvPr/>
        </p:nvSpPr>
        <p:spPr>
          <a:xfrm>
            <a:off x="8165592" y="2240280"/>
            <a:ext cx="1737360" cy="932688"/>
          </a:xfrm>
          <a:prstGeom prst="roundRect">
            <a:avLst>
              <a:gd name="adj" fmla="val 8000"/>
            </a:avLst>
          </a:prstGeom>
          <a:solidFill>
            <a:srgbClr val="EAF0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275319" y="2295144"/>
            <a:ext cx="1517904" cy="822960"/>
          </a:xfrm>
          <a:prstGeom prst="rect">
            <a:avLst/>
          </a:prstGeom>
          <a:noFill/>
          <a:effectLst/>
        </p:spPr>
        <p:txBody>
          <a:bodyPr wrap="square" lIns="0" tIns="0" rIns="0" bIns="0" anchor="ctr">
            <a:noAutofit/>
          </a:bodyPr>
          <a:lstStyle/>
          <a:p>
            <a:pPr algn="ctr">
              <a:lnSpc>
                <a:spcPct val="113000"/>
              </a:lnSpc>
              <a:spcBef>
                <a:spcPts val="0"/>
              </a:spcBef>
              <a:spcAft>
                <a:spcPts val="400"/>
              </a:spcAft>
            </a:pPr>
            <a:r>
              <a:rPr lang="en-GB" sz="1800" b="1">
                <a:solidFill>
                  <a:srgbClr val="173042"/>
                </a:solidFill>
                <a:latin typeface="Arial"/>
              </a:rPr>
              <a:t>Cooling /</a:t>
            </a:r>
          </a:p>
          <a:p>
            <a:pPr algn="ctr">
              <a:lnSpc>
                <a:spcPct val="113000"/>
              </a:lnSpc>
              <a:spcBef>
                <a:spcPts val="0"/>
              </a:spcBef>
              <a:spcAft>
                <a:spcPts val="0"/>
              </a:spcAft>
            </a:pPr>
            <a:r>
              <a:rPr lang="en-GB" sz="1800" b="1">
                <a:solidFill>
                  <a:srgbClr val="173042"/>
                </a:solidFill>
                <a:latin typeface="Arial"/>
              </a:rPr>
              <a:t>separation</a:t>
            </a:r>
          </a:p>
        </p:txBody>
      </p:sp>
      <p:sp>
        <p:nvSpPr>
          <p:cNvPr id="17" name="Rounded Rectangle 16"/>
          <p:cNvSpPr/>
          <p:nvPr/>
        </p:nvSpPr>
        <p:spPr>
          <a:xfrm>
            <a:off x="10049256" y="4279392"/>
            <a:ext cx="1618488" cy="75895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10158984" y="4334255"/>
            <a:ext cx="1399032" cy="649224"/>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700" b="1">
                <a:solidFill>
                  <a:srgbClr val="173042"/>
                </a:solidFill>
                <a:latin typeface="Arial"/>
              </a:rPr>
              <a:t>Distillation</a:t>
            </a:r>
          </a:p>
        </p:txBody>
      </p:sp>
      <p:cxnSp>
        <p:nvCxnSpPr>
          <p:cNvPr id="19" name="Connector 18"/>
          <p:cNvCxnSpPr/>
          <p:nvPr/>
        </p:nvCxnSpPr>
        <p:spPr>
          <a:xfrm>
            <a:off x="2587752" y="2697480"/>
            <a:ext cx="530352"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4974336" y="2697480"/>
            <a:ext cx="512064"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7534656" y="2697480"/>
            <a:ext cx="530352"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2615184" y="2194560"/>
            <a:ext cx="512064" cy="28346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173042"/>
                </a:solidFill>
                <a:latin typeface="Arial"/>
              </a:rPr>
              <a:t>H₂</a:t>
            </a:r>
          </a:p>
        </p:txBody>
      </p:sp>
      <p:sp>
        <p:nvSpPr>
          <p:cNvPr id="23" name="Rounded Rectangle 22"/>
          <p:cNvSpPr/>
          <p:nvPr/>
        </p:nvSpPr>
        <p:spPr>
          <a:xfrm>
            <a:off x="5458968" y="1389888"/>
            <a:ext cx="2112264" cy="512064"/>
          </a:xfrm>
          <a:prstGeom prst="roundRect">
            <a:avLst>
              <a:gd name="adj" fmla="val 8000"/>
            </a:avLst>
          </a:prstGeom>
          <a:solidFill>
            <a:srgbClr val="F6F1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5568696" y="1444752"/>
            <a:ext cx="1892808" cy="402336"/>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800" b="1">
                <a:solidFill>
                  <a:srgbClr val="173042"/>
                </a:solidFill>
                <a:latin typeface="Arial"/>
              </a:rPr>
              <a:t>CO₂ supply</a:t>
            </a:r>
          </a:p>
        </p:txBody>
      </p:sp>
      <p:cxnSp>
        <p:nvCxnSpPr>
          <p:cNvPr id="25" name="Connector 24"/>
          <p:cNvCxnSpPr/>
          <p:nvPr/>
        </p:nvCxnSpPr>
        <p:spPr>
          <a:xfrm>
            <a:off x="6537960" y="1920240"/>
            <a:ext cx="0" cy="22860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9070848" y="3218688"/>
            <a:ext cx="0" cy="1435608"/>
          </a:xfrm>
          <a:prstGeom prst="line">
            <a:avLst/>
          </a:prstGeom>
          <a:ln w="20320">
            <a:solidFill>
              <a:srgbClr val="24777A"/>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9070848" y="4654296"/>
            <a:ext cx="868680"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61704" y="3785615"/>
            <a:ext cx="1965960" cy="310896"/>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0">
                <a:solidFill>
                  <a:srgbClr val="617481"/>
                </a:solidFill>
                <a:latin typeface="Arial"/>
              </a:rPr>
              <a:t>Crude liquid</a:t>
            </a:r>
          </a:p>
        </p:txBody>
      </p:sp>
      <p:cxnSp>
        <p:nvCxnSpPr>
          <p:cNvPr id="29" name="Connector 28"/>
          <p:cNvCxnSpPr/>
          <p:nvPr/>
        </p:nvCxnSpPr>
        <p:spPr>
          <a:xfrm>
            <a:off x="8787384" y="3246120"/>
            <a:ext cx="0" cy="448056"/>
          </a:xfrm>
          <a:prstGeom prst="line">
            <a:avLst/>
          </a:prstGeom>
          <a:ln w="15240">
            <a:solidFill>
              <a:srgbClr val="24777A"/>
            </a:solidFill>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flipH="1">
            <a:off x="5239512" y="3694176"/>
            <a:ext cx="3547872" cy="0"/>
          </a:xfrm>
          <a:prstGeom prst="line">
            <a:avLst/>
          </a:prstGeom>
          <a:ln w="15240">
            <a:solidFill>
              <a:srgbClr val="24777A"/>
            </a:solidFill>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flipV="1">
            <a:off x="5239512" y="2743200"/>
            <a:ext cx="0" cy="950976"/>
          </a:xfrm>
          <a:prstGeom prst="line">
            <a:avLst/>
          </a:prstGeom>
          <a:ln w="15240">
            <a:solidFill>
              <a:srgbClr val="24777A"/>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a:off x="5239512" y="2724912"/>
            <a:ext cx="246888"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6153912" y="3794760"/>
            <a:ext cx="2075688"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00" b="1">
                <a:solidFill>
                  <a:srgbClr val="24777A"/>
                </a:solidFill>
                <a:latin typeface="Arial"/>
              </a:rPr>
              <a:t>Recycle gas</a:t>
            </a:r>
          </a:p>
        </p:txBody>
      </p:sp>
      <p:cxnSp>
        <p:nvCxnSpPr>
          <p:cNvPr id="34" name="Connector 33"/>
          <p:cNvCxnSpPr/>
          <p:nvPr/>
        </p:nvCxnSpPr>
        <p:spPr>
          <a:xfrm>
            <a:off x="8055864" y="3730752"/>
            <a:ext cx="0" cy="969264"/>
          </a:xfrm>
          <a:prstGeom prst="line">
            <a:avLst/>
          </a:prstGeom>
          <a:ln w="15240">
            <a:solidFill>
              <a:srgbClr val="A66835"/>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7708392" y="4919472"/>
            <a:ext cx="1051560" cy="3200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700" b="0">
                <a:solidFill>
                  <a:srgbClr val="A66835"/>
                </a:solidFill>
                <a:latin typeface="Arial"/>
              </a:rPr>
              <a:t>Purge</a:t>
            </a:r>
          </a:p>
        </p:txBody>
      </p:sp>
      <p:cxnSp>
        <p:nvCxnSpPr>
          <p:cNvPr id="36" name="Connector 35"/>
          <p:cNvCxnSpPr/>
          <p:nvPr/>
        </p:nvCxnSpPr>
        <p:spPr>
          <a:xfrm>
            <a:off x="10835640" y="5111496"/>
            <a:ext cx="0" cy="45720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10186416" y="5650992"/>
            <a:ext cx="1389888" cy="310896"/>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700" b="1">
                <a:solidFill>
                  <a:srgbClr val="173042"/>
                </a:solidFill>
                <a:latin typeface="Arial"/>
              </a:rPr>
              <a:t>Methanol</a:t>
            </a:r>
          </a:p>
        </p:txBody>
      </p:sp>
      <p:sp>
        <p:nvSpPr>
          <p:cNvPr id="38" name="TextBox 37"/>
          <p:cNvSpPr txBox="1"/>
          <p:nvPr/>
        </p:nvSpPr>
        <p:spPr>
          <a:xfrm>
            <a:off x="768096" y="4361688"/>
            <a:ext cx="6053328" cy="1033271"/>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700" b="1">
                <a:solidFill>
                  <a:srgbClr val="173042"/>
                </a:solidFill>
                <a:latin typeface="Arial"/>
              </a:rPr>
              <a:t>Unit behaviour changes the recycle.</a:t>
            </a:r>
          </a:p>
          <a:p>
            <a:pPr algn="l">
              <a:lnSpc>
                <a:spcPct val="113000"/>
              </a:lnSpc>
              <a:spcBef>
                <a:spcPts val="0"/>
              </a:spcBef>
              <a:spcAft>
                <a:spcPts val="0"/>
              </a:spcAft>
            </a:pPr>
            <a:r>
              <a:rPr lang="en-GB" sz="2700" b="1">
                <a:solidFill>
                  <a:srgbClr val="173042"/>
                </a:solidFill>
                <a:latin typeface="Arial"/>
              </a:rPr>
              <a:t>The recycle changes unit behaviour.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Preserve what physics already tells you</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32</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Algebraic process surrogates: [8]. Physics-constrained model discovery: [9].</a:t>
            </a:r>
          </a:p>
        </p:txBody>
      </p:sp>
      <p:sp>
        <p:nvSpPr>
          <p:cNvPr id="9" name="Rounded Rectangle 8"/>
          <p:cNvSpPr/>
          <p:nvPr/>
        </p:nvSpPr>
        <p:spPr>
          <a:xfrm>
            <a:off x="694944" y="1783080"/>
            <a:ext cx="5294376" cy="3291840"/>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914400" y="1965960"/>
            <a:ext cx="4855464"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RETAIN EXPLICITLY</a:t>
            </a:r>
          </a:p>
        </p:txBody>
      </p:sp>
      <p:sp>
        <p:nvSpPr>
          <p:cNvPr id="11" name="TextBox 10"/>
          <p:cNvSpPr txBox="1"/>
          <p:nvPr/>
        </p:nvSpPr>
        <p:spPr>
          <a:xfrm>
            <a:off x="914400" y="2633472"/>
            <a:ext cx="4855464" cy="2295144"/>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300" b="0">
                <a:solidFill>
                  <a:srgbClr val="173042"/>
                </a:solidFill>
                <a:latin typeface="Arial"/>
              </a:rPr>
              <a:t>Material and energy balances</a:t>
            </a:r>
          </a:p>
          <a:p>
            <a:pPr algn="l">
              <a:lnSpc>
                <a:spcPct val="113000"/>
              </a:lnSpc>
              <a:spcBef>
                <a:spcPts val="0"/>
              </a:spcBef>
              <a:spcAft>
                <a:spcPts val="400"/>
              </a:spcAft>
            </a:pPr>
            <a:r>
              <a:rPr lang="en-GB" sz="2300" b="0">
                <a:solidFill>
                  <a:srgbClr val="173042"/>
                </a:solidFill>
                <a:latin typeface="Arial"/>
              </a:rPr>
              <a:t>Chemical stoichiometry</a:t>
            </a:r>
          </a:p>
          <a:p>
            <a:pPr algn="l">
              <a:lnSpc>
                <a:spcPct val="113000"/>
              </a:lnSpc>
              <a:spcBef>
                <a:spcPts val="0"/>
              </a:spcBef>
              <a:spcAft>
                <a:spcPts val="400"/>
              </a:spcAft>
            </a:pPr>
            <a:r>
              <a:rPr lang="en-GB" sz="2300" b="0">
                <a:solidFill>
                  <a:srgbClr val="173042"/>
                </a:solidFill>
                <a:latin typeface="Arial"/>
              </a:rPr>
              <a:t>Known equipment connections</a:t>
            </a:r>
          </a:p>
          <a:p>
            <a:pPr algn="l">
              <a:lnSpc>
                <a:spcPct val="113000"/>
              </a:lnSpc>
              <a:spcBef>
                <a:spcPts val="0"/>
              </a:spcBef>
              <a:spcAft>
                <a:spcPts val="0"/>
              </a:spcAft>
            </a:pPr>
            <a:r>
              <a:rPr lang="en-GB" sz="2300" b="0">
                <a:solidFill>
                  <a:srgbClr val="173042"/>
                </a:solidFill>
                <a:latin typeface="Arial"/>
              </a:rPr>
              <a:t>Recycle consistency</a:t>
            </a:r>
          </a:p>
        </p:txBody>
      </p:sp>
      <p:sp>
        <p:nvSpPr>
          <p:cNvPr id="12" name="Rounded Rectangle 11"/>
          <p:cNvSpPr/>
          <p:nvPr/>
        </p:nvSpPr>
        <p:spPr>
          <a:xfrm>
            <a:off x="6236208" y="1783080"/>
            <a:ext cx="5294376" cy="3291840"/>
          </a:xfrm>
          <a:prstGeom prst="roundRect">
            <a:avLst>
              <a:gd name="adj" fmla="val 8000"/>
            </a:avLst>
          </a:prstGeom>
          <a:solidFill>
            <a:srgbClr val="EAF0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6455664" y="1965960"/>
            <a:ext cx="4855464"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APPROXIMATE SELECTIVELY</a:t>
            </a:r>
          </a:p>
        </p:txBody>
      </p:sp>
      <p:sp>
        <p:nvSpPr>
          <p:cNvPr id="14" name="TextBox 13"/>
          <p:cNvSpPr txBox="1"/>
          <p:nvPr/>
        </p:nvSpPr>
        <p:spPr>
          <a:xfrm>
            <a:off x="6455664" y="2633472"/>
            <a:ext cx="4855464" cy="2295144"/>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200" b="0">
                <a:solidFill>
                  <a:srgbClr val="173042"/>
                </a:solidFill>
                <a:latin typeface="Arial"/>
              </a:rPr>
              <a:t>Expensive unit responses</a:t>
            </a:r>
          </a:p>
          <a:p>
            <a:pPr algn="l">
              <a:lnSpc>
                <a:spcPct val="113000"/>
              </a:lnSpc>
              <a:spcBef>
                <a:spcPts val="0"/>
              </a:spcBef>
              <a:spcAft>
                <a:spcPts val="400"/>
              </a:spcAft>
            </a:pPr>
            <a:r>
              <a:rPr lang="en-GB" sz="2200" b="0">
                <a:solidFill>
                  <a:srgbClr val="173042"/>
                </a:solidFill>
                <a:latin typeface="Arial"/>
              </a:rPr>
              <a:t>Electrolyser voltage and efficiency</a:t>
            </a:r>
          </a:p>
          <a:p>
            <a:pPr algn="l">
              <a:lnSpc>
                <a:spcPct val="113000"/>
              </a:lnSpc>
              <a:spcBef>
                <a:spcPts val="0"/>
              </a:spcBef>
              <a:spcAft>
                <a:spcPts val="400"/>
              </a:spcAft>
            </a:pPr>
            <a:r>
              <a:rPr lang="en-GB" sz="2200" b="0">
                <a:solidFill>
                  <a:srgbClr val="173042"/>
                </a:solidFill>
                <a:latin typeface="Arial"/>
              </a:rPr>
              <a:t>Reactor conversion</a:t>
            </a:r>
          </a:p>
          <a:p>
            <a:pPr algn="l">
              <a:lnSpc>
                <a:spcPct val="113000"/>
              </a:lnSpc>
              <a:spcBef>
                <a:spcPts val="0"/>
              </a:spcBef>
              <a:spcAft>
                <a:spcPts val="0"/>
              </a:spcAft>
            </a:pPr>
            <a:r>
              <a:rPr lang="en-GB" sz="2200" b="0">
                <a:solidFill>
                  <a:srgbClr val="173042"/>
                </a:solidFill>
                <a:latin typeface="Arial"/>
              </a:rPr>
              <a:t>Other difficult constitutive relations</a:t>
            </a:r>
          </a:p>
        </p:txBody>
      </p:sp>
      <p:sp>
        <p:nvSpPr>
          <p:cNvPr id="15" name="Rounded Rectangle 14"/>
          <p:cNvSpPr/>
          <p:nvPr/>
        </p:nvSpPr>
        <p:spPr>
          <a:xfrm>
            <a:off x="749808" y="5321808"/>
            <a:ext cx="10652760" cy="61264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6" name="Equation 038" descr="\text{hybrid model}=\text{known physics}+\text{symbolic unit models}"/>
              <p:cNvSpPr txBox="1"/>
              <p:nvPr/>
            </p:nvSpPr>
            <p:spPr>
              <a:xfrm>
                <a:off x="2023110" y="5474169"/>
                <a:ext cx="8106156" cy="307924"/>
              </a:xfrm>
              <a:prstGeom prst="rect">
                <a:avLst/>
              </a:prstGeom>
              <a:noFill/>
              <a:effectLst/>
            </p:spPr>
            <p:txBody>
              <a:bodyPr wrap="none" lIns="0" tIns="0" rIns="0" bIns="0" anchor="ctr">
                <a:noAutofit/>
              </a:bodyPr>
              <a:lstStyle/>
              <a:p>
                <a:pPr algn="ctr">
                  <a:spcBef>
                    <a:spcPts val="0"/>
                  </a:spcBef>
                  <a:spcAft>
                    <a:spcPts val="0"/>
                  </a:spcAft>
                  <a:defRPr sz="2700">
                    <a:latin typeface="Cambria Math"/>
                  </a:defRPr>
                </a:pPr>
                <a14:m>
                  <m:oMathPara xmlns:m="http://schemas.openxmlformats.org/officeDocument/2006/math">
                    <m:oMathParaPr>
                      <m:jc m:val="center"/>
                    </m:oMathParaPr>
                    <m:oMath xmlns:m="http://schemas.openxmlformats.org/officeDocument/2006/math">
                      <m:r>
                        <m:rPr>
                          <m:nor/>
                        </m:rPr>
                        <a:rPr lang="en-GB" sz="2700" i="0">
                          <a:latin typeface="Cambria Math"/>
                        </a:rPr>
                        <m:t>hybrid</m:t>
                      </m:r>
                      <m:r>
                        <m:rPr>
                          <m:nor/>
                        </m:rPr>
                        <a:rPr lang="en-GB" sz="2700" i="0">
                          <a:latin typeface="Cambria Math"/>
                        </a:rPr>
                        <m:t> </m:t>
                      </m:r>
                      <m:r>
                        <m:rPr>
                          <m:nor/>
                        </m:rPr>
                        <a:rPr lang="en-GB" sz="2700" i="0">
                          <a:latin typeface="Cambria Math"/>
                        </a:rPr>
                        <m:t>model</m:t>
                      </m:r>
                      <m:r>
                        <a:rPr lang="en-GB" sz="2700" i="0">
                          <a:latin typeface="Cambria Math"/>
                        </a:rPr>
                        <m:t>=</m:t>
                      </m:r>
                      <m:r>
                        <m:rPr>
                          <m:nor/>
                        </m:rPr>
                        <a:rPr lang="en-GB" sz="2700" i="0">
                          <a:latin typeface="Cambria Math"/>
                        </a:rPr>
                        <m:t>known</m:t>
                      </m:r>
                      <m:r>
                        <m:rPr>
                          <m:nor/>
                        </m:rPr>
                        <a:rPr lang="en-GB" sz="2700" i="0">
                          <a:latin typeface="Cambria Math"/>
                        </a:rPr>
                        <m:t> </m:t>
                      </m:r>
                      <m:r>
                        <m:rPr>
                          <m:nor/>
                        </m:rPr>
                        <a:rPr lang="en-GB" sz="2700" i="0">
                          <a:latin typeface="Cambria Math"/>
                        </a:rPr>
                        <m:t>physics</m:t>
                      </m:r>
                      <m:r>
                        <a:rPr lang="en-GB" sz="2700" i="0">
                          <a:latin typeface="Cambria Math"/>
                        </a:rPr>
                        <m:t>+</m:t>
                      </m:r>
                      <m:r>
                        <m:rPr>
                          <m:nor/>
                        </m:rPr>
                        <a:rPr lang="en-GB" sz="2700" i="0">
                          <a:latin typeface="Cambria Math"/>
                        </a:rPr>
                        <m:t>symbolic</m:t>
                      </m:r>
                      <m:r>
                        <m:rPr>
                          <m:nor/>
                        </m:rPr>
                        <a:rPr lang="en-GB" sz="2700" i="0">
                          <a:latin typeface="Cambria Math"/>
                        </a:rPr>
                        <m:t> </m:t>
                      </m:r>
                      <m:r>
                        <m:rPr>
                          <m:nor/>
                        </m:rPr>
                        <a:rPr lang="en-GB" sz="2700" i="0">
                          <a:latin typeface="Cambria Math"/>
                        </a:rPr>
                        <m:t>unit</m:t>
                      </m:r>
                      <m:r>
                        <m:rPr>
                          <m:nor/>
                        </m:rPr>
                        <a:rPr lang="en-GB" sz="2700" i="0">
                          <a:latin typeface="Cambria Math"/>
                        </a:rPr>
                        <m:t> </m:t>
                      </m:r>
                      <m:r>
                        <m:rPr>
                          <m:nor/>
                        </m:rPr>
                        <a:rPr lang="en-GB" sz="2700" i="0">
                          <a:latin typeface="Cambria Math"/>
                        </a:rPr>
                        <m:t>models</m:t>
                      </m:r>
                    </m:oMath>
                  </m:oMathPara>
                </a14:m>
                <a:endParaRPr/>
              </a:p>
            </p:txBody>
          </p:sp>
        </mc:Choice>
        <mc:Fallback>
          <p:sp>
            <p:nvSpPr>
              <p:cNvPr id="16" name="Equation 038" descr="\text{hybrid model}=\text{known physics}+\text{symbolic unit models}"/>
              <p:cNvSpPr txBox="1">
                <a:spLocks noRot="1" noChangeAspect="1" noMove="1" noResize="1" noEditPoints="1" noAdjustHandles="1" noChangeArrowheads="1" noChangeShapeType="1" noTextEdit="1"/>
              </p:cNvSpPr>
              <p:nvPr/>
            </p:nvSpPr>
            <p:spPr>
              <a:xfrm>
                <a:off x="2023110" y="5474169"/>
                <a:ext cx="8106156" cy="307924"/>
              </a:xfrm>
              <a:prstGeom prst="rect">
                <a:avLst/>
              </a:prstGeom>
              <a:blipFill>
                <a:blip r:embed="rId3"/>
                <a:stretch>
                  <a:fillRect l="-2504" t="-32000" r="-1095" b="-64000"/>
                </a:stretch>
              </a:blipFill>
              <a:effectLst/>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Define the targets and the operating mode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33</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Proposed modelling structure for this teaching case; not fitted relations.</a:t>
            </a:r>
          </a:p>
        </p:txBody>
      </p:sp>
      <p:sp>
        <p:nvSpPr>
          <p:cNvPr id="9" name="Rounded Rectangle 8"/>
          <p:cNvSpPr/>
          <p:nvPr/>
        </p:nvSpPr>
        <p:spPr>
          <a:xfrm>
            <a:off x="704088" y="1783080"/>
            <a:ext cx="10762488" cy="969264"/>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905256" y="1892807"/>
            <a:ext cx="10360152"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ELECTROLYSER VOLTAGE</a:t>
            </a:r>
          </a:p>
        </p:txBody>
      </p:sp>
      <mc:AlternateContent xmlns:mc="http://schemas.openxmlformats.org/markup-compatibility/2006">
        <mc:Choice xmlns:a14="http://schemas.microsoft.com/office/drawing/2010/main" Requires="a14">
          <p:sp>
            <p:nvSpPr>
              <p:cNvPr id="11" name="Equation 039" descr="\hat U=g_U(j,T_{\mathrm{WE}},P_{\mathrm{WE}})"/>
              <p:cNvSpPr txBox="1"/>
              <p:nvPr/>
            </p:nvSpPr>
            <p:spPr>
              <a:xfrm>
                <a:off x="4615718" y="2221991"/>
                <a:ext cx="2939227" cy="420624"/>
              </a:xfrm>
              <a:prstGeom prst="rect">
                <a:avLst/>
              </a:prstGeom>
              <a:noFill/>
              <a:effectLst/>
            </p:spPr>
            <p:txBody>
              <a:bodyPr wrap="none" lIns="0" tIns="0" rIns="0" bIns="0" anchor="ctr">
                <a:noAutofit/>
              </a:bodyPr>
              <a:lstStyle/>
              <a:p>
                <a:pPr algn="ctr">
                  <a:spcBef>
                    <a:spcPts val="0"/>
                  </a:spcBef>
                  <a:spcAft>
                    <a:spcPts val="0"/>
                  </a:spcAft>
                  <a:defRPr sz="2545">
                    <a:latin typeface="Cambria Math"/>
                  </a:defRPr>
                </a:pPr>
                <a14:m>
                  <m:oMathPara xmlns:m="http://schemas.openxmlformats.org/officeDocument/2006/math">
                    <m:oMathParaPr>
                      <m:jc m:val="center"/>
                    </m:oMathParaPr>
                    <m:oMath xmlns:m="http://schemas.openxmlformats.org/officeDocument/2006/math">
                      <m:acc>
                        <m:accPr>
                          <m:chr m:val="̂"/>
                          <m:ctrlPr>
                            <a:rPr lang="en-GB" sz="2546">
                              <a:latin typeface="Cambria Math" panose="02040503050406030204" pitchFamily="18" charset="0"/>
                            </a:rPr>
                          </m:ctrlPr>
                        </m:accPr>
                        <m:e>
                          <m:r>
                            <a:rPr lang="en-GB" sz="2546">
                              <a:latin typeface="Cambria Math"/>
                            </a:rPr>
                            <m:t>𝑈</m:t>
                          </m:r>
                        </m:e>
                      </m:acc>
                      <m:r>
                        <a:rPr lang="en-GB" sz="2546" i="0">
                          <a:latin typeface="Cambria Math"/>
                        </a:rPr>
                        <m:t>=</m:t>
                      </m:r>
                      <m:sSub>
                        <m:sSubPr>
                          <m:ctrlPr>
                            <a:rPr lang="en-GB" sz="2546" i="1">
                              <a:latin typeface="Cambria Math" panose="02040503050406030204" pitchFamily="18" charset="0"/>
                            </a:rPr>
                          </m:ctrlPr>
                        </m:sSubPr>
                        <m:e>
                          <m:r>
                            <a:rPr lang="en-GB" sz="2546">
                              <a:latin typeface="Cambria Math"/>
                            </a:rPr>
                            <m:t>𝑔</m:t>
                          </m:r>
                        </m:e>
                        <m:sub>
                          <m:r>
                            <a:rPr lang="en-GB" sz="2546">
                              <a:latin typeface="Cambria Math"/>
                            </a:rPr>
                            <m:t>𝑈</m:t>
                          </m:r>
                        </m:sub>
                      </m:sSub>
                      <m:d>
                        <m:dPr>
                          <m:ctrlPr>
                            <a:rPr lang="en-GB" sz="2546" i="1">
                              <a:latin typeface="Cambria Math" panose="02040503050406030204" pitchFamily="18" charset="0"/>
                            </a:rPr>
                          </m:ctrlPr>
                        </m:dPr>
                        <m:e>
                          <m:r>
                            <a:rPr lang="en-GB" sz="2546">
                              <a:latin typeface="Cambria Math"/>
                            </a:rPr>
                            <m:t>𝑗</m:t>
                          </m:r>
                          <m:r>
                            <a:rPr lang="en-GB" sz="2546" i="0">
                              <a:latin typeface="Cambria Math"/>
                            </a:rPr>
                            <m:t>,</m:t>
                          </m:r>
                          <m:sSub>
                            <m:sSubPr>
                              <m:ctrlPr>
                                <a:rPr lang="en-GB" sz="2546" i="1">
                                  <a:latin typeface="Cambria Math" panose="02040503050406030204" pitchFamily="18" charset="0"/>
                                </a:rPr>
                              </m:ctrlPr>
                            </m:sSubPr>
                            <m:e>
                              <m:r>
                                <a:rPr lang="en-GB" sz="2546">
                                  <a:latin typeface="Cambria Math"/>
                                </a:rPr>
                                <m:t>𝑇</m:t>
                              </m:r>
                            </m:e>
                            <m:sub>
                              <m:r>
                                <m:rPr>
                                  <m:sty m:val="p"/>
                                </m:rPr>
                                <a:rPr lang="en-GB" sz="2546" i="0">
                                  <a:latin typeface="Cambria Math"/>
                                </a:rPr>
                                <m:t>WE</m:t>
                              </m:r>
                            </m:sub>
                          </m:sSub>
                          <m:r>
                            <a:rPr lang="en-GB" sz="2546" i="0">
                              <a:latin typeface="Cambria Math"/>
                            </a:rPr>
                            <m:t>,</m:t>
                          </m:r>
                          <m:sSub>
                            <m:sSubPr>
                              <m:ctrlPr>
                                <a:rPr lang="en-GB" sz="2546" i="1">
                                  <a:latin typeface="Cambria Math" panose="02040503050406030204" pitchFamily="18" charset="0"/>
                                </a:rPr>
                              </m:ctrlPr>
                            </m:sSubPr>
                            <m:e>
                              <m:r>
                                <a:rPr lang="en-GB" sz="2546">
                                  <a:latin typeface="Cambria Math"/>
                                </a:rPr>
                                <m:t>𝑃</m:t>
                              </m:r>
                            </m:e>
                            <m:sub>
                              <m:r>
                                <m:rPr>
                                  <m:sty m:val="p"/>
                                </m:rPr>
                                <a:rPr lang="en-GB" sz="2546" i="0">
                                  <a:latin typeface="Cambria Math"/>
                                </a:rPr>
                                <m:t>WE</m:t>
                              </m:r>
                            </m:sub>
                          </m:sSub>
                        </m:e>
                      </m:d>
                    </m:oMath>
                  </m:oMathPara>
                </a14:m>
                <a:endParaRPr/>
              </a:p>
            </p:txBody>
          </p:sp>
        </mc:Choice>
        <mc:Fallback>
          <p:sp>
            <p:nvSpPr>
              <p:cNvPr id="11" name="Equation 039" descr="\hat U=g_U(j,T_{\mathrm{WE}},P_{\mathrm{WE}})"/>
              <p:cNvSpPr txBox="1">
                <a:spLocks noRot="1" noChangeAspect="1" noMove="1" noResize="1" noEditPoints="1" noAdjustHandles="1" noChangeArrowheads="1" noChangeShapeType="1" noTextEdit="1"/>
              </p:cNvSpPr>
              <p:nvPr/>
            </p:nvSpPr>
            <p:spPr>
              <a:xfrm>
                <a:off x="4615718" y="2221991"/>
                <a:ext cx="2939227" cy="420624"/>
              </a:xfrm>
              <a:prstGeom prst="rect">
                <a:avLst/>
              </a:prstGeom>
              <a:blipFill>
                <a:blip r:embed="rId3"/>
                <a:stretch>
                  <a:fillRect l="-2586" t="-17647" b="-32353"/>
                </a:stretch>
              </a:blipFill>
              <a:effectLst/>
            </p:spPr>
            <p:txBody>
              <a:bodyPr/>
              <a:lstStyle/>
              <a:p>
                <a:r>
                  <a:rPr lang="zh-CN" altLang="en-US">
                    <a:noFill/>
                  </a:rPr>
                  <a:t> </a:t>
                </a:r>
              </a:p>
            </p:txBody>
          </p:sp>
        </mc:Fallback>
      </mc:AlternateContent>
      <p:sp>
        <p:nvSpPr>
          <p:cNvPr id="12" name="Rounded Rectangle 11"/>
          <p:cNvSpPr/>
          <p:nvPr/>
        </p:nvSpPr>
        <p:spPr>
          <a:xfrm>
            <a:off x="704088" y="2944368"/>
            <a:ext cx="10762488" cy="969264"/>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905256" y="3054096"/>
            <a:ext cx="10360152"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FARADAIC EFFICIENCY</a:t>
            </a:r>
          </a:p>
        </p:txBody>
      </p:sp>
      <mc:AlternateContent xmlns:mc="http://schemas.openxmlformats.org/markup-compatibility/2006">
        <mc:Choice xmlns:a14="http://schemas.microsoft.com/office/drawing/2010/main" Requires="a14">
          <p:sp>
            <p:nvSpPr>
              <p:cNvPr id="14" name="Equation 040" descr="\hat\eta_{\mathrm{F}}=g_{\mathrm{F}}(j,T_{\mathrm{WE}},P_{\mathrm{WE}})"/>
              <p:cNvSpPr txBox="1"/>
              <p:nvPr/>
            </p:nvSpPr>
            <p:spPr>
              <a:xfrm>
                <a:off x="4316482" y="3391662"/>
                <a:ext cx="3537699" cy="403860"/>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sSub>
                        <m:sSubPr>
                          <m:ctrlPr>
                            <a:rPr lang="en-GB" sz="3000">
                              <a:latin typeface="Cambria Math" panose="02040503050406030204" pitchFamily="18" charset="0"/>
                            </a:rPr>
                          </m:ctrlPr>
                        </m:sSubPr>
                        <m:e>
                          <m:acc>
                            <m:accPr>
                              <m:chr m:val="̂"/>
                              <m:ctrlPr>
                                <a:rPr lang="en-GB" sz="3000">
                                  <a:latin typeface="Cambria Math" panose="02040503050406030204" pitchFamily="18" charset="0"/>
                                </a:rPr>
                              </m:ctrlPr>
                            </m:accPr>
                            <m:e>
                              <m:r>
                                <a:rPr lang="en-GB" sz="3000">
                                  <a:latin typeface="Cambria Math"/>
                                </a:rPr>
                                <m:t>𝜂</m:t>
                              </m:r>
                            </m:e>
                          </m:acc>
                        </m:e>
                        <m:sub>
                          <m:r>
                            <m:rPr>
                              <m:sty m:val="p"/>
                            </m:rPr>
                            <a:rPr lang="en-GB" sz="3000" i="0">
                              <a:latin typeface="Cambria Math"/>
                            </a:rPr>
                            <m:t>F</m:t>
                          </m:r>
                        </m:sub>
                      </m:sSub>
                      <m:r>
                        <a:rPr lang="en-GB" sz="3000" i="0">
                          <a:latin typeface="Cambria Math"/>
                        </a:rPr>
                        <m:t>=</m:t>
                      </m:r>
                      <m:sSub>
                        <m:sSubPr>
                          <m:ctrlPr>
                            <a:rPr lang="en-GB" sz="3000" i="1">
                              <a:latin typeface="Cambria Math" panose="02040503050406030204" pitchFamily="18" charset="0"/>
                            </a:rPr>
                          </m:ctrlPr>
                        </m:sSubPr>
                        <m:e>
                          <m:r>
                            <a:rPr lang="en-GB" sz="3000">
                              <a:latin typeface="Cambria Math"/>
                            </a:rPr>
                            <m:t>𝑔</m:t>
                          </m:r>
                        </m:e>
                        <m:sub>
                          <m:r>
                            <m:rPr>
                              <m:sty m:val="p"/>
                            </m:rPr>
                            <a:rPr lang="en-GB" sz="3000" i="0">
                              <a:latin typeface="Cambria Math"/>
                            </a:rPr>
                            <m:t>F</m:t>
                          </m:r>
                        </m:sub>
                      </m:sSub>
                      <m:d>
                        <m:dPr>
                          <m:ctrlPr>
                            <a:rPr lang="en-GB" sz="3000" i="1">
                              <a:latin typeface="Cambria Math" panose="02040503050406030204" pitchFamily="18" charset="0"/>
                            </a:rPr>
                          </m:ctrlPr>
                        </m:dPr>
                        <m:e>
                          <m:r>
                            <a:rPr lang="en-GB" sz="3000">
                              <a:latin typeface="Cambria Math"/>
                            </a:rPr>
                            <m:t>𝑗</m:t>
                          </m:r>
                          <m:r>
                            <a:rPr lang="en-GB" sz="3000" i="0">
                              <a:latin typeface="Cambria Math"/>
                            </a:rPr>
                            <m:t>,</m:t>
                          </m:r>
                          <m:sSub>
                            <m:sSubPr>
                              <m:ctrlPr>
                                <a:rPr lang="en-GB" sz="3000" i="1">
                                  <a:latin typeface="Cambria Math" panose="02040503050406030204" pitchFamily="18" charset="0"/>
                                </a:rPr>
                              </m:ctrlPr>
                            </m:sSubPr>
                            <m:e>
                              <m:r>
                                <a:rPr lang="en-GB" sz="3000">
                                  <a:latin typeface="Cambria Math"/>
                                </a:rPr>
                                <m:t>𝑇</m:t>
                              </m:r>
                            </m:e>
                            <m:sub>
                              <m:r>
                                <m:rPr>
                                  <m:sty m:val="p"/>
                                </m:rPr>
                                <a:rPr lang="en-GB" sz="3000" i="0">
                                  <a:latin typeface="Cambria Math"/>
                                </a:rPr>
                                <m:t>WE</m:t>
                              </m:r>
                            </m:sub>
                          </m:sSub>
                          <m:r>
                            <a:rPr lang="en-GB" sz="3000" i="0">
                              <a:latin typeface="Cambria Math"/>
                            </a:rPr>
                            <m:t>,</m:t>
                          </m:r>
                          <m:sSub>
                            <m:sSubPr>
                              <m:ctrlPr>
                                <a:rPr lang="en-GB" sz="3000" i="1">
                                  <a:latin typeface="Cambria Math" panose="02040503050406030204" pitchFamily="18" charset="0"/>
                                </a:rPr>
                              </m:ctrlPr>
                            </m:sSubPr>
                            <m:e>
                              <m:r>
                                <a:rPr lang="en-GB" sz="3000">
                                  <a:latin typeface="Cambria Math"/>
                                </a:rPr>
                                <m:t>𝑃</m:t>
                              </m:r>
                            </m:e>
                            <m:sub>
                              <m:r>
                                <m:rPr>
                                  <m:sty m:val="p"/>
                                </m:rPr>
                                <a:rPr lang="en-GB" sz="3000" i="0">
                                  <a:latin typeface="Cambria Math"/>
                                </a:rPr>
                                <m:t>WE</m:t>
                              </m:r>
                            </m:sub>
                          </m:sSub>
                        </m:e>
                      </m:d>
                    </m:oMath>
                  </m:oMathPara>
                </a14:m>
                <a:endParaRPr/>
              </a:p>
            </p:txBody>
          </p:sp>
        </mc:Choice>
        <mc:Fallback>
          <p:sp>
            <p:nvSpPr>
              <p:cNvPr id="14" name="Equation 040" descr="\hat\eta_{\mathrm{F}}=g_{\mathrm{F}}(j,T_{\mathrm{WE}},P_{\mathrm{WE}})"/>
              <p:cNvSpPr txBox="1">
                <a:spLocks noRot="1" noChangeAspect="1" noMove="1" noResize="1" noEditPoints="1" noAdjustHandles="1" noChangeArrowheads="1" noChangeShapeType="1" noTextEdit="1"/>
              </p:cNvSpPr>
              <p:nvPr/>
            </p:nvSpPr>
            <p:spPr>
              <a:xfrm>
                <a:off x="4316482" y="3391662"/>
                <a:ext cx="3537699" cy="403860"/>
              </a:xfrm>
              <a:prstGeom prst="rect">
                <a:avLst/>
              </a:prstGeom>
              <a:blipFill>
                <a:blip r:embed="rId4"/>
                <a:stretch>
                  <a:fillRect l="-2143" t="-20588" b="-41176"/>
                </a:stretch>
              </a:blipFill>
              <a:effectLst/>
            </p:spPr>
            <p:txBody>
              <a:bodyPr/>
              <a:lstStyle/>
              <a:p>
                <a:r>
                  <a:rPr lang="zh-CN" altLang="en-US">
                    <a:noFill/>
                  </a:rPr>
                  <a:t> </a:t>
                </a:r>
              </a:p>
            </p:txBody>
          </p:sp>
        </mc:Fallback>
      </mc:AlternateContent>
      <p:sp>
        <p:nvSpPr>
          <p:cNvPr id="15" name="Rounded Rectangle 14"/>
          <p:cNvSpPr/>
          <p:nvPr/>
        </p:nvSpPr>
        <p:spPr>
          <a:xfrm>
            <a:off x="704088" y="4105656"/>
            <a:ext cx="10762488" cy="1033271"/>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905256" y="4215384"/>
            <a:ext cx="10360152"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REACTOR SINGLE-PASS CONVERSION</a:t>
            </a:r>
          </a:p>
        </p:txBody>
      </p:sp>
      <mc:AlternateContent xmlns:mc="http://schemas.openxmlformats.org/markup-compatibility/2006">
        <mc:Choice xmlns:a14="http://schemas.microsoft.com/office/drawing/2010/main" Requires="a14">
          <p:sp>
            <p:nvSpPr>
              <p:cNvPr id="17" name="Equation 041" descr="\hat X_{\mathrm{sp}}=g_{\mathrm{R}}(T_{\mathrm{R}},P_{\mathrm{R}},\mathbf{z}_{\mathrm{in}},\dot n_{\mathrm{in}})"/>
              <p:cNvSpPr txBox="1"/>
              <p:nvPr/>
            </p:nvSpPr>
            <p:spPr>
              <a:xfrm>
                <a:off x="4093839" y="4544568"/>
                <a:ext cx="3982985" cy="484631"/>
              </a:xfrm>
              <a:prstGeom prst="rect">
                <a:avLst/>
              </a:prstGeom>
              <a:noFill/>
              <a:effectLst/>
            </p:spPr>
            <p:txBody>
              <a:bodyPr wrap="none" lIns="0" tIns="0" rIns="0" bIns="0" anchor="ctr">
                <a:noAutofit/>
              </a:bodyPr>
              <a:lstStyle/>
              <a:p>
                <a:pPr algn="ctr">
                  <a:spcBef>
                    <a:spcPts val="0"/>
                  </a:spcBef>
                  <a:spcAft>
                    <a:spcPts val="0"/>
                  </a:spcAft>
                  <a:defRPr sz="2851">
                    <a:latin typeface="Cambria Math"/>
                  </a:defRPr>
                </a:pPr>
                <a14:m>
                  <m:oMathPara xmlns:m="http://schemas.openxmlformats.org/officeDocument/2006/math">
                    <m:oMathParaPr>
                      <m:jc m:val="center"/>
                    </m:oMathParaPr>
                    <m:oMath xmlns:m="http://schemas.openxmlformats.org/officeDocument/2006/math">
                      <m:sSub>
                        <m:sSubPr>
                          <m:ctrlPr>
                            <a:rPr lang="en-GB" sz="2852">
                              <a:latin typeface="Cambria Math" panose="02040503050406030204" pitchFamily="18" charset="0"/>
                            </a:rPr>
                          </m:ctrlPr>
                        </m:sSubPr>
                        <m:e>
                          <m:acc>
                            <m:accPr>
                              <m:chr m:val="̂"/>
                              <m:ctrlPr>
                                <a:rPr lang="en-GB" sz="2852">
                                  <a:latin typeface="Cambria Math" panose="02040503050406030204" pitchFamily="18" charset="0"/>
                                </a:rPr>
                              </m:ctrlPr>
                            </m:accPr>
                            <m:e>
                              <m:r>
                                <a:rPr lang="en-GB" sz="2852">
                                  <a:latin typeface="Cambria Math"/>
                                </a:rPr>
                                <m:t>𝑋</m:t>
                              </m:r>
                            </m:e>
                          </m:acc>
                        </m:e>
                        <m:sub>
                          <m:r>
                            <m:rPr>
                              <m:sty m:val="p"/>
                            </m:rPr>
                            <a:rPr lang="en-GB" sz="2852" i="0">
                              <a:latin typeface="Cambria Math"/>
                            </a:rPr>
                            <m:t>sp</m:t>
                          </m:r>
                        </m:sub>
                      </m:sSub>
                      <m:r>
                        <a:rPr lang="en-GB" sz="2852" i="0">
                          <a:latin typeface="Cambria Math"/>
                        </a:rPr>
                        <m:t>=</m:t>
                      </m:r>
                      <m:sSub>
                        <m:sSubPr>
                          <m:ctrlPr>
                            <a:rPr lang="en-GB" sz="2852" i="1">
                              <a:latin typeface="Cambria Math" panose="02040503050406030204" pitchFamily="18" charset="0"/>
                            </a:rPr>
                          </m:ctrlPr>
                        </m:sSubPr>
                        <m:e>
                          <m:r>
                            <a:rPr lang="en-GB" sz="2852">
                              <a:latin typeface="Cambria Math"/>
                            </a:rPr>
                            <m:t>𝑔</m:t>
                          </m:r>
                        </m:e>
                        <m:sub>
                          <m:r>
                            <m:rPr>
                              <m:sty m:val="p"/>
                            </m:rPr>
                            <a:rPr lang="en-GB" sz="2852" i="0">
                              <a:latin typeface="Cambria Math"/>
                            </a:rPr>
                            <m:t>R</m:t>
                          </m:r>
                        </m:sub>
                      </m:sSub>
                      <m:d>
                        <m:dPr>
                          <m:ctrlPr>
                            <a:rPr lang="en-GB" sz="2852" i="1">
                              <a:latin typeface="Cambria Math" panose="02040503050406030204" pitchFamily="18" charset="0"/>
                            </a:rPr>
                          </m:ctrlPr>
                        </m:dPr>
                        <m:e>
                          <m:sSub>
                            <m:sSubPr>
                              <m:ctrlPr>
                                <a:rPr lang="en-GB" sz="2852" i="1">
                                  <a:latin typeface="Cambria Math" panose="02040503050406030204" pitchFamily="18" charset="0"/>
                                </a:rPr>
                              </m:ctrlPr>
                            </m:sSubPr>
                            <m:e>
                              <m:r>
                                <a:rPr lang="en-GB" sz="2852">
                                  <a:latin typeface="Cambria Math"/>
                                </a:rPr>
                                <m:t>𝑇</m:t>
                              </m:r>
                            </m:e>
                            <m:sub>
                              <m:r>
                                <m:rPr>
                                  <m:sty m:val="p"/>
                                </m:rPr>
                                <a:rPr lang="en-GB" sz="2852" i="0">
                                  <a:latin typeface="Cambria Math"/>
                                </a:rPr>
                                <m:t>R</m:t>
                              </m:r>
                            </m:sub>
                          </m:sSub>
                          <m:r>
                            <a:rPr lang="en-GB" sz="2852" i="0">
                              <a:latin typeface="Cambria Math"/>
                            </a:rPr>
                            <m:t>,</m:t>
                          </m:r>
                          <m:sSub>
                            <m:sSubPr>
                              <m:ctrlPr>
                                <a:rPr lang="en-GB" sz="2852" i="1">
                                  <a:latin typeface="Cambria Math" panose="02040503050406030204" pitchFamily="18" charset="0"/>
                                </a:rPr>
                              </m:ctrlPr>
                            </m:sSubPr>
                            <m:e>
                              <m:r>
                                <a:rPr lang="en-GB" sz="2852">
                                  <a:latin typeface="Cambria Math"/>
                                </a:rPr>
                                <m:t>𝑃</m:t>
                              </m:r>
                            </m:e>
                            <m:sub>
                              <m:r>
                                <m:rPr>
                                  <m:sty m:val="p"/>
                                </m:rPr>
                                <a:rPr lang="en-GB" sz="2852" i="0">
                                  <a:latin typeface="Cambria Math"/>
                                </a:rPr>
                                <m:t>R</m:t>
                              </m:r>
                            </m:sub>
                          </m:sSub>
                          <m:r>
                            <a:rPr lang="en-GB" sz="2852" i="0">
                              <a:latin typeface="Cambria Math"/>
                            </a:rPr>
                            <m:t>,</m:t>
                          </m:r>
                          <m:sSub>
                            <m:sSubPr>
                              <m:ctrlPr>
                                <a:rPr lang="en-GB" sz="2852" i="1">
                                  <a:latin typeface="Cambria Math" panose="02040503050406030204" pitchFamily="18" charset="0"/>
                                </a:rPr>
                              </m:ctrlPr>
                            </m:sSubPr>
                            <m:e>
                              <m:r>
                                <a:rPr lang="en-GB" sz="2852" i="0">
                                  <a:latin typeface="Cambria Math"/>
                                </a:rPr>
                                <m:t>𝐳</m:t>
                              </m:r>
                            </m:e>
                            <m:sub>
                              <m:r>
                                <m:rPr>
                                  <m:sty m:val="p"/>
                                </m:rPr>
                                <a:rPr lang="en-GB" sz="2852" i="0">
                                  <a:latin typeface="Cambria Math"/>
                                </a:rPr>
                                <m:t>in</m:t>
                              </m:r>
                            </m:sub>
                          </m:sSub>
                          <m:r>
                            <a:rPr lang="en-GB" sz="2852" i="0">
                              <a:latin typeface="Cambria Math"/>
                            </a:rPr>
                            <m:t>,</m:t>
                          </m:r>
                          <m:sSub>
                            <m:sSubPr>
                              <m:ctrlPr>
                                <a:rPr lang="en-GB" sz="2852" i="1">
                                  <a:latin typeface="Cambria Math" panose="02040503050406030204" pitchFamily="18" charset="0"/>
                                </a:rPr>
                              </m:ctrlPr>
                            </m:sSubPr>
                            <m:e>
                              <m:acc>
                                <m:accPr>
                                  <m:chr m:val="̇"/>
                                  <m:ctrlPr>
                                    <a:rPr lang="en-GB" sz="2852" i="1">
                                      <a:latin typeface="Cambria Math" panose="02040503050406030204" pitchFamily="18" charset="0"/>
                                    </a:rPr>
                                  </m:ctrlPr>
                                </m:accPr>
                                <m:e>
                                  <m:r>
                                    <a:rPr lang="en-GB" sz="2852">
                                      <a:latin typeface="Cambria Math"/>
                                    </a:rPr>
                                    <m:t>𝑛</m:t>
                                  </m:r>
                                </m:e>
                              </m:acc>
                            </m:e>
                            <m:sub>
                              <m:r>
                                <m:rPr>
                                  <m:sty m:val="p"/>
                                </m:rPr>
                                <a:rPr lang="en-GB" sz="2852" i="0">
                                  <a:latin typeface="Cambria Math"/>
                                </a:rPr>
                                <m:t>in</m:t>
                              </m:r>
                            </m:sub>
                          </m:sSub>
                        </m:e>
                      </m:d>
                    </m:oMath>
                  </m:oMathPara>
                </a14:m>
                <a:endParaRPr/>
              </a:p>
            </p:txBody>
          </p:sp>
        </mc:Choice>
        <mc:Fallback>
          <p:sp>
            <p:nvSpPr>
              <p:cNvPr id="17" name="Equation 041" descr="\hat X_{\mathrm{sp}}=g_{\mathrm{R}}(T_{\mathrm{R}},P_{\mathrm{R}},\mathbf{z}_{\mathrm{in}},\dot n_{\mathrm{in}})"/>
              <p:cNvSpPr txBox="1">
                <a:spLocks noRot="1" noChangeAspect="1" noMove="1" noResize="1" noEditPoints="1" noAdjustHandles="1" noChangeArrowheads="1" noChangeShapeType="1" noTextEdit="1"/>
              </p:cNvSpPr>
              <p:nvPr/>
            </p:nvSpPr>
            <p:spPr>
              <a:xfrm>
                <a:off x="4093839" y="4544568"/>
                <a:ext cx="3982985" cy="484631"/>
              </a:xfrm>
              <a:prstGeom prst="rect">
                <a:avLst/>
              </a:prstGeom>
              <a:blipFill>
                <a:blip r:embed="rId5"/>
                <a:stretch>
                  <a:fillRect l="-1592" t="-21053" b="-26316"/>
                </a:stretch>
              </a:blipFill>
              <a:effectLst/>
            </p:spPr>
            <p:txBody>
              <a:bodyPr/>
              <a:lstStyle/>
              <a:p>
                <a:r>
                  <a:rPr lang="zh-CN" altLang="en-US">
                    <a:noFill/>
                  </a:rPr>
                  <a:t> </a:t>
                </a:r>
              </a:p>
            </p:txBody>
          </p:sp>
        </mc:Fallback>
      </mc:AlternateContent>
      <p:sp>
        <p:nvSpPr>
          <p:cNvPr id="18" name="Rounded Rectangle 17"/>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For a current-controlled cell, current density is an input and voltage is a response.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Design the dataset around the process, not the algorithm</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34</a:t>
            </a:r>
          </a:p>
        </p:txBody>
      </p:sp>
      <p:graphicFrame>
        <p:nvGraphicFramePr>
          <p:cNvPr id="8" name="Table 7"/>
          <p:cNvGraphicFramePr>
            <a:graphicFrameLocks noGrp="1"/>
          </p:cNvGraphicFramePr>
          <p:nvPr/>
        </p:nvGraphicFramePr>
        <p:xfrm>
          <a:off x="740664" y="1828800"/>
          <a:ext cx="10725912" cy="3520440"/>
        </p:xfrm>
        <a:graphic>
          <a:graphicData uri="http://schemas.openxmlformats.org/drawingml/2006/table">
            <a:tbl>
              <a:tblPr firstRow="1" bandRow="1">
                <a:tableStyleId>{5C22544A-7EE6-4342-B048-85BDC9FD1C3A}</a:tableStyleId>
              </a:tblPr>
              <a:tblGrid>
                <a:gridCol w="3136392">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tblGrid>
              <a:tr h="704088">
                <a:tc>
                  <a:txBody>
                    <a:bodyPr/>
                    <a:lstStyle/>
                    <a:p>
                      <a:pPr>
                        <a:lnSpc>
                          <a:spcPct val="105000"/>
                        </a:lnSpc>
                        <a:spcAft>
                          <a:spcPts val="0"/>
                        </a:spcAft>
                      </a:pPr>
                      <a:r>
                        <a:rPr lang="en-GB" sz="2050" b="1">
                          <a:solidFill>
                            <a:srgbClr val="FFFFFF"/>
                          </a:solidFill>
                          <a:latin typeface="Arial"/>
                        </a:rPr>
                        <a:t>Record</a:t>
                      </a:r>
                    </a:p>
                  </a:txBody>
                  <a:tcPr marL="128016" marR="109728" marT="73152" marB="27432" anchor="ctr">
                    <a:solidFill>
                      <a:srgbClr val="173042"/>
                    </a:solidFill>
                  </a:tcPr>
                </a:tc>
                <a:tc>
                  <a:txBody>
                    <a:bodyPr/>
                    <a:lstStyle/>
                    <a:p>
                      <a:pPr>
                        <a:lnSpc>
                          <a:spcPct val="105000"/>
                        </a:lnSpc>
                        <a:spcAft>
                          <a:spcPts val="0"/>
                        </a:spcAft>
                      </a:pPr>
                      <a:r>
                        <a:rPr lang="en-GB" sz="2050" b="1">
                          <a:solidFill>
                            <a:srgbClr val="FFFFFF"/>
                          </a:solidFill>
                          <a:latin typeface="Arial"/>
                        </a:rPr>
                        <a:t>Why it matters</a:t>
                      </a:r>
                    </a:p>
                  </a:txBody>
                  <a:tcPr marL="128016" marR="109728" marT="73152" marB="27432" anchor="ctr">
                    <a:solidFill>
                      <a:srgbClr val="173042"/>
                    </a:solidFill>
                  </a:tcPr>
                </a:tc>
                <a:extLst>
                  <a:ext uri="{0D108BD9-81ED-4DB2-BD59-A6C34878D82A}">
                    <a16:rowId xmlns:a16="http://schemas.microsoft.com/office/drawing/2014/main" val="10000"/>
                  </a:ext>
                </a:extLst>
              </a:tr>
              <a:tr h="704088">
                <a:tc>
                  <a:txBody>
                    <a:bodyPr/>
                    <a:lstStyle/>
                    <a:p>
                      <a:pPr>
                        <a:lnSpc>
                          <a:spcPct val="105000"/>
                        </a:lnSpc>
                        <a:spcAft>
                          <a:spcPts val="0"/>
                        </a:spcAft>
                      </a:pPr>
                      <a:r>
                        <a:rPr lang="en-GB" sz="2100" b="0">
                          <a:solidFill>
                            <a:srgbClr val="173042"/>
                          </a:solidFill>
                          <a:latin typeface="Arial"/>
                        </a:rPr>
                        <a:t>Independent inputs</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Sample feasible operating choices and realistic ranges.</a:t>
                      </a:r>
                    </a:p>
                  </a:txBody>
                  <a:tcPr marL="128016" marR="109728" marT="73152" marB="27432" anchor="ctr">
                    <a:solidFill>
                      <a:srgbClr val="F6F8FA"/>
                    </a:solidFill>
                  </a:tcPr>
                </a:tc>
                <a:extLst>
                  <a:ext uri="{0D108BD9-81ED-4DB2-BD59-A6C34878D82A}">
                    <a16:rowId xmlns:a16="http://schemas.microsoft.com/office/drawing/2014/main" val="10001"/>
                  </a:ext>
                </a:extLst>
              </a:tr>
              <a:tr h="704088">
                <a:tc>
                  <a:txBody>
                    <a:bodyPr/>
                    <a:lstStyle/>
                    <a:p>
                      <a:pPr>
                        <a:lnSpc>
                          <a:spcPct val="105000"/>
                        </a:lnSpc>
                        <a:spcAft>
                          <a:spcPts val="0"/>
                        </a:spcAft>
                      </a:pPr>
                      <a:r>
                        <a:rPr lang="en-GB" sz="2100" b="0">
                          <a:solidFill>
                            <a:srgbClr val="173042"/>
                          </a:solidFill>
                          <a:latin typeface="Arial"/>
                        </a:rPr>
                        <a:t>Physical outputs</a:t>
                      </a:r>
                    </a:p>
                  </a:txBody>
                  <a:tcPr marL="128016" marR="109728" marT="73152" marB="27432" anchor="ctr">
                    <a:solidFill>
                      <a:srgbClr val="FFFFFF"/>
                    </a:solidFill>
                  </a:tcPr>
                </a:tc>
                <a:tc>
                  <a:txBody>
                    <a:bodyPr/>
                    <a:lstStyle/>
                    <a:p>
                      <a:pPr>
                        <a:lnSpc>
                          <a:spcPct val="105000"/>
                        </a:lnSpc>
                        <a:spcAft>
                          <a:spcPts val="0"/>
                        </a:spcAft>
                      </a:pPr>
                      <a:r>
                        <a:rPr lang="en-GB" sz="2100" b="0">
                          <a:solidFill>
                            <a:srgbClr val="173042"/>
                          </a:solidFill>
                          <a:latin typeface="Arial"/>
                        </a:rPr>
                        <a:t>Store voltage, conversion, flow, purity and relevant duties.</a:t>
                      </a:r>
                    </a:p>
                  </a:txBody>
                  <a:tcPr marL="128016" marR="109728" marT="73152" marB="27432" anchor="ctr">
                    <a:solidFill>
                      <a:srgbClr val="FFFFFF"/>
                    </a:solidFill>
                  </a:tcPr>
                </a:tc>
                <a:extLst>
                  <a:ext uri="{0D108BD9-81ED-4DB2-BD59-A6C34878D82A}">
                    <a16:rowId xmlns:a16="http://schemas.microsoft.com/office/drawing/2014/main" val="10002"/>
                  </a:ext>
                </a:extLst>
              </a:tr>
              <a:tr h="704088">
                <a:tc>
                  <a:txBody>
                    <a:bodyPr/>
                    <a:lstStyle/>
                    <a:p>
                      <a:pPr>
                        <a:lnSpc>
                          <a:spcPct val="105000"/>
                        </a:lnSpc>
                        <a:spcAft>
                          <a:spcPts val="0"/>
                        </a:spcAft>
                      </a:pPr>
                      <a:r>
                        <a:rPr lang="en-GB" sz="2100" b="0">
                          <a:solidFill>
                            <a:srgbClr val="173042"/>
                          </a:solidFill>
                          <a:latin typeface="Arial"/>
                        </a:rPr>
                        <a:t>Convergence status</a:t>
                      </a:r>
                    </a:p>
                  </a:txBody>
                  <a:tcPr marL="128016" marR="109728" marT="73152" marB="27432" anchor="ctr">
                    <a:solidFill>
                      <a:srgbClr val="F6F8FA"/>
                    </a:solidFill>
                  </a:tcPr>
                </a:tc>
                <a:tc>
                  <a:txBody>
                    <a:bodyPr/>
                    <a:lstStyle/>
                    <a:p>
                      <a:pPr>
                        <a:lnSpc>
                          <a:spcPct val="105000"/>
                        </a:lnSpc>
                        <a:spcAft>
                          <a:spcPts val="0"/>
                        </a:spcAft>
                      </a:pPr>
                      <a:r>
                        <a:rPr lang="en-GB" sz="2100" b="0">
                          <a:solidFill>
                            <a:srgbClr val="173042"/>
                          </a:solidFill>
                          <a:latin typeface="Arial"/>
                        </a:rPr>
                        <a:t>Separate numerical failure from a valid poor operating point.</a:t>
                      </a:r>
                    </a:p>
                  </a:txBody>
                  <a:tcPr marL="128016" marR="109728" marT="73152" marB="27432" anchor="ctr">
                    <a:solidFill>
                      <a:srgbClr val="F6F8FA"/>
                    </a:solidFill>
                  </a:tcPr>
                </a:tc>
                <a:extLst>
                  <a:ext uri="{0D108BD9-81ED-4DB2-BD59-A6C34878D82A}">
                    <a16:rowId xmlns:a16="http://schemas.microsoft.com/office/drawing/2014/main" val="10003"/>
                  </a:ext>
                </a:extLst>
              </a:tr>
              <a:tr h="704088">
                <a:tc>
                  <a:txBody>
                    <a:bodyPr/>
                    <a:lstStyle/>
                    <a:p>
                      <a:pPr>
                        <a:lnSpc>
                          <a:spcPct val="105000"/>
                        </a:lnSpc>
                        <a:spcAft>
                          <a:spcPts val="0"/>
                        </a:spcAft>
                      </a:pPr>
                      <a:r>
                        <a:rPr lang="en-GB" sz="2100" b="0">
                          <a:solidFill>
                            <a:srgbClr val="173042"/>
                          </a:solidFill>
                          <a:latin typeface="Arial"/>
                        </a:rPr>
                        <a:t>Mode / scenario</a:t>
                      </a:r>
                    </a:p>
                  </a:txBody>
                  <a:tcPr marL="128016" marR="109728" marT="73152" marB="27432" anchor="ctr">
                    <a:solidFill>
                      <a:srgbClr val="FFFFFF"/>
                    </a:solidFill>
                  </a:tcPr>
                </a:tc>
                <a:tc>
                  <a:txBody>
                    <a:bodyPr/>
                    <a:lstStyle/>
                    <a:p>
                      <a:pPr>
                        <a:lnSpc>
                          <a:spcPct val="105000"/>
                        </a:lnSpc>
                        <a:spcAft>
                          <a:spcPts val="0"/>
                        </a:spcAft>
                      </a:pPr>
                      <a:r>
                        <a:rPr lang="en-GB" sz="2100" b="0">
                          <a:solidFill>
                            <a:srgbClr val="173042"/>
                          </a:solidFill>
                          <a:latin typeface="Arial"/>
                        </a:rPr>
                        <a:t>Record branch, feed composition and operating regime.</a:t>
                      </a:r>
                    </a:p>
                  </a:txBody>
                  <a:tcPr marL="128016" marR="109728" marT="73152" marB="27432" anchor="ctr">
                    <a:solidFill>
                      <a:srgbClr val="FFFFFF"/>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Do not convert a failed simulation into “zero production”. That creates false training labels.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000" b="1">
                <a:solidFill>
                  <a:srgbClr val="173042"/>
                </a:solidFill>
                <a:latin typeface="Arial"/>
              </a:rPr>
              <a:t>Scale variables before applying logarithms or exponentials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35</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Dimensional constraints in symbolic search: [7].</a:t>
            </a:r>
          </a:p>
        </p:txBody>
      </p:sp>
      <p:sp>
        <p:nvSpPr>
          <p:cNvPr id="9" name="Rounded Rectangle 8"/>
          <p:cNvSpPr/>
          <p:nvPr/>
        </p:nvSpPr>
        <p:spPr>
          <a:xfrm>
            <a:off x="704088" y="1792224"/>
            <a:ext cx="10817352" cy="1563624"/>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905256" y="1901952"/>
            <a:ext cx="10415016"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DIMENSIONLESS VARIABLES</a:t>
            </a:r>
          </a:p>
        </p:txBody>
      </p:sp>
      <mc:AlternateContent xmlns:mc="http://schemas.openxmlformats.org/markup-compatibility/2006">
        <mc:Choice xmlns:a14="http://schemas.microsoft.com/office/drawing/2010/main" Requires="a14">
          <p:sp>
            <p:nvSpPr>
              <p:cNvPr id="11" name="Equation 042" descr="\tilde j=\frac{j}{j_0},\qquad\tilde T=\frac{T-T_0}{\Delta T},\qquad\tilde P=\frac{P}{P_0}"/>
              <p:cNvSpPr txBox="1"/>
              <p:nvPr/>
            </p:nvSpPr>
            <p:spPr>
              <a:xfrm>
                <a:off x="2775939" y="2295912"/>
                <a:ext cx="6673648" cy="885431"/>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acc>
                        <m:accPr>
                          <m:chr m:val="̃"/>
                          <m:ctrlPr>
                            <a:rPr lang="en-GB" sz="3100">
                              <a:latin typeface="Cambria Math" panose="02040503050406030204" pitchFamily="18" charset="0"/>
                            </a:rPr>
                          </m:ctrlPr>
                        </m:accPr>
                        <m:e>
                          <m:r>
                            <a:rPr lang="en-GB" sz="3100">
                              <a:latin typeface="Cambria Math"/>
                            </a:rPr>
                            <m:t>𝑗</m:t>
                          </m:r>
                        </m:e>
                      </m:acc>
                      <m:r>
                        <a:rPr lang="en-GB" sz="3100" i="0">
                          <a:latin typeface="Cambria Math"/>
                        </a:rPr>
                        <m:t>=</m:t>
                      </m:r>
                      <m:f>
                        <m:fPr>
                          <m:ctrlPr>
                            <a:rPr lang="en-GB" sz="3100" i="1">
                              <a:latin typeface="Cambria Math" panose="02040503050406030204" pitchFamily="18" charset="0"/>
                            </a:rPr>
                          </m:ctrlPr>
                        </m:fPr>
                        <m:num>
                          <m:r>
                            <a:rPr lang="en-GB" sz="3100">
                              <a:latin typeface="Cambria Math"/>
                            </a:rPr>
                            <m:t>𝑗</m:t>
                          </m:r>
                        </m:num>
                        <m:den>
                          <m:sSub>
                            <m:sSubPr>
                              <m:ctrlPr>
                                <a:rPr lang="en-GB" sz="3100" i="1">
                                  <a:latin typeface="Cambria Math" panose="02040503050406030204" pitchFamily="18" charset="0"/>
                                </a:rPr>
                              </m:ctrlPr>
                            </m:sSubPr>
                            <m:e>
                              <m:r>
                                <a:rPr lang="en-GB" sz="3100">
                                  <a:latin typeface="Cambria Math"/>
                                </a:rPr>
                                <m:t>𝑗</m:t>
                              </m:r>
                            </m:e>
                            <m:sub>
                              <m:r>
                                <a:rPr lang="en-GB" sz="3100">
                                  <a:latin typeface="Cambria Math"/>
                                </a:rPr>
                                <m:t>0</m:t>
                              </m:r>
                            </m:sub>
                          </m:sSub>
                        </m:den>
                      </m:f>
                      <m:r>
                        <a:rPr lang="en-GB" sz="3100" i="0">
                          <a:latin typeface="Cambria Math"/>
                        </a:rPr>
                        <m:t>,</m:t>
                      </m:r>
                      <m:r>
                        <a:rPr lang="en-GB" sz="3100">
                          <a:latin typeface="Cambria Math"/>
                        </a:rPr>
                        <m:t>  </m:t>
                      </m:r>
                      <m:acc>
                        <m:accPr>
                          <m:chr m:val="̃"/>
                          <m:ctrlPr>
                            <a:rPr lang="en-GB" sz="3100" i="1">
                              <a:latin typeface="Cambria Math" panose="02040503050406030204" pitchFamily="18" charset="0"/>
                            </a:rPr>
                          </m:ctrlPr>
                        </m:accPr>
                        <m:e>
                          <m:r>
                            <a:rPr lang="en-GB" sz="3100">
                              <a:latin typeface="Cambria Math"/>
                            </a:rPr>
                            <m:t>𝑇</m:t>
                          </m:r>
                        </m:e>
                      </m:acc>
                      <m:r>
                        <a:rPr lang="en-GB" sz="3100" i="0">
                          <a:latin typeface="Cambria Math"/>
                        </a:rPr>
                        <m:t>=</m:t>
                      </m:r>
                      <m:f>
                        <m:fPr>
                          <m:ctrlPr>
                            <a:rPr lang="en-GB" sz="3100" i="1">
                              <a:latin typeface="Cambria Math" panose="02040503050406030204" pitchFamily="18" charset="0"/>
                            </a:rPr>
                          </m:ctrlPr>
                        </m:fPr>
                        <m:num>
                          <m:r>
                            <a:rPr lang="en-GB" sz="3100">
                              <a:latin typeface="Cambria Math"/>
                            </a:rPr>
                            <m:t>𝑇</m:t>
                          </m:r>
                          <m:r>
                            <a:rPr lang="en-GB" sz="3100" i="0">
                              <a:latin typeface="Cambria Math"/>
                            </a:rPr>
                            <m:t>−</m:t>
                          </m:r>
                          <m:sSub>
                            <m:sSubPr>
                              <m:ctrlPr>
                                <a:rPr lang="en-GB" sz="3100" i="1">
                                  <a:latin typeface="Cambria Math" panose="02040503050406030204" pitchFamily="18" charset="0"/>
                                </a:rPr>
                              </m:ctrlPr>
                            </m:sSubPr>
                            <m:e>
                              <m:r>
                                <a:rPr lang="en-GB" sz="3100">
                                  <a:latin typeface="Cambria Math"/>
                                </a:rPr>
                                <m:t>𝑇</m:t>
                              </m:r>
                            </m:e>
                            <m:sub>
                              <m:r>
                                <a:rPr lang="en-GB" sz="3100">
                                  <a:latin typeface="Cambria Math"/>
                                </a:rPr>
                                <m:t>0</m:t>
                              </m:r>
                            </m:sub>
                          </m:sSub>
                        </m:num>
                        <m:den>
                          <m:r>
                            <a:rPr lang="en-GB" sz="3100">
                              <a:latin typeface="Cambria Math"/>
                            </a:rPr>
                            <m:t>𝛥</m:t>
                          </m:r>
                          <m:r>
                            <a:rPr lang="en-GB" sz="3100">
                              <a:latin typeface="Cambria Math"/>
                            </a:rPr>
                            <m:t>𝑇</m:t>
                          </m:r>
                        </m:den>
                      </m:f>
                      <m:r>
                        <a:rPr lang="en-GB" sz="3100" i="0">
                          <a:latin typeface="Cambria Math"/>
                        </a:rPr>
                        <m:t>,</m:t>
                      </m:r>
                      <m:r>
                        <a:rPr lang="en-GB" sz="3100">
                          <a:latin typeface="Cambria Math"/>
                        </a:rPr>
                        <m:t>  </m:t>
                      </m:r>
                      <m:acc>
                        <m:accPr>
                          <m:chr m:val="̃"/>
                          <m:ctrlPr>
                            <a:rPr lang="en-GB" sz="3100" i="1">
                              <a:latin typeface="Cambria Math" panose="02040503050406030204" pitchFamily="18" charset="0"/>
                            </a:rPr>
                          </m:ctrlPr>
                        </m:accPr>
                        <m:e>
                          <m:r>
                            <a:rPr lang="en-GB" sz="3100">
                              <a:latin typeface="Cambria Math"/>
                            </a:rPr>
                            <m:t>𝑃</m:t>
                          </m:r>
                        </m:e>
                      </m:acc>
                      <m:r>
                        <a:rPr lang="en-GB" sz="3100" i="0">
                          <a:latin typeface="Cambria Math"/>
                        </a:rPr>
                        <m:t>=</m:t>
                      </m:r>
                      <m:f>
                        <m:fPr>
                          <m:ctrlPr>
                            <a:rPr lang="en-GB" sz="3100" i="1">
                              <a:latin typeface="Cambria Math" panose="02040503050406030204" pitchFamily="18" charset="0"/>
                            </a:rPr>
                          </m:ctrlPr>
                        </m:fPr>
                        <m:num>
                          <m:r>
                            <a:rPr lang="en-GB" sz="3100">
                              <a:latin typeface="Cambria Math"/>
                            </a:rPr>
                            <m:t>𝑃</m:t>
                          </m:r>
                        </m:num>
                        <m:den>
                          <m:sSub>
                            <m:sSubPr>
                              <m:ctrlPr>
                                <a:rPr lang="en-GB" sz="3100" i="1">
                                  <a:latin typeface="Cambria Math" panose="02040503050406030204" pitchFamily="18" charset="0"/>
                                </a:rPr>
                              </m:ctrlPr>
                            </m:sSubPr>
                            <m:e>
                              <m:r>
                                <a:rPr lang="en-GB" sz="3100">
                                  <a:latin typeface="Cambria Math"/>
                                </a:rPr>
                                <m:t>𝑃</m:t>
                              </m:r>
                            </m:e>
                            <m:sub>
                              <m:r>
                                <a:rPr lang="en-GB" sz="3100">
                                  <a:latin typeface="Cambria Math"/>
                                </a:rPr>
                                <m:t>0</m:t>
                              </m:r>
                            </m:sub>
                          </m:sSub>
                        </m:den>
                      </m:f>
                    </m:oMath>
                  </m:oMathPara>
                </a14:m>
                <a:endParaRPr/>
              </a:p>
            </p:txBody>
          </p:sp>
        </mc:Choice>
        <mc:Fallback>
          <p:sp>
            <p:nvSpPr>
              <p:cNvPr id="11" name="Equation 042" descr="\tilde j=\frac{j}{j_0},\qquad\tilde T=\frac{T-T_0}{\Delta T},\qquad\tilde P=\frac{P}{P_0}"/>
              <p:cNvSpPr txBox="1">
                <a:spLocks noRot="1" noChangeAspect="1" noMove="1" noResize="1" noEditPoints="1" noAdjustHandles="1" noChangeArrowheads="1" noChangeShapeType="1" noTextEdit="1"/>
              </p:cNvSpPr>
              <p:nvPr/>
            </p:nvSpPr>
            <p:spPr>
              <a:xfrm>
                <a:off x="2775939" y="2295912"/>
                <a:ext cx="6673648" cy="885431"/>
              </a:xfrm>
              <a:prstGeom prst="rect">
                <a:avLst/>
              </a:prstGeom>
              <a:blipFill>
                <a:blip r:embed="rId3"/>
                <a:stretch>
                  <a:fillRect t="-5634" b="-23944"/>
                </a:stretch>
              </a:blipFill>
              <a:effectLst/>
            </p:spPr>
            <p:txBody>
              <a:bodyPr/>
              <a:lstStyle/>
              <a:p>
                <a:r>
                  <a:rPr lang="zh-CN" altLang="en-US">
                    <a:noFill/>
                  </a:rPr>
                  <a:t> </a:t>
                </a:r>
              </a:p>
            </p:txBody>
          </p:sp>
        </mc:Fallback>
      </mc:AlternateContent>
      <p:sp>
        <p:nvSpPr>
          <p:cNvPr id="12" name="Rounded Rectangle 11"/>
          <p:cNvSpPr/>
          <p:nvPr/>
        </p:nvSpPr>
        <p:spPr>
          <a:xfrm>
            <a:off x="731520" y="3822191"/>
            <a:ext cx="5129784" cy="106984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932688" y="3931920"/>
            <a:ext cx="4727448"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MEANINGFUL ARGUMENTS</a:t>
            </a:r>
          </a:p>
        </p:txBody>
      </p:sp>
      <mc:AlternateContent xmlns:mc="http://schemas.openxmlformats.org/markup-compatibility/2006">
        <mc:Choice xmlns:a14="http://schemas.microsoft.com/office/drawing/2010/main" Requires="a14">
          <p:sp>
            <p:nvSpPr>
              <p:cNvPr id="14" name="Equation 043" descr="\ln(1+\tilde j),\qquad\ln\tilde P"/>
              <p:cNvSpPr txBox="1"/>
              <p:nvPr/>
            </p:nvSpPr>
            <p:spPr>
              <a:xfrm>
                <a:off x="1732871" y="4277417"/>
                <a:ext cx="3127080" cy="488581"/>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r>
                        <m:rPr>
                          <m:sty m:val="p"/>
                        </m:rPr>
                        <a:rPr lang="en-GB" sz="3100" i="0">
                          <a:latin typeface="Cambria Math"/>
                        </a:rPr>
                        <m:t>ln</m:t>
                      </m:r>
                      <m:d>
                        <m:dPr>
                          <m:ctrlPr>
                            <a:rPr lang="en-GB" sz="3100" i="1">
                              <a:latin typeface="Cambria Math" panose="02040503050406030204" pitchFamily="18" charset="0"/>
                            </a:rPr>
                          </m:ctrlPr>
                        </m:dPr>
                        <m:e>
                          <m:r>
                            <a:rPr lang="en-GB" sz="3100">
                              <a:latin typeface="Cambria Math"/>
                            </a:rPr>
                            <m:t>1</m:t>
                          </m:r>
                          <m:r>
                            <a:rPr lang="en-GB" sz="3100" i="0">
                              <a:latin typeface="Cambria Math"/>
                            </a:rPr>
                            <m:t>+</m:t>
                          </m:r>
                          <m:acc>
                            <m:accPr>
                              <m:chr m:val="̃"/>
                              <m:ctrlPr>
                                <a:rPr lang="en-GB" sz="3100" i="1">
                                  <a:latin typeface="Cambria Math" panose="02040503050406030204" pitchFamily="18" charset="0"/>
                                </a:rPr>
                              </m:ctrlPr>
                            </m:accPr>
                            <m:e>
                              <m:r>
                                <a:rPr lang="en-GB" sz="3100">
                                  <a:latin typeface="Cambria Math"/>
                                </a:rPr>
                                <m:t>𝑗</m:t>
                              </m:r>
                            </m:e>
                          </m:acc>
                        </m:e>
                      </m:d>
                      <m:r>
                        <a:rPr lang="en-GB" sz="3100" i="0">
                          <a:latin typeface="Cambria Math"/>
                        </a:rPr>
                        <m:t>,</m:t>
                      </m:r>
                      <m:r>
                        <a:rPr lang="en-GB" sz="3100">
                          <a:latin typeface="Cambria Math"/>
                        </a:rPr>
                        <m:t>  </m:t>
                      </m:r>
                      <m:r>
                        <m:rPr>
                          <m:sty m:val="p"/>
                        </m:rPr>
                        <a:rPr lang="en-GB" sz="3100" i="0">
                          <a:latin typeface="Cambria Math"/>
                        </a:rPr>
                        <m:t>ln</m:t>
                      </m:r>
                      <m:acc>
                        <m:accPr>
                          <m:chr m:val="̃"/>
                          <m:ctrlPr>
                            <a:rPr lang="en-GB" sz="3100" i="1">
                              <a:latin typeface="Cambria Math" panose="02040503050406030204" pitchFamily="18" charset="0"/>
                            </a:rPr>
                          </m:ctrlPr>
                        </m:accPr>
                        <m:e>
                          <m:r>
                            <a:rPr lang="en-GB" sz="3100">
                              <a:latin typeface="Cambria Math"/>
                            </a:rPr>
                            <m:t>𝑃</m:t>
                          </m:r>
                        </m:e>
                      </m:acc>
                    </m:oMath>
                  </m:oMathPara>
                </a14:m>
                <a:endParaRPr/>
              </a:p>
            </p:txBody>
          </p:sp>
        </mc:Choice>
        <mc:Fallback>
          <p:sp>
            <p:nvSpPr>
              <p:cNvPr id="14" name="Equation 043" descr="\ln(1+\tilde j),\qquad\ln\tilde P"/>
              <p:cNvSpPr txBox="1">
                <a:spLocks noRot="1" noChangeAspect="1" noMove="1" noResize="1" noEditPoints="1" noAdjustHandles="1" noChangeArrowheads="1" noChangeShapeType="1" noTextEdit="1"/>
              </p:cNvSpPr>
              <p:nvPr/>
            </p:nvSpPr>
            <p:spPr>
              <a:xfrm>
                <a:off x="1732871" y="4277417"/>
                <a:ext cx="3127080" cy="488581"/>
              </a:xfrm>
              <a:prstGeom prst="rect">
                <a:avLst/>
              </a:prstGeom>
              <a:blipFill>
                <a:blip r:embed="rId4"/>
                <a:stretch>
                  <a:fillRect l="-4049" t="-7500" r="-405" b="-35000"/>
                </a:stretch>
              </a:blipFill>
              <a:effectLst/>
            </p:spPr>
            <p:txBody>
              <a:bodyPr/>
              <a:lstStyle/>
              <a:p>
                <a:r>
                  <a:rPr lang="zh-CN" altLang="en-US">
                    <a:noFill/>
                  </a:rPr>
                  <a:t> </a:t>
                </a:r>
              </a:p>
            </p:txBody>
          </p:sp>
        </mc:Fallback>
      </mc:AlternateContent>
      <p:sp>
        <p:nvSpPr>
          <p:cNvPr id="15" name="TextBox 14"/>
          <p:cNvSpPr txBox="1"/>
          <p:nvPr/>
        </p:nvSpPr>
        <p:spPr>
          <a:xfrm>
            <a:off x="6355080" y="3666744"/>
            <a:ext cx="4992624" cy="1856231"/>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200" b="0">
                <a:solidFill>
                  <a:srgbClr val="173042"/>
                </a:solidFill>
                <a:latin typeface="Arial"/>
              </a:rPr>
              <a:t>Reference scales carry units.</a:t>
            </a:r>
          </a:p>
          <a:p>
            <a:pPr algn="l">
              <a:lnSpc>
                <a:spcPct val="113000"/>
              </a:lnSpc>
              <a:spcBef>
                <a:spcPts val="0"/>
              </a:spcBef>
              <a:spcAft>
                <a:spcPts val="400"/>
              </a:spcAft>
            </a:pPr>
            <a:endParaRPr lang="en-GB" sz="2200" b="0">
              <a:solidFill>
                <a:srgbClr val="173042"/>
              </a:solidFill>
              <a:latin typeface="Arial"/>
            </a:endParaRPr>
          </a:p>
          <a:p>
            <a:pPr algn="l">
              <a:lnSpc>
                <a:spcPct val="113000"/>
              </a:lnSpc>
              <a:spcBef>
                <a:spcPts val="0"/>
              </a:spcBef>
              <a:spcAft>
                <a:spcPts val="0"/>
              </a:spcAft>
            </a:pPr>
            <a:r>
              <a:rPr lang="en-GB" sz="2200" b="0">
                <a:solidFill>
                  <a:srgbClr val="173042"/>
                </a:solidFill>
                <a:latin typeface="Arial"/>
              </a:rPr>
              <a:t>A raw expression such as exp(T) is not dimensionally defined unless T has been made dimensionless.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A transformation can enforce an output range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36</a:t>
            </a:r>
          </a:p>
        </p:txBody>
      </p:sp>
      <p:sp>
        <p:nvSpPr>
          <p:cNvPr id="8" name="Rounded Rectangle 7"/>
          <p:cNvSpPr/>
          <p:nvPr/>
        </p:nvSpPr>
        <p:spPr>
          <a:xfrm>
            <a:off x="768096" y="1874519"/>
            <a:ext cx="10652760" cy="1554480"/>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969264" y="1984248"/>
            <a:ext cx="10250424"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SEARCH THE INTERNAL FUNCTION G</a:t>
            </a:r>
          </a:p>
        </p:txBody>
      </p:sp>
      <mc:AlternateContent xmlns:mc="http://schemas.openxmlformats.org/markup-compatibility/2006">
        <mc:Choice xmlns:a14="http://schemas.microsoft.com/office/drawing/2010/main" Requires="a14">
          <p:sp>
            <p:nvSpPr>
              <p:cNvPr id="10" name="Equation 044" descr="\hat\eta_{\mathrm{F}}=\frac{1}{1+\exp[-g(\tilde{\mathbf{x}})]}"/>
              <p:cNvSpPr txBox="1"/>
              <p:nvPr/>
            </p:nvSpPr>
            <p:spPr>
              <a:xfrm>
                <a:off x="4153686" y="2333548"/>
                <a:ext cx="3881578" cy="965606"/>
              </a:xfrm>
              <a:prstGeom prst="rect">
                <a:avLst/>
              </a:prstGeom>
              <a:noFill/>
              <a:effectLst/>
            </p:spPr>
            <p:txBody>
              <a:bodyPr wrap="none" lIns="0" tIns="0" rIns="0" bIns="0" anchor="ctr">
                <a:noAutofit/>
              </a:bodyPr>
              <a:lstStyle/>
              <a:p>
                <a:pPr algn="ctr">
                  <a:spcBef>
                    <a:spcPts val="0"/>
                  </a:spcBef>
                  <a:spcAft>
                    <a:spcPts val="0"/>
                  </a:spcAft>
                  <a:defRPr sz="3300">
                    <a:latin typeface="Cambria Math"/>
                  </a:defRPr>
                </a:pPr>
                <a14:m>
                  <m:oMathPara xmlns:m="http://schemas.openxmlformats.org/officeDocument/2006/math">
                    <m:oMathParaPr>
                      <m:jc m:val="center"/>
                    </m:oMathParaPr>
                    <m:oMath xmlns:m="http://schemas.openxmlformats.org/officeDocument/2006/math">
                      <m:sSub>
                        <m:sSubPr>
                          <m:ctrlPr>
                            <a:rPr lang="en-GB" sz="3300">
                              <a:latin typeface="Cambria Math" panose="02040503050406030204" pitchFamily="18" charset="0"/>
                            </a:rPr>
                          </m:ctrlPr>
                        </m:sSubPr>
                        <m:e>
                          <m:acc>
                            <m:accPr>
                              <m:chr m:val="̂"/>
                              <m:ctrlPr>
                                <a:rPr lang="en-GB" sz="3300">
                                  <a:latin typeface="Cambria Math" panose="02040503050406030204" pitchFamily="18" charset="0"/>
                                </a:rPr>
                              </m:ctrlPr>
                            </m:accPr>
                            <m:e>
                              <m:r>
                                <a:rPr lang="en-GB" sz="3300">
                                  <a:latin typeface="Cambria Math"/>
                                </a:rPr>
                                <m:t>𝜂</m:t>
                              </m:r>
                            </m:e>
                          </m:acc>
                        </m:e>
                        <m:sub>
                          <m:r>
                            <m:rPr>
                              <m:sty m:val="p"/>
                            </m:rPr>
                            <a:rPr lang="en-GB" sz="3300" i="0">
                              <a:latin typeface="Cambria Math"/>
                            </a:rPr>
                            <m:t>F</m:t>
                          </m:r>
                        </m:sub>
                      </m:sSub>
                      <m:r>
                        <a:rPr lang="en-GB" sz="3300" i="0">
                          <a:latin typeface="Cambria Math"/>
                        </a:rPr>
                        <m:t>=</m:t>
                      </m:r>
                      <m:f>
                        <m:fPr>
                          <m:ctrlPr>
                            <a:rPr lang="en-GB" sz="3300" i="1">
                              <a:latin typeface="Cambria Math" panose="02040503050406030204" pitchFamily="18" charset="0"/>
                            </a:rPr>
                          </m:ctrlPr>
                        </m:fPr>
                        <m:num>
                          <m:r>
                            <a:rPr lang="en-GB" sz="3300">
                              <a:latin typeface="Cambria Math"/>
                            </a:rPr>
                            <m:t>1</m:t>
                          </m:r>
                        </m:num>
                        <m:den>
                          <m:r>
                            <a:rPr lang="en-GB" sz="3300">
                              <a:latin typeface="Cambria Math"/>
                            </a:rPr>
                            <m:t>1</m:t>
                          </m:r>
                          <m:r>
                            <a:rPr lang="en-GB" sz="3300" i="0">
                              <a:latin typeface="Cambria Math"/>
                            </a:rPr>
                            <m:t>+</m:t>
                          </m:r>
                          <m:r>
                            <m:rPr>
                              <m:sty m:val="p"/>
                            </m:rPr>
                            <a:rPr lang="en-GB" sz="3300" i="0">
                              <a:latin typeface="Cambria Math"/>
                            </a:rPr>
                            <m:t>exp</m:t>
                          </m:r>
                          <m:d>
                            <m:dPr>
                              <m:begChr m:val="["/>
                              <m:endChr m:val="]"/>
                              <m:ctrlPr>
                                <a:rPr lang="en-GB" sz="3300" i="1">
                                  <a:latin typeface="Cambria Math" panose="02040503050406030204" pitchFamily="18" charset="0"/>
                                </a:rPr>
                              </m:ctrlPr>
                            </m:dPr>
                            <m:e>
                              <m:r>
                                <a:rPr lang="en-GB" sz="3300" i="0">
                                  <a:latin typeface="Cambria Math"/>
                                </a:rPr>
                                <m:t>−</m:t>
                              </m:r>
                              <m:r>
                                <a:rPr lang="en-GB" sz="3300">
                                  <a:latin typeface="Cambria Math"/>
                                </a:rPr>
                                <m:t>𝑔</m:t>
                              </m:r>
                              <m:d>
                                <m:dPr>
                                  <m:ctrlPr>
                                    <a:rPr lang="en-GB" sz="3300" i="1">
                                      <a:latin typeface="Cambria Math" panose="02040503050406030204" pitchFamily="18" charset="0"/>
                                    </a:rPr>
                                  </m:ctrlPr>
                                </m:dPr>
                                <m:e>
                                  <m:acc>
                                    <m:accPr>
                                      <m:chr m:val="̃"/>
                                      <m:ctrlPr>
                                        <a:rPr lang="en-GB" sz="3300" i="1">
                                          <a:latin typeface="Cambria Math" panose="02040503050406030204" pitchFamily="18" charset="0"/>
                                        </a:rPr>
                                      </m:ctrlPr>
                                    </m:accPr>
                                    <m:e>
                                      <m:r>
                                        <a:rPr lang="en-GB" sz="3300" i="0">
                                          <a:latin typeface="Cambria Math"/>
                                        </a:rPr>
                                        <m:t>𝐱</m:t>
                                      </m:r>
                                    </m:e>
                                  </m:acc>
                                </m:e>
                              </m:d>
                            </m:e>
                          </m:d>
                        </m:den>
                      </m:f>
                    </m:oMath>
                  </m:oMathPara>
                </a14:m>
                <a:endParaRPr/>
              </a:p>
            </p:txBody>
          </p:sp>
        </mc:Choice>
        <mc:Fallback>
          <p:sp>
            <p:nvSpPr>
              <p:cNvPr id="10" name="Equation 044" descr="\hat\eta_{\mathrm{F}}=\frac{1}{1+\exp[-g(\tilde{\mathbf{x}})]}"/>
              <p:cNvSpPr txBox="1">
                <a:spLocks noRot="1" noChangeAspect="1" noMove="1" noResize="1" noEditPoints="1" noAdjustHandles="1" noChangeArrowheads="1" noChangeShapeType="1" noTextEdit="1"/>
              </p:cNvSpPr>
              <p:nvPr/>
            </p:nvSpPr>
            <p:spPr>
              <a:xfrm>
                <a:off x="4153686" y="2333548"/>
                <a:ext cx="3881578" cy="965606"/>
              </a:xfrm>
              <a:prstGeom prst="rect">
                <a:avLst/>
              </a:prstGeom>
              <a:blipFill>
                <a:blip r:embed="rId3"/>
                <a:stretch>
                  <a:fillRect l="-3257" t="-3896" b="-19481"/>
                </a:stretch>
              </a:blipFill>
              <a:effectLst/>
            </p:spPr>
            <p:txBody>
              <a:bodyPr/>
              <a:lstStyle/>
              <a:p>
                <a:r>
                  <a:rPr lang="zh-CN" altLang="en-US">
                    <a:noFill/>
                  </a:rPr>
                  <a:t> </a:t>
                </a:r>
              </a:p>
            </p:txBody>
          </p:sp>
        </mc:Fallback>
      </mc:AlternateContent>
      <p:sp>
        <p:nvSpPr>
          <p:cNvPr id="11" name="Rounded Rectangle 10"/>
          <p:cNvSpPr/>
          <p:nvPr/>
        </p:nvSpPr>
        <p:spPr>
          <a:xfrm>
            <a:off x="786384" y="3803904"/>
            <a:ext cx="4142232" cy="95097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2" name="Equation 045" descr="0&lt;\hat\eta_{\mathrm{F}}&lt;1"/>
              <p:cNvSpPr txBox="1"/>
              <p:nvPr/>
            </p:nvSpPr>
            <p:spPr>
              <a:xfrm>
                <a:off x="1840848" y="4057878"/>
                <a:ext cx="2033303" cy="443026"/>
              </a:xfrm>
              <a:prstGeom prst="rect">
                <a:avLst/>
              </a:prstGeom>
              <a:noFill/>
              <a:effectLst/>
            </p:spPr>
            <p:txBody>
              <a:bodyPr wrap="none" lIns="0" tIns="0" rIns="0" bIns="0" anchor="ctr">
                <a:noAutofit/>
              </a:bodyPr>
              <a:lstStyle/>
              <a:p>
                <a:pPr algn="ctr">
                  <a:spcBef>
                    <a:spcPts val="0"/>
                  </a:spcBef>
                  <a:spcAft>
                    <a:spcPts val="0"/>
                  </a:spcAft>
                  <a:defRPr sz="3400">
                    <a:latin typeface="Cambria Math"/>
                  </a:defRPr>
                </a:pPr>
                <a14:m>
                  <m:oMathPara xmlns:m="http://schemas.openxmlformats.org/officeDocument/2006/math">
                    <m:oMathParaPr>
                      <m:jc m:val="center"/>
                    </m:oMathParaPr>
                    <m:oMath xmlns:m="http://schemas.openxmlformats.org/officeDocument/2006/math">
                      <m:r>
                        <a:rPr lang="en-GB" sz="3400">
                          <a:latin typeface="Cambria Math"/>
                        </a:rPr>
                        <m:t>0</m:t>
                      </m:r>
                      <m:r>
                        <a:rPr lang="en-GB" sz="3400" i="0">
                          <a:latin typeface="Cambria Math"/>
                        </a:rPr>
                        <m:t>&lt;</m:t>
                      </m:r>
                      <m:sSub>
                        <m:sSubPr>
                          <m:ctrlPr>
                            <a:rPr lang="en-GB" sz="3400" i="1">
                              <a:latin typeface="Cambria Math" panose="02040503050406030204" pitchFamily="18" charset="0"/>
                            </a:rPr>
                          </m:ctrlPr>
                        </m:sSubPr>
                        <m:e>
                          <m:acc>
                            <m:accPr>
                              <m:chr m:val="̂"/>
                              <m:ctrlPr>
                                <a:rPr lang="en-GB" sz="3400" i="1">
                                  <a:latin typeface="Cambria Math" panose="02040503050406030204" pitchFamily="18" charset="0"/>
                                </a:rPr>
                              </m:ctrlPr>
                            </m:accPr>
                            <m:e>
                              <m:r>
                                <a:rPr lang="en-GB" sz="3400">
                                  <a:latin typeface="Cambria Math"/>
                                </a:rPr>
                                <m:t>𝜂</m:t>
                              </m:r>
                            </m:e>
                          </m:acc>
                        </m:e>
                        <m:sub>
                          <m:r>
                            <m:rPr>
                              <m:sty m:val="p"/>
                            </m:rPr>
                            <a:rPr lang="en-GB" sz="3400" i="0">
                              <a:latin typeface="Cambria Math"/>
                            </a:rPr>
                            <m:t>F</m:t>
                          </m:r>
                        </m:sub>
                      </m:sSub>
                      <m:r>
                        <a:rPr lang="en-GB" sz="3400" i="0">
                          <a:latin typeface="Cambria Math"/>
                        </a:rPr>
                        <m:t>&lt;</m:t>
                      </m:r>
                      <m:r>
                        <a:rPr lang="en-GB" sz="3400">
                          <a:latin typeface="Cambria Math"/>
                        </a:rPr>
                        <m:t>1</m:t>
                      </m:r>
                    </m:oMath>
                  </m:oMathPara>
                </a14:m>
                <a:endParaRPr/>
              </a:p>
            </p:txBody>
          </p:sp>
        </mc:Choice>
        <mc:Fallback>
          <p:sp>
            <p:nvSpPr>
              <p:cNvPr id="12" name="Equation 045" descr="0&lt;\hat\eta_{\mathrm{F}}&lt;1"/>
              <p:cNvSpPr txBox="1">
                <a:spLocks noRot="1" noChangeAspect="1" noMove="1" noResize="1" noEditPoints="1" noAdjustHandles="1" noChangeArrowheads="1" noChangeShapeType="1" noTextEdit="1"/>
              </p:cNvSpPr>
              <p:nvPr/>
            </p:nvSpPr>
            <p:spPr>
              <a:xfrm>
                <a:off x="1840848" y="4057878"/>
                <a:ext cx="2033303" cy="443026"/>
              </a:xfrm>
              <a:prstGeom prst="rect">
                <a:avLst/>
              </a:prstGeom>
              <a:blipFill>
                <a:blip r:embed="rId4"/>
                <a:stretch>
                  <a:fillRect l="-9259" t="-27778" r="-4938" b="-36111"/>
                </a:stretch>
              </a:blipFill>
              <a:effectLst/>
            </p:spPr>
            <p:txBody>
              <a:bodyPr/>
              <a:lstStyle/>
              <a:p>
                <a:r>
                  <a:rPr lang="zh-CN" altLang="en-US">
                    <a:noFill/>
                  </a:rPr>
                  <a:t> </a:t>
                </a:r>
              </a:p>
            </p:txBody>
          </p:sp>
        </mc:Fallback>
      </mc:AlternateContent>
      <p:sp>
        <p:nvSpPr>
          <p:cNvPr id="13" name="TextBox 12"/>
          <p:cNvSpPr txBox="1"/>
          <p:nvPr/>
        </p:nvSpPr>
        <p:spPr>
          <a:xfrm>
            <a:off x="5669280" y="3749039"/>
            <a:ext cx="5495544" cy="135331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700" b="1">
                <a:solidFill>
                  <a:srgbClr val="173042"/>
                </a:solidFill>
                <a:latin typeface="Arial"/>
              </a:rPr>
              <a:t>Range consistency is useful.</a:t>
            </a:r>
          </a:p>
          <a:p>
            <a:pPr algn="l">
              <a:lnSpc>
                <a:spcPct val="113000"/>
              </a:lnSpc>
              <a:spcBef>
                <a:spcPts val="0"/>
              </a:spcBef>
              <a:spcAft>
                <a:spcPts val="0"/>
              </a:spcAft>
            </a:pPr>
            <a:r>
              <a:rPr lang="en-GB" sz="2700" b="1">
                <a:solidFill>
                  <a:srgbClr val="173042"/>
                </a:solidFill>
                <a:latin typeface="Arial"/>
              </a:rPr>
              <a:t>It is not a complete physical model.</a:t>
            </a:r>
          </a:p>
        </p:txBody>
      </p:sp>
      <p:sp>
        <p:nvSpPr>
          <p:cNvPr id="14" name="Rounded Rectangle 13"/>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A bounded expression can still have inaccurate trends, poor calibration or unreliable extrapolation.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An illustrative voltage relation makes the trade-off visible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37</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Author-defined teaching relation. Coefficients are assumed, not fitted to experimental or plant data.</a:t>
            </a:r>
          </a:p>
        </p:txBody>
      </p:sp>
      <p:sp>
        <p:nvSpPr>
          <p:cNvPr id="9" name="Rounded Rectangle 8"/>
          <p:cNvSpPr/>
          <p:nvPr/>
        </p:nvSpPr>
        <p:spPr>
          <a:xfrm>
            <a:off x="731520" y="1773936"/>
            <a:ext cx="10671048" cy="1188720"/>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0" name="Equation 046" descr="\frac{\hat U}{1\,\mathrm{V}}=1.55+0.11\ln(1+\tilde j)+0.20\tilde j"/>
              <p:cNvSpPr txBox="1"/>
              <p:nvPr/>
            </p:nvSpPr>
            <p:spPr>
              <a:xfrm>
                <a:off x="3056301" y="1888966"/>
                <a:ext cx="6021484" cy="958659"/>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f>
                        <m:fPr>
                          <m:ctrlPr>
                            <a:rPr lang="en-GB" sz="3100">
                              <a:latin typeface="Cambria Math" panose="02040503050406030204" pitchFamily="18" charset="0"/>
                            </a:rPr>
                          </m:ctrlPr>
                        </m:fPr>
                        <m:num>
                          <m:acc>
                            <m:accPr>
                              <m:chr m:val="̂"/>
                              <m:ctrlPr>
                                <a:rPr lang="en-GB" sz="3100">
                                  <a:latin typeface="Cambria Math" panose="02040503050406030204" pitchFamily="18" charset="0"/>
                                </a:rPr>
                              </m:ctrlPr>
                            </m:accPr>
                            <m:e>
                              <m:r>
                                <a:rPr lang="en-GB" sz="3100">
                                  <a:latin typeface="Cambria Math"/>
                                </a:rPr>
                                <m:t>𝑈</m:t>
                              </m:r>
                            </m:e>
                          </m:acc>
                        </m:num>
                        <m:den>
                          <m:r>
                            <a:rPr lang="en-GB" sz="3100">
                              <a:latin typeface="Cambria Math"/>
                            </a:rPr>
                            <m:t>1 </m:t>
                          </m:r>
                          <m:r>
                            <m:rPr>
                              <m:sty m:val="p"/>
                            </m:rPr>
                            <a:rPr lang="en-GB" sz="3100" i="0">
                              <a:latin typeface="Cambria Math"/>
                            </a:rPr>
                            <m:t>V</m:t>
                          </m:r>
                        </m:den>
                      </m:f>
                      <m:r>
                        <a:rPr lang="en-GB" sz="3100" i="0">
                          <a:latin typeface="Cambria Math"/>
                        </a:rPr>
                        <m:t>=</m:t>
                      </m:r>
                      <m:r>
                        <a:rPr lang="en-GB" sz="3100">
                          <a:latin typeface="Cambria Math"/>
                        </a:rPr>
                        <m:t>1.55</m:t>
                      </m:r>
                      <m:r>
                        <a:rPr lang="en-GB" sz="3100" i="0">
                          <a:latin typeface="Cambria Math"/>
                        </a:rPr>
                        <m:t>+</m:t>
                      </m:r>
                      <m:r>
                        <a:rPr lang="en-GB" sz="3100">
                          <a:latin typeface="Cambria Math"/>
                        </a:rPr>
                        <m:t>0.11</m:t>
                      </m:r>
                      <m:r>
                        <m:rPr>
                          <m:sty m:val="p"/>
                        </m:rPr>
                        <a:rPr lang="en-GB" sz="3100" i="0">
                          <a:latin typeface="Cambria Math"/>
                        </a:rPr>
                        <m:t>ln</m:t>
                      </m:r>
                      <m:d>
                        <m:dPr>
                          <m:ctrlPr>
                            <a:rPr lang="en-GB" sz="3100" i="1">
                              <a:latin typeface="Cambria Math" panose="02040503050406030204" pitchFamily="18" charset="0"/>
                            </a:rPr>
                          </m:ctrlPr>
                        </m:dPr>
                        <m:e>
                          <m:r>
                            <a:rPr lang="en-GB" sz="3100">
                              <a:latin typeface="Cambria Math"/>
                            </a:rPr>
                            <m:t>1</m:t>
                          </m:r>
                          <m:r>
                            <a:rPr lang="en-GB" sz="3100" i="0">
                              <a:latin typeface="Cambria Math"/>
                            </a:rPr>
                            <m:t>+</m:t>
                          </m:r>
                          <m:acc>
                            <m:accPr>
                              <m:chr m:val="̃"/>
                              <m:ctrlPr>
                                <a:rPr lang="en-GB" sz="3100" i="1">
                                  <a:latin typeface="Cambria Math" panose="02040503050406030204" pitchFamily="18" charset="0"/>
                                </a:rPr>
                              </m:ctrlPr>
                            </m:accPr>
                            <m:e>
                              <m:r>
                                <a:rPr lang="en-GB" sz="3100">
                                  <a:latin typeface="Cambria Math"/>
                                </a:rPr>
                                <m:t>𝑗</m:t>
                              </m:r>
                            </m:e>
                          </m:acc>
                        </m:e>
                      </m:d>
                      <m:r>
                        <a:rPr lang="en-GB" sz="3100" i="0">
                          <a:latin typeface="Cambria Math"/>
                        </a:rPr>
                        <m:t>+</m:t>
                      </m:r>
                      <m:r>
                        <a:rPr lang="en-GB" sz="3100">
                          <a:latin typeface="Cambria Math"/>
                        </a:rPr>
                        <m:t>0.20</m:t>
                      </m:r>
                      <m:acc>
                        <m:accPr>
                          <m:chr m:val="̃"/>
                          <m:ctrlPr>
                            <a:rPr lang="en-GB" sz="3100" i="1">
                              <a:latin typeface="Cambria Math" panose="02040503050406030204" pitchFamily="18" charset="0"/>
                            </a:rPr>
                          </m:ctrlPr>
                        </m:accPr>
                        <m:e>
                          <m:r>
                            <a:rPr lang="en-GB" sz="3100">
                              <a:latin typeface="Cambria Math"/>
                            </a:rPr>
                            <m:t>𝑗</m:t>
                          </m:r>
                        </m:e>
                      </m:acc>
                    </m:oMath>
                  </m:oMathPara>
                </a14:m>
                <a:endParaRPr/>
              </a:p>
            </p:txBody>
          </p:sp>
        </mc:Choice>
        <mc:Fallback>
          <p:sp>
            <p:nvSpPr>
              <p:cNvPr id="10" name="Equation 046" descr="\frac{\hat U}{1\,\mathrm{V}}=1.55+0.11\ln(1+\tilde j)+0.20\tilde j"/>
              <p:cNvSpPr txBox="1">
                <a:spLocks noRot="1" noChangeAspect="1" noMove="1" noResize="1" noEditPoints="1" noAdjustHandles="1" noChangeArrowheads="1" noChangeShapeType="1" noTextEdit="1"/>
              </p:cNvSpPr>
              <p:nvPr/>
            </p:nvSpPr>
            <p:spPr>
              <a:xfrm>
                <a:off x="3056301" y="1888966"/>
                <a:ext cx="6021484" cy="958659"/>
              </a:xfrm>
              <a:prstGeom prst="rect">
                <a:avLst/>
              </a:prstGeom>
              <a:blipFill>
                <a:blip r:embed="rId3"/>
                <a:stretch>
                  <a:fillRect l="-1053" t="-9091" b="-29870"/>
                </a:stretch>
              </a:blipFill>
              <a:effectLst/>
            </p:spPr>
            <p:txBody>
              <a:bodyPr/>
              <a:lstStyle/>
              <a:p>
                <a:r>
                  <a:rPr lang="zh-CN" altLang="en-US">
                    <a:noFill/>
                  </a:rPr>
                  <a:t> </a:t>
                </a:r>
              </a:p>
            </p:txBody>
          </p:sp>
        </mc:Fallback>
      </mc:AlternateContent>
      <p:sp>
        <p:nvSpPr>
          <p:cNvPr id="11" name="Rounded Rectangle 10"/>
          <p:cNvSpPr/>
          <p:nvPr/>
        </p:nvSpPr>
        <p:spPr>
          <a:xfrm>
            <a:off x="731520" y="3127248"/>
            <a:ext cx="10671048" cy="941832"/>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2" name="Equation 047" descr="\qquad-0.06\tilde T+0.02\ln\tilde P"/>
              <p:cNvSpPr txBox="1"/>
              <p:nvPr/>
            </p:nvSpPr>
            <p:spPr>
              <a:xfrm>
                <a:off x="4063347" y="3386943"/>
                <a:ext cx="4007393" cy="422440"/>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r>
                        <a:rPr lang="en-GB" sz="3100">
                          <a:latin typeface="Cambria Math"/>
                        </a:rPr>
                        <m:t>  </m:t>
                      </m:r>
                      <m:r>
                        <a:rPr lang="en-GB" sz="3100" i="0">
                          <a:latin typeface="Cambria Math"/>
                        </a:rPr>
                        <m:t>−</m:t>
                      </m:r>
                      <m:r>
                        <a:rPr lang="en-GB" sz="3100">
                          <a:latin typeface="Cambria Math"/>
                        </a:rPr>
                        <m:t>0.06</m:t>
                      </m:r>
                      <m:acc>
                        <m:accPr>
                          <m:chr m:val="̃"/>
                          <m:ctrlPr>
                            <a:rPr lang="en-GB" sz="3100" i="1">
                              <a:latin typeface="Cambria Math" panose="02040503050406030204" pitchFamily="18" charset="0"/>
                            </a:rPr>
                          </m:ctrlPr>
                        </m:accPr>
                        <m:e>
                          <m:r>
                            <a:rPr lang="en-GB" sz="3100">
                              <a:latin typeface="Cambria Math"/>
                            </a:rPr>
                            <m:t>𝑇</m:t>
                          </m:r>
                        </m:e>
                      </m:acc>
                      <m:r>
                        <a:rPr lang="en-GB" sz="3100" i="0">
                          <a:latin typeface="Cambria Math"/>
                        </a:rPr>
                        <m:t>+</m:t>
                      </m:r>
                      <m:r>
                        <a:rPr lang="en-GB" sz="3100">
                          <a:latin typeface="Cambria Math"/>
                        </a:rPr>
                        <m:t>0.02</m:t>
                      </m:r>
                      <m:r>
                        <m:rPr>
                          <m:sty m:val="p"/>
                        </m:rPr>
                        <a:rPr lang="en-GB" sz="3100" i="0">
                          <a:latin typeface="Cambria Math"/>
                        </a:rPr>
                        <m:t>ln</m:t>
                      </m:r>
                      <m:acc>
                        <m:accPr>
                          <m:chr m:val="̃"/>
                          <m:ctrlPr>
                            <a:rPr lang="en-GB" sz="3100" i="1">
                              <a:latin typeface="Cambria Math" panose="02040503050406030204" pitchFamily="18" charset="0"/>
                            </a:rPr>
                          </m:ctrlPr>
                        </m:accPr>
                        <m:e>
                          <m:r>
                            <a:rPr lang="en-GB" sz="3100">
                              <a:latin typeface="Cambria Math"/>
                            </a:rPr>
                            <m:t>𝑃</m:t>
                          </m:r>
                        </m:e>
                      </m:acc>
                    </m:oMath>
                  </m:oMathPara>
                </a14:m>
                <a:endParaRPr/>
              </a:p>
            </p:txBody>
          </p:sp>
        </mc:Choice>
        <mc:Fallback>
          <p:sp>
            <p:nvSpPr>
              <p:cNvPr id="12" name="Equation 047" descr="\qquad-0.06\tilde T+0.02\ln\tilde P"/>
              <p:cNvSpPr txBox="1">
                <a:spLocks noRot="1" noChangeAspect="1" noMove="1" noResize="1" noEditPoints="1" noAdjustHandles="1" noChangeArrowheads="1" noChangeShapeType="1" noTextEdit="1"/>
              </p:cNvSpPr>
              <p:nvPr/>
            </p:nvSpPr>
            <p:spPr>
              <a:xfrm>
                <a:off x="4063347" y="3386943"/>
                <a:ext cx="4007393" cy="422440"/>
              </a:xfrm>
              <a:prstGeom prst="rect">
                <a:avLst/>
              </a:prstGeom>
              <a:blipFill>
                <a:blip r:embed="rId4"/>
                <a:stretch>
                  <a:fillRect l="-4114" t="-17647" b="-50000"/>
                </a:stretch>
              </a:blipFill>
              <a:effectLst/>
            </p:spPr>
            <p:txBody>
              <a:bodyPr/>
              <a:lstStyle/>
              <a:p>
                <a:r>
                  <a:rPr lang="zh-CN" altLang="en-US">
                    <a:noFill/>
                  </a:rPr>
                  <a:t> </a:t>
                </a:r>
              </a:p>
            </p:txBody>
          </p:sp>
        </mc:Fallback>
      </mc:AlternateContent>
      <p:sp>
        <p:nvSpPr>
          <p:cNvPr id="13" name="Rounded Rectangle 12"/>
          <p:cNvSpPr/>
          <p:nvPr/>
        </p:nvSpPr>
        <p:spPr>
          <a:xfrm>
            <a:off x="749808" y="4389120"/>
            <a:ext cx="10652760" cy="987552"/>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50976" y="4498848"/>
            <a:ext cx="10250424"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REFERENCE CONDITIONS USED BELOW</a:t>
            </a:r>
          </a:p>
        </p:txBody>
      </p:sp>
      <mc:AlternateContent xmlns:mc="http://schemas.openxmlformats.org/markup-compatibility/2006">
        <mc:Choice xmlns:a14="http://schemas.microsoft.com/office/drawing/2010/main" Requires="a14">
          <p:sp>
            <p:nvSpPr>
              <p:cNvPr id="15" name="Equation 048" descr="j_0=0.30\,\mathrm{A\,cm^{-2}},\qquad\tilde T=0,\quad\tilde P=1"/>
              <p:cNvSpPr txBox="1"/>
              <p:nvPr/>
            </p:nvSpPr>
            <p:spPr>
              <a:xfrm>
                <a:off x="3079245" y="4828031"/>
                <a:ext cx="5993885" cy="438912"/>
              </a:xfrm>
              <a:prstGeom prst="rect">
                <a:avLst/>
              </a:prstGeom>
              <a:noFill/>
              <a:effectLst/>
            </p:spPr>
            <p:txBody>
              <a:bodyPr wrap="none" lIns="0" tIns="0" rIns="0" bIns="0" anchor="ctr">
                <a:noAutofit/>
              </a:bodyPr>
              <a:lstStyle/>
              <a:p>
                <a:pPr algn="ctr">
                  <a:spcBef>
                    <a:spcPts val="0"/>
                  </a:spcBef>
                  <a:spcAft>
                    <a:spcPts val="0"/>
                  </a:spcAft>
                  <a:defRPr sz="2892">
                    <a:latin typeface="Cambria Math"/>
                  </a:defRPr>
                </a:pPr>
                <a14:m>
                  <m:oMathPara xmlns:m="http://schemas.openxmlformats.org/officeDocument/2006/math">
                    <m:oMathParaPr>
                      <m:jc m:val="center"/>
                    </m:oMathParaPr>
                    <m:oMath xmlns:m="http://schemas.openxmlformats.org/officeDocument/2006/math">
                      <m:sSub>
                        <m:sSubPr>
                          <m:ctrlPr>
                            <a:rPr lang="en-GB" sz="2892">
                              <a:latin typeface="Cambria Math" panose="02040503050406030204" pitchFamily="18" charset="0"/>
                            </a:rPr>
                          </m:ctrlPr>
                        </m:sSubPr>
                        <m:e>
                          <m:r>
                            <a:rPr lang="en-GB" sz="2892">
                              <a:latin typeface="Cambria Math"/>
                            </a:rPr>
                            <m:t>𝑗</m:t>
                          </m:r>
                        </m:e>
                        <m:sub>
                          <m:r>
                            <a:rPr lang="en-GB" sz="2892">
                              <a:latin typeface="Cambria Math"/>
                            </a:rPr>
                            <m:t>0</m:t>
                          </m:r>
                        </m:sub>
                      </m:sSub>
                      <m:r>
                        <a:rPr lang="en-GB" sz="2892" i="0">
                          <a:latin typeface="Cambria Math"/>
                        </a:rPr>
                        <m:t>=</m:t>
                      </m:r>
                      <m:r>
                        <a:rPr lang="en-GB" sz="2892">
                          <a:latin typeface="Cambria Math"/>
                        </a:rPr>
                        <m:t>0.30 </m:t>
                      </m:r>
                      <m:r>
                        <m:rPr>
                          <m:sty m:val="p"/>
                        </m:rPr>
                        <a:rPr lang="en-GB" sz="2892" i="0">
                          <a:latin typeface="Cambria Math"/>
                        </a:rPr>
                        <m:t>A</m:t>
                      </m:r>
                      <m:r>
                        <a:rPr lang="en-GB" sz="2892" i="0">
                          <a:latin typeface="Cambria Math"/>
                        </a:rPr>
                        <m:t> </m:t>
                      </m:r>
                      <m:r>
                        <m:rPr>
                          <m:sty m:val="p"/>
                        </m:rPr>
                        <a:rPr lang="en-GB" sz="2892" i="0">
                          <a:latin typeface="Cambria Math"/>
                        </a:rPr>
                        <m:t>c</m:t>
                      </m:r>
                      <m:sSup>
                        <m:sSupPr>
                          <m:ctrlPr>
                            <a:rPr lang="en-GB" sz="2892" i="1">
                              <a:latin typeface="Cambria Math" panose="02040503050406030204" pitchFamily="18" charset="0"/>
                            </a:rPr>
                          </m:ctrlPr>
                        </m:sSupPr>
                        <m:e>
                          <m:r>
                            <m:rPr>
                              <m:sty m:val="p"/>
                            </m:rPr>
                            <a:rPr lang="en-GB" sz="2892" i="0">
                              <a:latin typeface="Cambria Math"/>
                            </a:rPr>
                            <m:t>m</m:t>
                          </m:r>
                        </m:e>
                        <m:sup>
                          <m:r>
                            <a:rPr lang="en-GB" sz="2892" i="0">
                              <a:latin typeface="Cambria Math"/>
                            </a:rPr>
                            <m:t>−2</m:t>
                          </m:r>
                        </m:sup>
                      </m:sSup>
                      <m:r>
                        <a:rPr lang="en-GB" sz="2892" i="0">
                          <a:latin typeface="Cambria Math"/>
                        </a:rPr>
                        <m:t>,</m:t>
                      </m:r>
                      <m:r>
                        <a:rPr lang="en-GB" sz="2892">
                          <a:latin typeface="Cambria Math"/>
                        </a:rPr>
                        <m:t>  </m:t>
                      </m:r>
                      <m:acc>
                        <m:accPr>
                          <m:chr m:val="̃"/>
                          <m:ctrlPr>
                            <a:rPr lang="en-GB" sz="2892" i="1">
                              <a:latin typeface="Cambria Math" panose="02040503050406030204" pitchFamily="18" charset="0"/>
                            </a:rPr>
                          </m:ctrlPr>
                        </m:accPr>
                        <m:e>
                          <m:r>
                            <a:rPr lang="en-GB" sz="2892">
                              <a:latin typeface="Cambria Math"/>
                            </a:rPr>
                            <m:t>𝑇</m:t>
                          </m:r>
                        </m:e>
                      </m:acc>
                      <m:r>
                        <a:rPr lang="en-GB" sz="2892" i="0">
                          <a:latin typeface="Cambria Math"/>
                        </a:rPr>
                        <m:t>=</m:t>
                      </m:r>
                      <m:r>
                        <a:rPr lang="en-GB" sz="2892">
                          <a:latin typeface="Cambria Math"/>
                        </a:rPr>
                        <m:t>0</m:t>
                      </m:r>
                      <m:r>
                        <a:rPr lang="en-GB" sz="2892" i="0">
                          <a:latin typeface="Cambria Math"/>
                        </a:rPr>
                        <m:t>,</m:t>
                      </m:r>
                      <m:r>
                        <a:rPr lang="en-GB" sz="2892">
                          <a:latin typeface="Cambria Math"/>
                        </a:rPr>
                        <m:t> </m:t>
                      </m:r>
                      <m:acc>
                        <m:accPr>
                          <m:chr m:val="̃"/>
                          <m:ctrlPr>
                            <a:rPr lang="en-GB" sz="2892" i="1">
                              <a:latin typeface="Cambria Math" panose="02040503050406030204" pitchFamily="18" charset="0"/>
                            </a:rPr>
                          </m:ctrlPr>
                        </m:accPr>
                        <m:e>
                          <m:r>
                            <a:rPr lang="en-GB" sz="2892">
                              <a:latin typeface="Cambria Math"/>
                            </a:rPr>
                            <m:t>𝑃</m:t>
                          </m:r>
                        </m:e>
                      </m:acc>
                      <m:r>
                        <a:rPr lang="en-GB" sz="2892" i="0">
                          <a:latin typeface="Cambria Math"/>
                        </a:rPr>
                        <m:t>=</m:t>
                      </m:r>
                      <m:r>
                        <a:rPr lang="en-GB" sz="2892">
                          <a:latin typeface="Cambria Math"/>
                        </a:rPr>
                        <m:t>1</m:t>
                      </m:r>
                    </m:oMath>
                  </m:oMathPara>
                </a14:m>
                <a:endParaRPr/>
              </a:p>
            </p:txBody>
          </p:sp>
        </mc:Choice>
        <mc:Fallback>
          <p:sp>
            <p:nvSpPr>
              <p:cNvPr id="15" name="Equation 048" descr="j_0=0.30\,\mathrm{A\,cm^{-2}},\qquad\tilde T=0,\quad\tilde P=1"/>
              <p:cNvSpPr txBox="1">
                <a:spLocks noRot="1" noChangeAspect="1" noMove="1" noResize="1" noEditPoints="1" noAdjustHandles="1" noChangeArrowheads="1" noChangeShapeType="1" noTextEdit="1"/>
              </p:cNvSpPr>
              <p:nvPr/>
            </p:nvSpPr>
            <p:spPr>
              <a:xfrm>
                <a:off x="3079245" y="4828031"/>
                <a:ext cx="5993885" cy="438912"/>
              </a:xfrm>
              <a:prstGeom prst="rect">
                <a:avLst/>
              </a:prstGeom>
              <a:blipFill>
                <a:blip r:embed="rId5"/>
                <a:stretch>
                  <a:fillRect l="-2114" t="-14286" r="-211" b="-42857"/>
                </a:stretch>
              </a:blipFill>
              <a:effectLst/>
            </p:spPr>
            <p:txBody>
              <a:bodyPr/>
              <a:lstStyle/>
              <a:p>
                <a:r>
                  <a:rPr lang="zh-CN" altLang="en-US">
                    <a:noFill/>
                  </a:rPr>
                  <a:t> </a:t>
                </a:r>
              </a:p>
            </p:txBody>
          </p:sp>
        </mc:Fallback>
      </mc:AlternateContent>
      <p:sp>
        <p:nvSpPr>
          <p:cNvPr id="16" name="Rounded Rectangle 15"/>
          <p:cNvSpPr/>
          <p:nvPr/>
        </p:nvSpPr>
        <p:spPr>
          <a:xfrm>
            <a:off x="530352" y="5806440"/>
            <a:ext cx="11128248" cy="466344"/>
          </a:xfrm>
          <a:prstGeom prst="roundRect">
            <a:avLst>
              <a:gd name="adj" fmla="val 8000"/>
            </a:avLst>
          </a:prstGeom>
          <a:solidFill>
            <a:srgbClr val="F6F1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750" b="0">
                <a:solidFill>
                  <a:srgbClr val="173042"/>
                </a:solidFill>
                <a:latin typeface="Arial"/>
              </a:rPr>
              <a:t>The following numbers are consequences of this specified relation—not validated electrolyser predictions.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Use the explicit formula to inspect trends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38</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Curve and derivative calculated from the assumed voltage relation at reference temperature and pressure.</a:t>
            </a:r>
          </a:p>
        </p:txBody>
      </p:sp>
      <p:pic>
        <p:nvPicPr>
          <p:cNvPr id="9" name="voltage_relation.png" descr="voltage_relation.png"/>
          <p:cNvPicPr>
            <a:picLocks noChangeAspect="1"/>
          </p:cNvPicPr>
          <p:nvPr/>
        </p:nvPicPr>
        <p:blipFill>
          <a:blip r:embed="rId3"/>
          <a:stretch>
            <a:fillRect/>
          </a:stretch>
        </p:blipFill>
        <p:spPr>
          <a:xfrm>
            <a:off x="713396" y="1792224"/>
            <a:ext cx="6016422" cy="3959352"/>
          </a:xfrm>
          <a:prstGeom prst="rect">
            <a:avLst/>
          </a:prstGeom>
          <a:effectLst/>
        </p:spPr>
      </p:pic>
      <p:sp>
        <p:nvSpPr>
          <p:cNvPr id="10" name="Rounded Rectangle 9"/>
          <p:cNvSpPr/>
          <p:nvPr/>
        </p:nvSpPr>
        <p:spPr>
          <a:xfrm>
            <a:off x="6967728" y="1920240"/>
            <a:ext cx="4535424" cy="149961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1" name="Equation 049" descr="\frac{\partial(\hat U/1\,\mathrm{V})}{\partial\tilde j}=\frac{0.11}{1+\tilde j}+0.20"/>
              <p:cNvSpPr txBox="1"/>
              <p:nvPr/>
            </p:nvSpPr>
            <p:spPr>
              <a:xfrm>
                <a:off x="7284956" y="2173871"/>
                <a:ext cx="3900967" cy="992352"/>
              </a:xfrm>
              <a:prstGeom prst="rect">
                <a:avLst/>
              </a:prstGeom>
              <a:noFill/>
              <a:effectLst/>
            </p:spPr>
            <p:txBody>
              <a:bodyPr wrap="none" lIns="0" tIns="0" rIns="0" bIns="0" anchor="ctr">
                <a:noAutofit/>
              </a:bodyPr>
              <a:lstStyle/>
              <a:p>
                <a:pPr algn="ctr">
                  <a:spcBef>
                    <a:spcPts val="0"/>
                  </a:spcBef>
                  <a:spcAft>
                    <a:spcPts val="0"/>
                  </a:spcAft>
                  <a:defRPr sz="2700">
                    <a:latin typeface="Cambria Math"/>
                  </a:defRPr>
                </a:pPr>
                <a14:m>
                  <m:oMathPara xmlns:m="http://schemas.openxmlformats.org/officeDocument/2006/math">
                    <m:oMathParaPr>
                      <m:jc m:val="center"/>
                    </m:oMathParaPr>
                    <m:oMath xmlns:m="http://schemas.openxmlformats.org/officeDocument/2006/math">
                      <m:f>
                        <m:fPr>
                          <m:ctrlPr>
                            <a:rPr lang="en-GB" sz="2700">
                              <a:latin typeface="Cambria Math" panose="02040503050406030204" pitchFamily="18" charset="0"/>
                            </a:rPr>
                          </m:ctrlPr>
                        </m:fPr>
                        <m:num>
                          <m:r>
                            <a:rPr lang="en-GB" sz="2700" i="0">
                              <a:latin typeface="Cambria Math"/>
                            </a:rPr>
                            <m:t>∂</m:t>
                          </m:r>
                          <m:d>
                            <m:dPr>
                              <m:ctrlPr>
                                <a:rPr lang="en-GB" sz="2700" i="1">
                                  <a:latin typeface="Cambria Math" panose="02040503050406030204" pitchFamily="18" charset="0"/>
                                </a:rPr>
                              </m:ctrlPr>
                            </m:dPr>
                            <m:e>
                              <m:acc>
                                <m:accPr>
                                  <m:chr m:val="̂"/>
                                  <m:ctrlPr>
                                    <a:rPr lang="en-GB" sz="2700" i="1">
                                      <a:latin typeface="Cambria Math" panose="02040503050406030204" pitchFamily="18" charset="0"/>
                                    </a:rPr>
                                  </m:ctrlPr>
                                </m:accPr>
                                <m:e>
                                  <m:r>
                                    <a:rPr lang="en-GB" sz="2700">
                                      <a:latin typeface="Cambria Math"/>
                                    </a:rPr>
                                    <m:t>𝑈</m:t>
                                  </m:r>
                                </m:e>
                              </m:acc>
                              <m:r>
                                <a:rPr lang="en-GB" sz="2700" i="0">
                                  <a:latin typeface="Cambria Math"/>
                                </a:rPr>
                                <m:t>/</m:t>
                              </m:r>
                              <m:r>
                                <a:rPr lang="en-GB" sz="2700">
                                  <a:latin typeface="Cambria Math"/>
                                </a:rPr>
                                <m:t>1 </m:t>
                              </m:r>
                              <m:r>
                                <m:rPr>
                                  <m:sty m:val="p"/>
                                </m:rPr>
                                <a:rPr lang="en-GB" sz="2700" i="0">
                                  <a:latin typeface="Cambria Math"/>
                                </a:rPr>
                                <m:t>V</m:t>
                              </m:r>
                            </m:e>
                          </m:d>
                        </m:num>
                        <m:den>
                          <m:r>
                            <a:rPr lang="en-GB" sz="2700" i="0">
                              <a:latin typeface="Cambria Math"/>
                            </a:rPr>
                            <m:t>∂</m:t>
                          </m:r>
                          <m:acc>
                            <m:accPr>
                              <m:chr m:val="̃"/>
                              <m:ctrlPr>
                                <a:rPr lang="en-GB" sz="2700" i="1">
                                  <a:latin typeface="Cambria Math" panose="02040503050406030204" pitchFamily="18" charset="0"/>
                                </a:rPr>
                              </m:ctrlPr>
                            </m:accPr>
                            <m:e>
                              <m:r>
                                <a:rPr lang="en-GB" sz="2700">
                                  <a:latin typeface="Cambria Math"/>
                                </a:rPr>
                                <m:t>𝑗</m:t>
                              </m:r>
                            </m:e>
                          </m:acc>
                        </m:den>
                      </m:f>
                      <m:r>
                        <a:rPr lang="en-GB" sz="2700" i="0">
                          <a:latin typeface="Cambria Math"/>
                        </a:rPr>
                        <m:t>=</m:t>
                      </m:r>
                      <m:f>
                        <m:fPr>
                          <m:ctrlPr>
                            <a:rPr lang="en-GB" sz="2700" i="1">
                              <a:latin typeface="Cambria Math" panose="02040503050406030204" pitchFamily="18" charset="0"/>
                            </a:rPr>
                          </m:ctrlPr>
                        </m:fPr>
                        <m:num>
                          <m:r>
                            <a:rPr lang="en-GB" sz="2700">
                              <a:latin typeface="Cambria Math"/>
                            </a:rPr>
                            <m:t>0.11</m:t>
                          </m:r>
                        </m:num>
                        <m:den>
                          <m:r>
                            <a:rPr lang="en-GB" sz="2700">
                              <a:latin typeface="Cambria Math"/>
                            </a:rPr>
                            <m:t>1</m:t>
                          </m:r>
                          <m:r>
                            <a:rPr lang="en-GB" sz="2700" i="0">
                              <a:latin typeface="Cambria Math"/>
                            </a:rPr>
                            <m:t>+</m:t>
                          </m:r>
                          <m:acc>
                            <m:accPr>
                              <m:chr m:val="̃"/>
                              <m:ctrlPr>
                                <a:rPr lang="en-GB" sz="2700" i="1">
                                  <a:latin typeface="Cambria Math" panose="02040503050406030204" pitchFamily="18" charset="0"/>
                                </a:rPr>
                              </m:ctrlPr>
                            </m:accPr>
                            <m:e>
                              <m:r>
                                <a:rPr lang="en-GB" sz="2700">
                                  <a:latin typeface="Cambria Math"/>
                                </a:rPr>
                                <m:t>𝑗</m:t>
                              </m:r>
                            </m:e>
                          </m:acc>
                        </m:den>
                      </m:f>
                      <m:r>
                        <a:rPr lang="en-GB" sz="2700" i="0">
                          <a:latin typeface="Cambria Math"/>
                        </a:rPr>
                        <m:t>+</m:t>
                      </m:r>
                      <m:r>
                        <a:rPr lang="en-GB" sz="2700">
                          <a:latin typeface="Cambria Math"/>
                        </a:rPr>
                        <m:t>0.20</m:t>
                      </m:r>
                    </m:oMath>
                  </m:oMathPara>
                </a14:m>
                <a:endParaRPr/>
              </a:p>
            </p:txBody>
          </p:sp>
        </mc:Choice>
        <mc:Fallback>
          <p:sp>
            <p:nvSpPr>
              <p:cNvPr id="11" name="Equation 049" descr="\frac{\partial(\hat U/1\,\mathrm{V})}{\partial\tilde j}=\frac{0.11}{1+\tilde j}+0.20"/>
              <p:cNvSpPr txBox="1">
                <a:spLocks noRot="1" noChangeAspect="1" noMove="1" noResize="1" noEditPoints="1" noAdjustHandles="1" noChangeArrowheads="1" noChangeShapeType="1" noTextEdit="1"/>
              </p:cNvSpPr>
              <p:nvPr/>
            </p:nvSpPr>
            <p:spPr>
              <a:xfrm>
                <a:off x="7284956" y="2173871"/>
                <a:ext cx="3900967" cy="992352"/>
              </a:xfrm>
              <a:prstGeom prst="rect">
                <a:avLst/>
              </a:prstGeom>
              <a:blipFill>
                <a:blip r:embed="rId4"/>
                <a:stretch>
                  <a:fillRect t="-3797" b="-8861"/>
                </a:stretch>
              </a:blipFill>
              <a:effectLst/>
            </p:spPr>
            <p:txBody>
              <a:bodyPr/>
              <a:lstStyle/>
              <a:p>
                <a:r>
                  <a:rPr lang="zh-CN" altLang="en-US">
                    <a:noFill/>
                  </a:rPr>
                  <a:t> </a:t>
                </a:r>
              </a:p>
            </p:txBody>
          </p:sp>
        </mc:Fallback>
      </mc:AlternateContent>
      <p:sp>
        <p:nvSpPr>
          <p:cNvPr id="12" name="TextBox 11"/>
          <p:cNvSpPr txBox="1"/>
          <p:nvPr/>
        </p:nvSpPr>
        <p:spPr>
          <a:xfrm>
            <a:off x="7196328" y="3803904"/>
            <a:ext cx="4023360" cy="9144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50" b="1">
                <a:solidFill>
                  <a:srgbClr val="173042"/>
                </a:solidFill>
                <a:latin typeface="Arial"/>
              </a:rPr>
              <a:t>The derivative is positive for positive current density.</a:t>
            </a:r>
          </a:p>
        </p:txBody>
      </p:sp>
      <p:sp>
        <p:nvSpPr>
          <p:cNvPr id="13" name="TextBox 12"/>
          <p:cNvSpPr txBox="1"/>
          <p:nvPr/>
        </p:nvSpPr>
        <p:spPr>
          <a:xfrm>
            <a:off x="7196328" y="5010912"/>
            <a:ext cx="4005072" cy="83210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617481"/>
                </a:solidFill>
                <a:latin typeface="Arial"/>
              </a:rPr>
              <a:t>Interpretation does not establish causation or prove a mechanism.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Retain Faraday’s law for hydrogen production</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39</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Charge-balance derivation; Faraday constant: NIST [10]. Identical-cell operating conditions are assumed.</a:t>
            </a:r>
          </a:p>
        </p:txBody>
      </p:sp>
      <p:sp>
        <p:nvSpPr>
          <p:cNvPr id="9" name="Rounded Rectangle 8"/>
          <p:cNvSpPr/>
          <p:nvPr/>
        </p:nvSpPr>
        <p:spPr>
          <a:xfrm>
            <a:off x="713232" y="1810512"/>
            <a:ext cx="10762488" cy="1600200"/>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0" name="Equation 050" descr="\dot n_{\mathrm{H_2}}=\frac{\eta_{\mathrm{F}}\,j\,A_{\Sigma}}{2F}"/>
              <p:cNvSpPr txBox="1"/>
              <p:nvPr/>
            </p:nvSpPr>
            <p:spPr>
              <a:xfrm>
                <a:off x="4625309" y="2135581"/>
                <a:ext cx="2938332" cy="950061"/>
              </a:xfrm>
              <a:prstGeom prst="rect">
                <a:avLst/>
              </a:prstGeom>
              <a:noFill/>
              <a:effectLst/>
            </p:spPr>
            <p:txBody>
              <a:bodyPr wrap="none" lIns="0" tIns="0" rIns="0" bIns="0" anchor="ctr">
                <a:noAutofit/>
              </a:bodyPr>
              <a:lstStyle/>
              <a:p>
                <a:pPr algn="ctr">
                  <a:spcBef>
                    <a:spcPts val="0"/>
                  </a:spcBef>
                  <a:spcAft>
                    <a:spcPts val="0"/>
                  </a:spcAft>
                  <a:defRPr sz="3600">
                    <a:latin typeface="Cambria Math"/>
                  </a:defRPr>
                </a:pPr>
                <a14:m>
                  <m:oMathPara xmlns:m="http://schemas.openxmlformats.org/officeDocument/2006/math">
                    <m:oMathParaPr>
                      <m:jc m:val="center"/>
                    </m:oMathParaPr>
                    <m:oMath xmlns:m="http://schemas.openxmlformats.org/officeDocument/2006/math">
                      <m:sSub>
                        <m:sSubPr>
                          <m:ctrlPr>
                            <a:rPr lang="en-GB" sz="3600">
                              <a:latin typeface="Cambria Math" panose="02040503050406030204" pitchFamily="18" charset="0"/>
                            </a:rPr>
                          </m:ctrlPr>
                        </m:sSubPr>
                        <m:e>
                          <m:acc>
                            <m:accPr>
                              <m:chr m:val="̇"/>
                              <m:ctrlPr>
                                <a:rPr lang="en-GB" sz="3600">
                                  <a:latin typeface="Cambria Math" panose="02040503050406030204" pitchFamily="18" charset="0"/>
                                </a:rPr>
                              </m:ctrlPr>
                            </m:accPr>
                            <m:e>
                              <m:r>
                                <a:rPr lang="en-GB" sz="3600">
                                  <a:latin typeface="Cambria Math"/>
                                </a:rPr>
                                <m:t>𝑛</m:t>
                              </m:r>
                            </m:e>
                          </m:acc>
                        </m:e>
                        <m:sub>
                          <m:sSub>
                            <m:sSubPr>
                              <m:ctrlPr>
                                <a:rPr lang="en-GB" sz="3600" i="1">
                                  <a:latin typeface="Cambria Math" panose="02040503050406030204" pitchFamily="18" charset="0"/>
                                </a:rPr>
                              </m:ctrlPr>
                            </m:sSubPr>
                            <m:e>
                              <m:r>
                                <m:rPr>
                                  <m:sty m:val="p"/>
                                </m:rPr>
                                <a:rPr lang="en-GB" sz="3600" i="0">
                                  <a:latin typeface="Cambria Math"/>
                                </a:rPr>
                                <m:t>H</m:t>
                              </m:r>
                            </m:e>
                            <m:sub>
                              <m:r>
                                <a:rPr lang="en-GB" sz="3600" i="0">
                                  <a:latin typeface="Cambria Math"/>
                                </a:rPr>
                                <m:t>2</m:t>
                              </m:r>
                            </m:sub>
                          </m:sSub>
                        </m:sub>
                      </m:sSub>
                      <m:r>
                        <a:rPr lang="en-GB" sz="3600" i="0">
                          <a:latin typeface="Cambria Math"/>
                        </a:rPr>
                        <m:t>=</m:t>
                      </m:r>
                      <m:f>
                        <m:fPr>
                          <m:ctrlPr>
                            <a:rPr lang="en-GB" sz="3600" i="1">
                              <a:latin typeface="Cambria Math" panose="02040503050406030204" pitchFamily="18" charset="0"/>
                            </a:rPr>
                          </m:ctrlPr>
                        </m:fPr>
                        <m:num>
                          <m:sSub>
                            <m:sSubPr>
                              <m:ctrlPr>
                                <a:rPr lang="en-GB" sz="3600" i="1">
                                  <a:latin typeface="Cambria Math" panose="02040503050406030204" pitchFamily="18" charset="0"/>
                                </a:rPr>
                              </m:ctrlPr>
                            </m:sSubPr>
                            <m:e>
                              <m:r>
                                <a:rPr lang="en-GB" sz="3600">
                                  <a:latin typeface="Cambria Math"/>
                                </a:rPr>
                                <m:t>𝜂</m:t>
                              </m:r>
                            </m:e>
                            <m:sub>
                              <m:r>
                                <m:rPr>
                                  <m:sty m:val="p"/>
                                </m:rPr>
                                <a:rPr lang="en-GB" sz="3600" i="0">
                                  <a:latin typeface="Cambria Math"/>
                                </a:rPr>
                                <m:t>F</m:t>
                              </m:r>
                            </m:sub>
                          </m:sSub>
                          <m:r>
                            <a:rPr lang="en-GB" sz="3600">
                              <a:latin typeface="Cambria Math"/>
                            </a:rPr>
                            <m:t> </m:t>
                          </m:r>
                          <m:r>
                            <a:rPr lang="en-GB" sz="3600">
                              <a:latin typeface="Cambria Math"/>
                            </a:rPr>
                            <m:t>𝑗</m:t>
                          </m:r>
                          <m:r>
                            <a:rPr lang="en-GB" sz="3600">
                              <a:latin typeface="Cambria Math"/>
                            </a:rPr>
                            <m:t> </m:t>
                          </m:r>
                          <m:sSub>
                            <m:sSubPr>
                              <m:ctrlPr>
                                <a:rPr lang="en-GB" sz="3600" i="1">
                                  <a:latin typeface="Cambria Math" panose="02040503050406030204" pitchFamily="18" charset="0"/>
                                </a:rPr>
                              </m:ctrlPr>
                            </m:sSubPr>
                            <m:e>
                              <m:r>
                                <a:rPr lang="en-GB" sz="3600">
                                  <a:latin typeface="Cambria Math"/>
                                </a:rPr>
                                <m:t>𝐴</m:t>
                              </m:r>
                            </m:e>
                            <m:sub>
                              <m:r>
                                <a:rPr lang="en-GB" sz="3600">
                                  <a:latin typeface="Cambria Math"/>
                                </a:rPr>
                                <m:t>𝛴</m:t>
                              </m:r>
                            </m:sub>
                          </m:sSub>
                        </m:num>
                        <m:den>
                          <m:r>
                            <a:rPr lang="en-GB" sz="3600">
                              <a:latin typeface="Cambria Math"/>
                            </a:rPr>
                            <m:t>2</m:t>
                          </m:r>
                          <m:r>
                            <a:rPr lang="en-GB" sz="3600">
                              <a:latin typeface="Cambria Math"/>
                            </a:rPr>
                            <m:t>𝐹</m:t>
                          </m:r>
                        </m:den>
                      </m:f>
                    </m:oMath>
                  </m:oMathPara>
                </a14:m>
                <a:endParaRPr/>
              </a:p>
            </p:txBody>
          </p:sp>
        </mc:Choice>
        <mc:Fallback>
          <p:sp>
            <p:nvSpPr>
              <p:cNvPr id="10" name="Equation 050" descr="\dot n_{\mathrm{H_2}}=\frac{\eta_{\mathrm{F}}\,j\,A_{\Sigma}}{2F}"/>
              <p:cNvSpPr txBox="1">
                <a:spLocks noRot="1" noChangeAspect="1" noMove="1" noResize="1" noEditPoints="1" noAdjustHandles="1" noChangeArrowheads="1" noChangeShapeType="1" noTextEdit="1"/>
              </p:cNvSpPr>
              <p:nvPr/>
            </p:nvSpPr>
            <p:spPr>
              <a:xfrm>
                <a:off x="4625309" y="2135581"/>
                <a:ext cx="2938332" cy="950061"/>
              </a:xfrm>
              <a:prstGeom prst="rect">
                <a:avLst/>
              </a:prstGeom>
              <a:blipFill>
                <a:blip r:embed="rId3"/>
                <a:stretch>
                  <a:fillRect t="-14667" b="-21333"/>
                </a:stretch>
              </a:blipFill>
              <a:effectLst/>
            </p:spPr>
            <p:txBody>
              <a:bodyPr/>
              <a:lstStyle/>
              <a:p>
                <a:r>
                  <a:rPr lang="zh-CN" altLang="en-US">
                    <a:noFill/>
                  </a:rPr>
                  <a:t> </a:t>
                </a:r>
              </a:p>
            </p:txBody>
          </p:sp>
        </mc:Fallback>
      </mc:AlternateContent>
      <p:graphicFrame>
        <p:nvGraphicFramePr>
          <p:cNvPr id="11" name="Table 10"/>
          <p:cNvGraphicFramePr>
            <a:graphicFrameLocks noGrp="1"/>
          </p:cNvGraphicFramePr>
          <p:nvPr/>
        </p:nvGraphicFramePr>
        <p:xfrm>
          <a:off x="768096" y="3730752"/>
          <a:ext cx="10634472" cy="2148839"/>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8714232">
                  <a:extLst>
                    <a:ext uri="{9D8B030D-6E8A-4147-A177-3AD203B41FA5}">
                      <a16:colId xmlns:a16="http://schemas.microsoft.com/office/drawing/2014/main" val="20001"/>
                    </a:ext>
                  </a:extLst>
                </a:gridCol>
              </a:tblGrid>
              <a:tr h="429767">
                <a:tc>
                  <a:txBody>
                    <a:bodyPr/>
                    <a:lstStyle/>
                    <a:p>
                      <a:pPr>
                        <a:lnSpc>
                          <a:spcPct val="105000"/>
                        </a:lnSpc>
                        <a:spcAft>
                          <a:spcPts val="0"/>
                        </a:spcAft>
                      </a:pPr>
                      <a:r>
                        <a:rPr lang="en-GB" sz="1750" b="1">
                          <a:solidFill>
                            <a:srgbClr val="FFFFFF"/>
                          </a:solidFill>
                          <a:latin typeface="Arial"/>
                        </a:rPr>
                        <a:t>Symbol</a:t>
                      </a:r>
                    </a:p>
                  </a:txBody>
                  <a:tcPr marL="128016" marR="109728" marT="73152" marB="27432" anchor="ctr">
                    <a:solidFill>
                      <a:srgbClr val="173042"/>
                    </a:solidFill>
                  </a:tcPr>
                </a:tc>
                <a:tc>
                  <a:txBody>
                    <a:bodyPr/>
                    <a:lstStyle/>
                    <a:p>
                      <a:pPr>
                        <a:lnSpc>
                          <a:spcPct val="105000"/>
                        </a:lnSpc>
                        <a:spcAft>
                          <a:spcPts val="0"/>
                        </a:spcAft>
                      </a:pPr>
                      <a:r>
                        <a:rPr lang="en-GB" sz="1750" b="1">
                          <a:solidFill>
                            <a:srgbClr val="FFFFFF"/>
                          </a:solidFill>
                          <a:latin typeface="Arial"/>
                        </a:rPr>
                        <a:t>Meaning</a:t>
                      </a:r>
                    </a:p>
                  </a:txBody>
                  <a:tcPr marL="128016" marR="109728" marT="73152" marB="27432" anchor="ctr">
                    <a:solidFill>
                      <a:srgbClr val="173042"/>
                    </a:solidFill>
                  </a:tcPr>
                </a:tc>
                <a:extLst>
                  <a:ext uri="{0D108BD9-81ED-4DB2-BD59-A6C34878D82A}">
                    <a16:rowId xmlns:a16="http://schemas.microsoft.com/office/drawing/2014/main" val="10000"/>
                  </a:ext>
                </a:extLst>
              </a:tr>
              <a:tr h="429767">
                <a:tc>
                  <a:txBody>
                    <a:bodyPr/>
                    <a:lstStyle/>
                    <a:p>
                      <a:pPr>
                        <a:lnSpc>
                          <a:spcPct val="105000"/>
                        </a:lnSpc>
                        <a:spcAft>
                          <a:spcPts val="0"/>
                        </a:spcAft>
                      </a:pPr>
                      <a:r>
                        <a:rPr lang="en-GB" sz="1800" b="0">
                          <a:solidFill>
                            <a:srgbClr val="173042"/>
                          </a:solidFill>
                          <a:latin typeface="Arial"/>
                        </a:rPr>
                        <a:t>ṅH₂</a:t>
                      </a:r>
                    </a:p>
                  </a:txBody>
                  <a:tcPr marL="128016" marR="109728" marT="73152" marB="27432" anchor="ctr">
                    <a:solidFill>
                      <a:srgbClr val="F6F8FA"/>
                    </a:solidFill>
                  </a:tcPr>
                </a:tc>
                <a:tc>
                  <a:txBody>
                    <a:bodyPr/>
                    <a:lstStyle/>
                    <a:p>
                      <a:pPr>
                        <a:lnSpc>
                          <a:spcPct val="105000"/>
                        </a:lnSpc>
                        <a:spcAft>
                          <a:spcPts val="0"/>
                        </a:spcAft>
                      </a:pPr>
                      <a:r>
                        <a:rPr lang="en-GB" sz="1800" b="0">
                          <a:solidFill>
                            <a:srgbClr val="173042"/>
                          </a:solidFill>
                          <a:latin typeface="Arial"/>
                        </a:rPr>
                        <a:t>Hydrogen production rate, mol s⁻¹</a:t>
                      </a:r>
                    </a:p>
                  </a:txBody>
                  <a:tcPr marL="128016" marR="109728" marT="73152" marB="27432" anchor="ctr">
                    <a:solidFill>
                      <a:srgbClr val="F6F8FA"/>
                    </a:solidFill>
                  </a:tcPr>
                </a:tc>
                <a:extLst>
                  <a:ext uri="{0D108BD9-81ED-4DB2-BD59-A6C34878D82A}">
                    <a16:rowId xmlns:a16="http://schemas.microsoft.com/office/drawing/2014/main" val="10001"/>
                  </a:ext>
                </a:extLst>
              </a:tr>
              <a:tr h="429767">
                <a:tc>
                  <a:txBody>
                    <a:bodyPr/>
                    <a:lstStyle/>
                    <a:p>
                      <a:pPr>
                        <a:lnSpc>
                          <a:spcPct val="105000"/>
                        </a:lnSpc>
                        <a:spcAft>
                          <a:spcPts val="0"/>
                        </a:spcAft>
                      </a:pPr>
                      <a:r>
                        <a:rPr lang="en-GB" sz="1800" b="0">
                          <a:solidFill>
                            <a:srgbClr val="173042"/>
                          </a:solidFill>
                          <a:latin typeface="Arial"/>
                        </a:rPr>
                        <a:t>j</a:t>
                      </a:r>
                    </a:p>
                  </a:txBody>
                  <a:tcPr marL="128016" marR="109728" marT="73152" marB="27432" anchor="ctr">
                    <a:solidFill>
                      <a:srgbClr val="FFFFFF"/>
                    </a:solidFill>
                  </a:tcPr>
                </a:tc>
                <a:tc>
                  <a:txBody>
                    <a:bodyPr/>
                    <a:lstStyle/>
                    <a:p>
                      <a:pPr>
                        <a:lnSpc>
                          <a:spcPct val="105000"/>
                        </a:lnSpc>
                        <a:spcAft>
                          <a:spcPts val="0"/>
                        </a:spcAft>
                      </a:pPr>
                      <a:r>
                        <a:rPr lang="en-GB" sz="1800" b="0">
                          <a:solidFill>
                            <a:srgbClr val="173042"/>
                          </a:solidFill>
                          <a:latin typeface="Arial"/>
                        </a:rPr>
                        <a:t>Current density, A m⁻² in the area calculation</a:t>
                      </a:r>
                    </a:p>
                  </a:txBody>
                  <a:tcPr marL="128016" marR="109728" marT="73152" marB="27432" anchor="ctr">
                    <a:solidFill>
                      <a:srgbClr val="FFFFFF"/>
                    </a:solidFill>
                  </a:tcPr>
                </a:tc>
                <a:extLst>
                  <a:ext uri="{0D108BD9-81ED-4DB2-BD59-A6C34878D82A}">
                    <a16:rowId xmlns:a16="http://schemas.microsoft.com/office/drawing/2014/main" val="10002"/>
                  </a:ext>
                </a:extLst>
              </a:tr>
              <a:tr h="429767">
                <a:tc>
                  <a:txBody>
                    <a:bodyPr/>
                    <a:lstStyle/>
                    <a:p>
                      <a:pPr>
                        <a:lnSpc>
                          <a:spcPct val="105000"/>
                        </a:lnSpc>
                        <a:spcAft>
                          <a:spcPts val="0"/>
                        </a:spcAft>
                      </a:pPr>
                      <a:r>
                        <a:rPr lang="en-GB" sz="1800" b="0">
                          <a:solidFill>
                            <a:srgbClr val="173042"/>
                          </a:solidFill>
                          <a:latin typeface="Arial"/>
                        </a:rPr>
                        <a:t>AΣ</a:t>
                      </a:r>
                    </a:p>
                  </a:txBody>
                  <a:tcPr marL="128016" marR="109728" marT="73152" marB="27432" anchor="ctr">
                    <a:solidFill>
                      <a:srgbClr val="F6F8FA"/>
                    </a:solidFill>
                  </a:tcPr>
                </a:tc>
                <a:tc>
                  <a:txBody>
                    <a:bodyPr/>
                    <a:lstStyle/>
                    <a:p>
                      <a:pPr>
                        <a:lnSpc>
                          <a:spcPct val="105000"/>
                        </a:lnSpc>
                        <a:spcAft>
                          <a:spcPts val="0"/>
                        </a:spcAft>
                      </a:pPr>
                      <a:r>
                        <a:rPr lang="en-GB" sz="1800" b="0">
                          <a:solidFill>
                            <a:srgbClr val="173042"/>
                          </a:solidFill>
                          <a:latin typeface="Arial"/>
                        </a:rPr>
                        <a:t>Sum of active areas over all cells, m²</a:t>
                      </a:r>
                    </a:p>
                  </a:txBody>
                  <a:tcPr marL="128016" marR="109728" marT="73152" marB="27432" anchor="ctr">
                    <a:solidFill>
                      <a:srgbClr val="F6F8FA"/>
                    </a:solidFill>
                  </a:tcPr>
                </a:tc>
                <a:extLst>
                  <a:ext uri="{0D108BD9-81ED-4DB2-BD59-A6C34878D82A}">
                    <a16:rowId xmlns:a16="http://schemas.microsoft.com/office/drawing/2014/main" val="10003"/>
                  </a:ext>
                </a:extLst>
              </a:tr>
              <a:tr h="429771">
                <a:tc>
                  <a:txBody>
                    <a:bodyPr/>
                    <a:lstStyle/>
                    <a:p>
                      <a:pPr>
                        <a:lnSpc>
                          <a:spcPct val="105000"/>
                        </a:lnSpc>
                        <a:spcAft>
                          <a:spcPts val="0"/>
                        </a:spcAft>
                      </a:pPr>
                      <a:r>
                        <a:rPr lang="en-GB" sz="1800" b="0">
                          <a:solidFill>
                            <a:srgbClr val="173042"/>
                          </a:solidFill>
                          <a:latin typeface="Arial"/>
                        </a:rPr>
                        <a:t>F</a:t>
                      </a:r>
                    </a:p>
                  </a:txBody>
                  <a:tcPr marL="128016" marR="109728" marT="73152" marB="27432" anchor="ctr">
                    <a:solidFill>
                      <a:srgbClr val="FFFFFF"/>
                    </a:solidFill>
                  </a:tcPr>
                </a:tc>
                <a:tc>
                  <a:txBody>
                    <a:bodyPr/>
                    <a:lstStyle/>
                    <a:p>
                      <a:pPr>
                        <a:lnSpc>
                          <a:spcPct val="105000"/>
                        </a:lnSpc>
                        <a:spcAft>
                          <a:spcPts val="0"/>
                        </a:spcAft>
                      </a:pPr>
                      <a:r>
                        <a:rPr lang="en-GB" sz="1800" b="0">
                          <a:solidFill>
                            <a:srgbClr val="173042"/>
                          </a:solidFill>
                          <a:latin typeface="Arial"/>
                        </a:rPr>
                        <a:t>Faraday constant ≈ 96,485.33 C mol⁻¹</a:t>
                      </a:r>
                    </a:p>
                  </a:txBody>
                  <a:tcPr marL="128016" marR="109728" marT="73152" marB="27432" anchor="ctr">
                    <a:solidFill>
                      <a:srgbClr val="FFFFFF"/>
                    </a:solidFill>
                  </a:tcPr>
                </a:tc>
                <a:extLst>
                  <a:ext uri="{0D108BD9-81ED-4DB2-BD59-A6C34878D82A}">
                    <a16:rowId xmlns:a16="http://schemas.microsoft.com/office/drawing/2014/main" val="10004"/>
                  </a:ext>
                </a:extLst>
              </a:tr>
            </a:tbl>
          </a:graphicData>
        </a:graphic>
      </p:graphicFrame>
      <p:sp>
        <p:nvSpPr>
          <p:cNvPr id="12" name="Rounded Rectangle 11"/>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Two moles of electrons are required per mole of H₂.</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At fixed production, area and power respond differently</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40</a:t>
            </a:r>
          </a:p>
        </p:txBody>
      </p:sp>
      <p:sp>
        <p:nvSpPr>
          <p:cNvPr id="8" name="Rounded Rectangle 7"/>
          <p:cNvSpPr/>
          <p:nvPr/>
        </p:nvSpPr>
        <p:spPr>
          <a:xfrm>
            <a:off x="694944" y="1764792"/>
            <a:ext cx="5376672" cy="170992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896112" y="1874519"/>
            <a:ext cx="4974336"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REQUIRED ACTIVE AREA</a:t>
            </a:r>
          </a:p>
        </p:txBody>
      </p:sp>
      <mc:AlternateContent xmlns:mc="http://schemas.openxmlformats.org/markup-compatibility/2006">
        <mc:Choice xmlns:a14="http://schemas.microsoft.com/office/drawing/2010/main" Requires="a14">
          <p:sp>
            <p:nvSpPr>
              <p:cNvPr id="10" name="Equation 051" descr="A_{\Sigma}=\frac{2F\dot n_{\mathrm{H_2}}}{\eta_{\mathrm{F}}j}"/>
              <p:cNvSpPr txBox="1"/>
              <p:nvPr/>
            </p:nvSpPr>
            <p:spPr>
              <a:xfrm>
                <a:off x="2112039" y="2269404"/>
                <a:ext cx="2542481" cy="1029886"/>
              </a:xfrm>
              <a:prstGeom prst="rect">
                <a:avLst/>
              </a:prstGeom>
              <a:noFill/>
              <a:effectLst/>
            </p:spPr>
            <p:txBody>
              <a:bodyPr wrap="none" lIns="0" tIns="0" rIns="0" bIns="0" anchor="ctr">
                <a:noAutofit/>
              </a:bodyPr>
              <a:lstStyle/>
              <a:p>
                <a:pPr algn="ctr">
                  <a:spcBef>
                    <a:spcPts val="0"/>
                  </a:spcBef>
                  <a:spcAft>
                    <a:spcPts val="0"/>
                  </a:spcAft>
                  <a:defRPr sz="3400">
                    <a:latin typeface="Cambria Math"/>
                  </a:defRPr>
                </a:pPr>
                <a14:m>
                  <m:oMathPara xmlns:m="http://schemas.openxmlformats.org/officeDocument/2006/math">
                    <m:oMathParaPr>
                      <m:jc m:val="center"/>
                    </m:oMathParaPr>
                    <m:oMath xmlns:m="http://schemas.openxmlformats.org/officeDocument/2006/math">
                      <m:sSub>
                        <m:sSubPr>
                          <m:ctrlPr>
                            <a:rPr lang="en-GB" sz="3400">
                              <a:latin typeface="Cambria Math" panose="02040503050406030204" pitchFamily="18" charset="0"/>
                            </a:rPr>
                          </m:ctrlPr>
                        </m:sSubPr>
                        <m:e>
                          <m:r>
                            <a:rPr lang="en-GB" sz="3400">
                              <a:latin typeface="Cambria Math"/>
                            </a:rPr>
                            <m:t>𝐴</m:t>
                          </m:r>
                        </m:e>
                        <m:sub>
                          <m:r>
                            <a:rPr lang="en-GB" sz="3400">
                              <a:latin typeface="Cambria Math"/>
                            </a:rPr>
                            <m:t>𝛴</m:t>
                          </m:r>
                        </m:sub>
                      </m:sSub>
                      <m:r>
                        <a:rPr lang="en-GB" sz="3400" i="0">
                          <a:latin typeface="Cambria Math"/>
                        </a:rPr>
                        <m:t>=</m:t>
                      </m:r>
                      <m:f>
                        <m:fPr>
                          <m:ctrlPr>
                            <a:rPr lang="en-GB" sz="3400" i="1">
                              <a:latin typeface="Cambria Math" panose="02040503050406030204" pitchFamily="18" charset="0"/>
                            </a:rPr>
                          </m:ctrlPr>
                        </m:fPr>
                        <m:num>
                          <m:r>
                            <a:rPr lang="en-GB" sz="3400">
                              <a:latin typeface="Cambria Math"/>
                            </a:rPr>
                            <m:t>2</m:t>
                          </m:r>
                          <m:r>
                            <a:rPr lang="en-GB" sz="3400">
                              <a:latin typeface="Cambria Math"/>
                            </a:rPr>
                            <m:t>𝐹</m:t>
                          </m:r>
                          <m:sSub>
                            <m:sSubPr>
                              <m:ctrlPr>
                                <a:rPr lang="en-GB" sz="3400" i="1">
                                  <a:latin typeface="Cambria Math" panose="02040503050406030204" pitchFamily="18" charset="0"/>
                                </a:rPr>
                              </m:ctrlPr>
                            </m:sSubPr>
                            <m:e>
                              <m:acc>
                                <m:accPr>
                                  <m:chr m:val="̇"/>
                                  <m:ctrlPr>
                                    <a:rPr lang="en-GB" sz="3400" i="1">
                                      <a:latin typeface="Cambria Math" panose="02040503050406030204" pitchFamily="18" charset="0"/>
                                    </a:rPr>
                                  </m:ctrlPr>
                                </m:accPr>
                                <m:e>
                                  <m:r>
                                    <a:rPr lang="en-GB" sz="3400">
                                      <a:latin typeface="Cambria Math"/>
                                    </a:rPr>
                                    <m:t>𝑛</m:t>
                                  </m:r>
                                </m:e>
                              </m:acc>
                            </m:e>
                            <m:sub>
                              <m:sSub>
                                <m:sSubPr>
                                  <m:ctrlPr>
                                    <a:rPr lang="en-GB" sz="3400" i="1">
                                      <a:latin typeface="Cambria Math" panose="02040503050406030204" pitchFamily="18" charset="0"/>
                                    </a:rPr>
                                  </m:ctrlPr>
                                </m:sSubPr>
                                <m:e>
                                  <m:r>
                                    <m:rPr>
                                      <m:sty m:val="p"/>
                                    </m:rPr>
                                    <a:rPr lang="en-GB" sz="3400" i="0">
                                      <a:latin typeface="Cambria Math"/>
                                    </a:rPr>
                                    <m:t>H</m:t>
                                  </m:r>
                                </m:e>
                                <m:sub>
                                  <m:r>
                                    <a:rPr lang="en-GB" sz="3400" i="0">
                                      <a:latin typeface="Cambria Math"/>
                                    </a:rPr>
                                    <m:t>2</m:t>
                                  </m:r>
                                </m:sub>
                              </m:sSub>
                            </m:sub>
                          </m:sSub>
                        </m:num>
                        <m:den>
                          <m:sSub>
                            <m:sSubPr>
                              <m:ctrlPr>
                                <a:rPr lang="en-GB" sz="3400" i="1">
                                  <a:latin typeface="Cambria Math" panose="02040503050406030204" pitchFamily="18" charset="0"/>
                                </a:rPr>
                              </m:ctrlPr>
                            </m:sSubPr>
                            <m:e>
                              <m:r>
                                <a:rPr lang="en-GB" sz="3400">
                                  <a:latin typeface="Cambria Math"/>
                                </a:rPr>
                                <m:t>𝜂</m:t>
                              </m:r>
                            </m:e>
                            <m:sub>
                              <m:r>
                                <m:rPr>
                                  <m:sty m:val="p"/>
                                </m:rPr>
                                <a:rPr lang="en-GB" sz="3400" i="0">
                                  <a:latin typeface="Cambria Math"/>
                                </a:rPr>
                                <m:t>F</m:t>
                              </m:r>
                            </m:sub>
                          </m:sSub>
                          <m:r>
                            <a:rPr lang="en-GB" sz="3400">
                              <a:latin typeface="Cambria Math"/>
                            </a:rPr>
                            <m:t>𝑗</m:t>
                          </m:r>
                        </m:den>
                      </m:f>
                    </m:oMath>
                  </m:oMathPara>
                </a14:m>
                <a:endParaRPr/>
              </a:p>
            </p:txBody>
          </p:sp>
        </mc:Choice>
        <mc:Fallback>
          <p:sp>
            <p:nvSpPr>
              <p:cNvPr id="10" name="Equation 051" descr="A_{\Sigma}=\frac{2F\dot n_{\mathrm{H_2}}}{\eta_{\mathrm{F}}j}"/>
              <p:cNvSpPr txBox="1">
                <a:spLocks noRot="1" noChangeAspect="1" noMove="1" noResize="1" noEditPoints="1" noAdjustHandles="1" noChangeArrowheads="1" noChangeShapeType="1" noTextEdit="1"/>
              </p:cNvSpPr>
              <p:nvPr/>
            </p:nvSpPr>
            <p:spPr>
              <a:xfrm>
                <a:off x="2112039" y="2269404"/>
                <a:ext cx="2542481" cy="1029886"/>
              </a:xfrm>
              <a:prstGeom prst="rect">
                <a:avLst/>
              </a:prstGeom>
              <a:blipFill>
                <a:blip r:embed="rId3"/>
                <a:stretch>
                  <a:fillRect l="-1990" t="-8537" b="-21951"/>
                </a:stretch>
              </a:blipFill>
              <a:effectLst/>
            </p:spPr>
            <p:txBody>
              <a:bodyPr/>
              <a:lstStyle/>
              <a:p>
                <a:r>
                  <a:rPr lang="zh-CN" altLang="en-US">
                    <a:noFill/>
                  </a:rPr>
                  <a:t> </a:t>
                </a:r>
              </a:p>
            </p:txBody>
          </p:sp>
        </mc:Fallback>
      </mc:AlternateContent>
      <p:sp>
        <p:nvSpPr>
          <p:cNvPr id="11" name="Rounded Rectangle 10"/>
          <p:cNvSpPr/>
          <p:nvPr/>
        </p:nvSpPr>
        <p:spPr>
          <a:xfrm>
            <a:off x="6254496" y="1764792"/>
            <a:ext cx="5248656" cy="170992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455664" y="1874519"/>
            <a:ext cx="4846320"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TOTAL DIRECT-CURRENT POWER</a:t>
            </a:r>
          </a:p>
        </p:txBody>
      </p:sp>
      <mc:AlternateContent xmlns:mc="http://schemas.openxmlformats.org/markup-compatibility/2006">
        <mc:Choice xmlns:a14="http://schemas.microsoft.com/office/drawing/2010/main" Requires="a14">
          <p:sp>
            <p:nvSpPr>
              <p:cNvPr id="13" name="Equation 052" descr="P_{\mathrm{DC}}=UjA_{\Sigma}=\frac{2FU\dot n_{\mathrm{H_2}}}{\eta_{\mathrm{F}}}"/>
              <p:cNvSpPr txBox="1"/>
              <p:nvPr/>
            </p:nvSpPr>
            <p:spPr>
              <a:xfrm>
                <a:off x="6863596" y="2345131"/>
                <a:ext cx="4030454" cy="878432"/>
              </a:xfrm>
              <a:prstGeom prst="rect">
                <a:avLst/>
              </a:prstGeom>
              <a:noFill/>
              <a:effectLst/>
            </p:spPr>
            <p:txBody>
              <a:bodyPr wrap="none" lIns="0" tIns="0" rIns="0" bIns="0" anchor="ctr">
                <a:noAutofit/>
              </a:bodyPr>
              <a:lstStyle/>
              <a:p>
                <a:pPr algn="ctr">
                  <a:spcBef>
                    <a:spcPts val="0"/>
                  </a:spcBef>
                  <a:spcAft>
                    <a:spcPts val="0"/>
                  </a:spcAft>
                  <a:defRPr sz="2900">
                    <a:latin typeface="Cambria Math"/>
                  </a:defRPr>
                </a:pPr>
                <a14:m>
                  <m:oMathPara xmlns:m="http://schemas.openxmlformats.org/officeDocument/2006/math">
                    <m:oMathParaPr>
                      <m:jc m:val="center"/>
                    </m:oMathParaPr>
                    <m:oMath xmlns:m="http://schemas.openxmlformats.org/officeDocument/2006/math">
                      <m:sSub>
                        <m:sSubPr>
                          <m:ctrlPr>
                            <a:rPr lang="en-GB" sz="2900">
                              <a:latin typeface="Cambria Math" panose="02040503050406030204" pitchFamily="18" charset="0"/>
                            </a:rPr>
                          </m:ctrlPr>
                        </m:sSubPr>
                        <m:e>
                          <m:r>
                            <a:rPr lang="en-GB" sz="2900">
                              <a:latin typeface="Cambria Math"/>
                            </a:rPr>
                            <m:t>𝑃</m:t>
                          </m:r>
                        </m:e>
                        <m:sub>
                          <m:r>
                            <m:rPr>
                              <m:sty m:val="p"/>
                            </m:rPr>
                            <a:rPr lang="en-GB" sz="2900" i="0">
                              <a:latin typeface="Cambria Math"/>
                            </a:rPr>
                            <m:t>DC</m:t>
                          </m:r>
                        </m:sub>
                      </m:sSub>
                      <m:r>
                        <a:rPr lang="en-GB" sz="2900" i="0">
                          <a:latin typeface="Cambria Math"/>
                        </a:rPr>
                        <m:t>=</m:t>
                      </m:r>
                      <m:r>
                        <a:rPr lang="en-GB" sz="2900">
                          <a:latin typeface="Cambria Math"/>
                        </a:rPr>
                        <m:t>𝑈𝑗</m:t>
                      </m:r>
                      <m:sSub>
                        <m:sSubPr>
                          <m:ctrlPr>
                            <a:rPr lang="en-GB" sz="2900" i="1">
                              <a:latin typeface="Cambria Math" panose="02040503050406030204" pitchFamily="18" charset="0"/>
                            </a:rPr>
                          </m:ctrlPr>
                        </m:sSubPr>
                        <m:e>
                          <m:r>
                            <a:rPr lang="en-GB" sz="2900">
                              <a:latin typeface="Cambria Math"/>
                            </a:rPr>
                            <m:t>𝐴</m:t>
                          </m:r>
                        </m:e>
                        <m:sub>
                          <m:r>
                            <a:rPr lang="en-GB" sz="2900">
                              <a:latin typeface="Cambria Math"/>
                            </a:rPr>
                            <m:t>𝛴</m:t>
                          </m:r>
                        </m:sub>
                      </m:sSub>
                      <m:r>
                        <a:rPr lang="en-GB" sz="2900" i="0">
                          <a:latin typeface="Cambria Math"/>
                        </a:rPr>
                        <m:t>=</m:t>
                      </m:r>
                      <m:f>
                        <m:fPr>
                          <m:ctrlPr>
                            <a:rPr lang="en-GB" sz="2900" i="1">
                              <a:latin typeface="Cambria Math" panose="02040503050406030204" pitchFamily="18" charset="0"/>
                            </a:rPr>
                          </m:ctrlPr>
                        </m:fPr>
                        <m:num>
                          <m:r>
                            <a:rPr lang="en-GB" sz="2900">
                              <a:latin typeface="Cambria Math"/>
                            </a:rPr>
                            <m:t>2</m:t>
                          </m:r>
                          <m:r>
                            <a:rPr lang="en-GB" sz="2900">
                              <a:latin typeface="Cambria Math"/>
                            </a:rPr>
                            <m:t>𝐹𝑈</m:t>
                          </m:r>
                          <m:sSub>
                            <m:sSubPr>
                              <m:ctrlPr>
                                <a:rPr lang="en-GB" sz="2900" i="1">
                                  <a:latin typeface="Cambria Math" panose="02040503050406030204" pitchFamily="18" charset="0"/>
                                </a:rPr>
                              </m:ctrlPr>
                            </m:sSubPr>
                            <m:e>
                              <m:acc>
                                <m:accPr>
                                  <m:chr m:val="̇"/>
                                  <m:ctrlPr>
                                    <a:rPr lang="en-GB" sz="2900" i="1">
                                      <a:latin typeface="Cambria Math" panose="02040503050406030204" pitchFamily="18" charset="0"/>
                                    </a:rPr>
                                  </m:ctrlPr>
                                </m:accPr>
                                <m:e>
                                  <m:r>
                                    <a:rPr lang="en-GB" sz="2900">
                                      <a:latin typeface="Cambria Math"/>
                                    </a:rPr>
                                    <m:t>𝑛</m:t>
                                  </m:r>
                                </m:e>
                              </m:acc>
                            </m:e>
                            <m:sub>
                              <m:sSub>
                                <m:sSubPr>
                                  <m:ctrlPr>
                                    <a:rPr lang="en-GB" sz="2900" i="1">
                                      <a:latin typeface="Cambria Math" panose="02040503050406030204" pitchFamily="18" charset="0"/>
                                    </a:rPr>
                                  </m:ctrlPr>
                                </m:sSubPr>
                                <m:e>
                                  <m:r>
                                    <m:rPr>
                                      <m:sty m:val="p"/>
                                    </m:rPr>
                                    <a:rPr lang="en-GB" sz="2900" i="0">
                                      <a:latin typeface="Cambria Math"/>
                                    </a:rPr>
                                    <m:t>H</m:t>
                                  </m:r>
                                </m:e>
                                <m:sub>
                                  <m:r>
                                    <a:rPr lang="en-GB" sz="2900" i="0">
                                      <a:latin typeface="Cambria Math"/>
                                    </a:rPr>
                                    <m:t>2</m:t>
                                  </m:r>
                                </m:sub>
                              </m:sSub>
                            </m:sub>
                          </m:sSub>
                        </m:num>
                        <m:den>
                          <m:sSub>
                            <m:sSubPr>
                              <m:ctrlPr>
                                <a:rPr lang="en-GB" sz="2900" i="1">
                                  <a:latin typeface="Cambria Math" panose="02040503050406030204" pitchFamily="18" charset="0"/>
                                </a:rPr>
                              </m:ctrlPr>
                            </m:sSubPr>
                            <m:e>
                              <m:r>
                                <a:rPr lang="en-GB" sz="2900">
                                  <a:latin typeface="Cambria Math"/>
                                </a:rPr>
                                <m:t>𝜂</m:t>
                              </m:r>
                            </m:e>
                            <m:sub>
                              <m:r>
                                <m:rPr>
                                  <m:sty m:val="p"/>
                                </m:rPr>
                                <a:rPr lang="en-GB" sz="2900" i="0">
                                  <a:latin typeface="Cambria Math"/>
                                </a:rPr>
                                <m:t>F</m:t>
                              </m:r>
                            </m:sub>
                          </m:sSub>
                        </m:den>
                      </m:f>
                    </m:oMath>
                  </m:oMathPara>
                </a14:m>
                <a:endParaRPr/>
              </a:p>
            </p:txBody>
          </p:sp>
        </mc:Choice>
        <mc:Fallback>
          <p:sp>
            <p:nvSpPr>
              <p:cNvPr id="13" name="Equation 052" descr="P_{\mathrm{DC}}=UjA_{\Sigma}=\frac{2FU\dot n_{\mathrm{H_2}}}{\eta_{\mathrm{F}}}"/>
              <p:cNvSpPr txBox="1">
                <a:spLocks noRot="1" noChangeAspect="1" noMove="1" noResize="1" noEditPoints="1" noAdjustHandles="1" noChangeArrowheads="1" noChangeShapeType="1" noTextEdit="1"/>
              </p:cNvSpPr>
              <p:nvPr/>
            </p:nvSpPr>
            <p:spPr>
              <a:xfrm>
                <a:off x="6863596" y="2345131"/>
                <a:ext cx="4030454" cy="878432"/>
              </a:xfrm>
              <a:prstGeom prst="rect">
                <a:avLst/>
              </a:prstGeom>
              <a:blipFill>
                <a:blip r:embed="rId4"/>
                <a:stretch>
                  <a:fillRect t="-7143" b="-17143"/>
                </a:stretch>
              </a:blipFill>
              <a:effectLst/>
            </p:spPr>
            <p:txBody>
              <a:bodyPr/>
              <a:lstStyle/>
              <a:p>
                <a:r>
                  <a:rPr lang="zh-CN" altLang="en-US">
                    <a:noFill/>
                  </a:rPr>
                  <a:t> </a:t>
                </a:r>
              </a:p>
            </p:txBody>
          </p:sp>
        </mc:Fallback>
      </mc:AlternateContent>
      <p:sp>
        <p:nvSpPr>
          <p:cNvPr id="14" name="TextBox 13"/>
          <p:cNvSpPr txBox="1"/>
          <p:nvPr/>
        </p:nvSpPr>
        <p:spPr>
          <a:xfrm>
            <a:off x="987552" y="3877056"/>
            <a:ext cx="4709160" cy="1563624"/>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600" b="1">
                <a:solidFill>
                  <a:srgbClr val="173042"/>
                </a:solidFill>
                <a:latin typeface="Arial"/>
              </a:rPr>
              <a:t>Higher current density</a:t>
            </a:r>
          </a:p>
          <a:p>
            <a:pPr algn="l">
              <a:lnSpc>
                <a:spcPct val="113000"/>
              </a:lnSpc>
              <a:spcBef>
                <a:spcPts val="0"/>
              </a:spcBef>
              <a:spcAft>
                <a:spcPts val="400"/>
              </a:spcAft>
            </a:pPr>
            <a:r>
              <a:rPr lang="en-GB" sz="2600" b="1">
                <a:solidFill>
                  <a:srgbClr val="173042"/>
                </a:solidFill>
                <a:latin typeface="Arial"/>
              </a:rPr>
              <a:t>reduces required area</a:t>
            </a:r>
          </a:p>
          <a:p>
            <a:pPr algn="l">
              <a:lnSpc>
                <a:spcPct val="113000"/>
              </a:lnSpc>
              <a:spcBef>
                <a:spcPts val="0"/>
              </a:spcBef>
              <a:spcAft>
                <a:spcPts val="0"/>
              </a:spcAft>
            </a:pPr>
            <a:r>
              <a:rPr lang="en-GB" sz="2600" b="1">
                <a:solidFill>
                  <a:srgbClr val="173042"/>
                </a:solidFill>
                <a:latin typeface="Arial"/>
              </a:rPr>
              <a:t>if efficiency is fixed.</a:t>
            </a:r>
          </a:p>
        </p:txBody>
      </p:sp>
      <p:sp>
        <p:nvSpPr>
          <p:cNvPr id="15" name="TextBox 14"/>
          <p:cNvSpPr txBox="1"/>
          <p:nvPr/>
        </p:nvSpPr>
        <p:spPr>
          <a:xfrm>
            <a:off x="6528816" y="3877056"/>
            <a:ext cx="4727448" cy="1563624"/>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600" b="1">
                <a:solidFill>
                  <a:srgbClr val="173042"/>
                </a:solidFill>
                <a:latin typeface="Arial"/>
              </a:rPr>
              <a:t>Higher voltage increases</a:t>
            </a:r>
          </a:p>
          <a:p>
            <a:pPr algn="l">
              <a:lnSpc>
                <a:spcPct val="113000"/>
              </a:lnSpc>
              <a:spcBef>
                <a:spcPts val="0"/>
              </a:spcBef>
              <a:spcAft>
                <a:spcPts val="400"/>
              </a:spcAft>
            </a:pPr>
            <a:r>
              <a:rPr lang="en-GB" sz="2600" b="1">
                <a:solidFill>
                  <a:srgbClr val="173042"/>
                </a:solidFill>
                <a:latin typeface="Arial"/>
              </a:rPr>
              <a:t>power at fixed production</a:t>
            </a:r>
          </a:p>
          <a:p>
            <a:pPr algn="l">
              <a:lnSpc>
                <a:spcPct val="113000"/>
              </a:lnSpc>
              <a:spcBef>
                <a:spcPts val="0"/>
              </a:spcBef>
              <a:spcAft>
                <a:spcPts val="0"/>
              </a:spcAft>
            </a:pPr>
            <a:r>
              <a:rPr lang="en-GB" sz="2600" b="1">
                <a:solidFill>
                  <a:srgbClr val="173042"/>
                </a:solidFill>
                <a:latin typeface="Arial"/>
              </a:rPr>
              <a:t>if efficiency is fixed.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021" b="1">
                <a:solidFill>
                  <a:srgbClr val="173042"/>
                </a:solidFill>
                <a:latin typeface="Arial"/>
              </a:rPr>
              <a:t>Worked comparison at the same hydrogen production rate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41</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Calculated from the teaching relation; ηF = 0.96 and hydrogen production = 1 mol s⁻¹.</a:t>
            </a:r>
          </a:p>
        </p:txBody>
      </p:sp>
      <p:graphicFrame>
        <p:nvGraphicFramePr>
          <p:cNvPr id="9" name="Table 8"/>
          <p:cNvGraphicFramePr>
            <a:graphicFrameLocks noGrp="1"/>
          </p:cNvGraphicFramePr>
          <p:nvPr/>
        </p:nvGraphicFramePr>
        <p:xfrm>
          <a:off x="731520" y="1828800"/>
          <a:ext cx="10725912" cy="2971800"/>
        </p:xfrm>
        <a:graphic>
          <a:graphicData uri="http://schemas.openxmlformats.org/drawingml/2006/table">
            <a:tbl>
              <a:tblPr firstRow="1" bandRow="1">
                <a:tableStyleId>{5C22544A-7EE6-4342-B048-85BDC9FD1C3A}</a:tableStyleId>
              </a:tblPr>
              <a:tblGrid>
                <a:gridCol w="5093208">
                  <a:extLst>
                    <a:ext uri="{9D8B030D-6E8A-4147-A177-3AD203B41FA5}">
                      <a16:colId xmlns:a16="http://schemas.microsoft.com/office/drawing/2014/main" val="20000"/>
                    </a:ext>
                  </a:extLst>
                </a:gridCol>
                <a:gridCol w="2816352">
                  <a:extLst>
                    <a:ext uri="{9D8B030D-6E8A-4147-A177-3AD203B41FA5}">
                      <a16:colId xmlns:a16="http://schemas.microsoft.com/office/drawing/2014/main" val="20001"/>
                    </a:ext>
                  </a:extLst>
                </a:gridCol>
                <a:gridCol w="2816352">
                  <a:extLst>
                    <a:ext uri="{9D8B030D-6E8A-4147-A177-3AD203B41FA5}">
                      <a16:colId xmlns:a16="http://schemas.microsoft.com/office/drawing/2014/main" val="20002"/>
                    </a:ext>
                  </a:extLst>
                </a:gridCol>
              </a:tblGrid>
              <a:tr h="594360">
                <a:tc>
                  <a:txBody>
                    <a:bodyPr/>
                    <a:lstStyle/>
                    <a:p>
                      <a:pPr>
                        <a:lnSpc>
                          <a:spcPct val="105000"/>
                        </a:lnSpc>
                        <a:spcAft>
                          <a:spcPts val="0"/>
                        </a:spcAft>
                      </a:pPr>
                      <a:r>
                        <a:rPr lang="en-GB" sz="1950" b="1">
                          <a:solidFill>
                            <a:srgbClr val="FFFFFF"/>
                          </a:solidFill>
                          <a:latin typeface="Arial"/>
                        </a:rPr>
                        <a:t>Quantity</a:t>
                      </a:r>
                    </a:p>
                  </a:txBody>
                  <a:tcPr marL="128016" marR="109728" marT="73152" marB="27432" anchor="ctr">
                    <a:solidFill>
                      <a:srgbClr val="173042"/>
                    </a:solidFill>
                  </a:tcPr>
                </a:tc>
                <a:tc>
                  <a:txBody>
                    <a:bodyPr/>
                    <a:lstStyle/>
                    <a:p>
                      <a:pPr>
                        <a:lnSpc>
                          <a:spcPct val="105000"/>
                        </a:lnSpc>
                        <a:spcAft>
                          <a:spcPts val="0"/>
                        </a:spcAft>
                      </a:pPr>
                      <a:r>
                        <a:rPr lang="en-GB" sz="1950" b="1">
                          <a:solidFill>
                            <a:srgbClr val="FFFFFF"/>
                          </a:solidFill>
                          <a:latin typeface="Arial"/>
                        </a:rPr>
                        <a:t>j = 0.30 A cm⁻²</a:t>
                      </a:r>
                    </a:p>
                  </a:txBody>
                  <a:tcPr marL="128016" marR="109728" marT="73152" marB="27432" anchor="ctr">
                    <a:solidFill>
                      <a:srgbClr val="173042"/>
                    </a:solidFill>
                  </a:tcPr>
                </a:tc>
                <a:tc>
                  <a:txBody>
                    <a:bodyPr/>
                    <a:lstStyle/>
                    <a:p>
                      <a:pPr>
                        <a:lnSpc>
                          <a:spcPct val="105000"/>
                        </a:lnSpc>
                        <a:spcAft>
                          <a:spcPts val="0"/>
                        </a:spcAft>
                      </a:pPr>
                      <a:r>
                        <a:rPr lang="en-GB" sz="1950" b="1">
                          <a:solidFill>
                            <a:srgbClr val="FFFFFF"/>
                          </a:solidFill>
                          <a:latin typeface="Arial"/>
                        </a:rPr>
                        <a:t>j = 0.60 A cm⁻²</a:t>
                      </a:r>
                    </a:p>
                  </a:txBody>
                  <a:tcPr marL="128016" marR="109728" marT="73152" marB="27432" anchor="ctr">
                    <a:solidFill>
                      <a:srgbClr val="173042"/>
                    </a:solidFill>
                  </a:tcPr>
                </a:tc>
                <a:extLst>
                  <a:ext uri="{0D108BD9-81ED-4DB2-BD59-A6C34878D82A}">
                    <a16:rowId xmlns:a16="http://schemas.microsoft.com/office/drawing/2014/main" val="10000"/>
                  </a:ext>
                </a:extLst>
              </a:tr>
              <a:tr h="594360">
                <a:tc>
                  <a:txBody>
                    <a:bodyPr/>
                    <a:lstStyle/>
                    <a:p>
                      <a:pPr>
                        <a:lnSpc>
                          <a:spcPct val="105000"/>
                        </a:lnSpc>
                        <a:spcAft>
                          <a:spcPts val="0"/>
                        </a:spcAft>
                      </a:pPr>
                      <a:r>
                        <a:rPr lang="en-GB" sz="2000" b="0">
                          <a:solidFill>
                            <a:srgbClr val="173042"/>
                          </a:solidFill>
                          <a:latin typeface="Arial"/>
                        </a:rPr>
                        <a:t>Cell voltage / V</a:t>
                      </a:r>
                    </a:p>
                  </a:txBody>
                  <a:tcPr marL="128016" marR="109728" marT="73152" marB="27432" anchor="ctr">
                    <a:solidFill>
                      <a:srgbClr val="F6F8FA"/>
                    </a:solidFill>
                  </a:tcPr>
                </a:tc>
                <a:tc>
                  <a:txBody>
                    <a:bodyPr/>
                    <a:lstStyle/>
                    <a:p>
                      <a:pPr>
                        <a:lnSpc>
                          <a:spcPct val="105000"/>
                        </a:lnSpc>
                        <a:spcAft>
                          <a:spcPts val="0"/>
                        </a:spcAft>
                      </a:pPr>
                      <a:r>
                        <a:rPr lang="en-GB" sz="2000" b="0">
                          <a:solidFill>
                            <a:srgbClr val="173042"/>
                          </a:solidFill>
                          <a:latin typeface="Arial"/>
                        </a:rPr>
                        <a:t>1.826</a:t>
                      </a:r>
                    </a:p>
                  </a:txBody>
                  <a:tcPr marL="128016" marR="109728" marT="73152" marB="27432" anchor="ctr">
                    <a:solidFill>
                      <a:srgbClr val="F6F8FA"/>
                    </a:solidFill>
                  </a:tcPr>
                </a:tc>
                <a:tc>
                  <a:txBody>
                    <a:bodyPr/>
                    <a:lstStyle/>
                    <a:p>
                      <a:pPr>
                        <a:lnSpc>
                          <a:spcPct val="105000"/>
                        </a:lnSpc>
                        <a:spcAft>
                          <a:spcPts val="0"/>
                        </a:spcAft>
                      </a:pPr>
                      <a:r>
                        <a:rPr lang="en-GB" sz="2000" b="0">
                          <a:solidFill>
                            <a:srgbClr val="173042"/>
                          </a:solidFill>
                          <a:latin typeface="Arial"/>
                        </a:rPr>
                        <a:t>2.071</a:t>
                      </a:r>
                    </a:p>
                  </a:txBody>
                  <a:tcPr marL="128016" marR="109728" marT="73152" marB="27432" anchor="ctr">
                    <a:solidFill>
                      <a:srgbClr val="F6F8FA"/>
                    </a:solidFill>
                  </a:tcPr>
                </a:tc>
                <a:extLst>
                  <a:ext uri="{0D108BD9-81ED-4DB2-BD59-A6C34878D82A}">
                    <a16:rowId xmlns:a16="http://schemas.microsoft.com/office/drawing/2014/main" val="10001"/>
                  </a:ext>
                </a:extLst>
              </a:tr>
              <a:tr h="594360">
                <a:tc>
                  <a:txBody>
                    <a:bodyPr/>
                    <a:lstStyle/>
                    <a:p>
                      <a:pPr>
                        <a:lnSpc>
                          <a:spcPct val="105000"/>
                        </a:lnSpc>
                        <a:spcAft>
                          <a:spcPts val="0"/>
                        </a:spcAft>
                      </a:pPr>
                      <a:r>
                        <a:rPr lang="en-GB" sz="2000" b="0">
                          <a:solidFill>
                            <a:srgbClr val="173042"/>
                          </a:solidFill>
                          <a:latin typeface="Arial"/>
                        </a:rPr>
                        <a:t>Total active area / m²</a:t>
                      </a:r>
                    </a:p>
                  </a:txBody>
                  <a:tcPr marL="128016" marR="109728" marT="73152" marB="27432" anchor="ctr">
                    <a:solidFill>
                      <a:srgbClr val="FFFFFF"/>
                    </a:solidFill>
                  </a:tcPr>
                </a:tc>
                <a:tc>
                  <a:txBody>
                    <a:bodyPr/>
                    <a:lstStyle/>
                    <a:p>
                      <a:pPr>
                        <a:lnSpc>
                          <a:spcPct val="105000"/>
                        </a:lnSpc>
                        <a:spcAft>
                          <a:spcPts val="0"/>
                        </a:spcAft>
                      </a:pPr>
                      <a:r>
                        <a:rPr lang="en-GB" sz="2000" b="0">
                          <a:solidFill>
                            <a:srgbClr val="173042"/>
                          </a:solidFill>
                          <a:latin typeface="Arial"/>
                        </a:rPr>
                        <a:t>67.00</a:t>
                      </a:r>
                    </a:p>
                  </a:txBody>
                  <a:tcPr marL="128016" marR="109728" marT="73152" marB="27432" anchor="ctr">
                    <a:solidFill>
                      <a:srgbClr val="FFFFFF"/>
                    </a:solidFill>
                  </a:tcPr>
                </a:tc>
                <a:tc>
                  <a:txBody>
                    <a:bodyPr/>
                    <a:lstStyle/>
                    <a:p>
                      <a:pPr>
                        <a:lnSpc>
                          <a:spcPct val="105000"/>
                        </a:lnSpc>
                        <a:spcAft>
                          <a:spcPts val="0"/>
                        </a:spcAft>
                      </a:pPr>
                      <a:r>
                        <a:rPr lang="en-GB" sz="2000" b="0">
                          <a:solidFill>
                            <a:srgbClr val="173042"/>
                          </a:solidFill>
                          <a:latin typeface="Arial"/>
                        </a:rPr>
                        <a:t>33.50</a:t>
                      </a:r>
                    </a:p>
                  </a:txBody>
                  <a:tcPr marL="128016" marR="109728" marT="73152" marB="27432" anchor="ctr">
                    <a:solidFill>
                      <a:srgbClr val="FFFFFF"/>
                    </a:solidFill>
                  </a:tcPr>
                </a:tc>
                <a:extLst>
                  <a:ext uri="{0D108BD9-81ED-4DB2-BD59-A6C34878D82A}">
                    <a16:rowId xmlns:a16="http://schemas.microsoft.com/office/drawing/2014/main" val="10002"/>
                  </a:ext>
                </a:extLst>
              </a:tr>
              <a:tr h="594360">
                <a:tc>
                  <a:txBody>
                    <a:bodyPr/>
                    <a:lstStyle/>
                    <a:p>
                      <a:pPr>
                        <a:lnSpc>
                          <a:spcPct val="105000"/>
                        </a:lnSpc>
                        <a:spcAft>
                          <a:spcPts val="0"/>
                        </a:spcAft>
                      </a:pPr>
                      <a:r>
                        <a:rPr lang="en-GB" sz="2000" b="0">
                          <a:solidFill>
                            <a:srgbClr val="173042"/>
                          </a:solidFill>
                          <a:latin typeface="Arial"/>
                        </a:rPr>
                        <a:t>DC power / kW</a:t>
                      </a:r>
                    </a:p>
                  </a:txBody>
                  <a:tcPr marL="128016" marR="109728" marT="73152" marB="27432" anchor="ctr">
                    <a:solidFill>
                      <a:srgbClr val="F6F8FA"/>
                    </a:solidFill>
                  </a:tcPr>
                </a:tc>
                <a:tc>
                  <a:txBody>
                    <a:bodyPr/>
                    <a:lstStyle/>
                    <a:p>
                      <a:pPr>
                        <a:lnSpc>
                          <a:spcPct val="105000"/>
                        </a:lnSpc>
                        <a:spcAft>
                          <a:spcPts val="0"/>
                        </a:spcAft>
                      </a:pPr>
                      <a:r>
                        <a:rPr lang="en-GB" sz="2000" b="0">
                          <a:solidFill>
                            <a:srgbClr val="173042"/>
                          </a:solidFill>
                          <a:latin typeface="Arial"/>
                        </a:rPr>
                        <a:t>367.10</a:t>
                      </a:r>
                    </a:p>
                  </a:txBody>
                  <a:tcPr marL="128016" marR="109728" marT="73152" marB="27432" anchor="ctr">
                    <a:solidFill>
                      <a:srgbClr val="F6F8FA"/>
                    </a:solidFill>
                  </a:tcPr>
                </a:tc>
                <a:tc>
                  <a:txBody>
                    <a:bodyPr/>
                    <a:lstStyle/>
                    <a:p>
                      <a:pPr>
                        <a:lnSpc>
                          <a:spcPct val="105000"/>
                        </a:lnSpc>
                        <a:spcAft>
                          <a:spcPts val="0"/>
                        </a:spcAft>
                      </a:pPr>
                      <a:r>
                        <a:rPr lang="en-GB" sz="2000" b="0">
                          <a:solidFill>
                            <a:srgbClr val="173042"/>
                          </a:solidFill>
                          <a:latin typeface="Arial"/>
                        </a:rPr>
                        <a:t>416.26</a:t>
                      </a:r>
                    </a:p>
                  </a:txBody>
                  <a:tcPr marL="128016" marR="109728" marT="73152" marB="27432" anchor="ctr">
                    <a:solidFill>
                      <a:srgbClr val="F6F8FA"/>
                    </a:solidFill>
                  </a:tcPr>
                </a:tc>
                <a:extLst>
                  <a:ext uri="{0D108BD9-81ED-4DB2-BD59-A6C34878D82A}">
                    <a16:rowId xmlns:a16="http://schemas.microsoft.com/office/drawing/2014/main" val="10003"/>
                  </a:ext>
                </a:extLst>
              </a:tr>
              <a:tr h="594360">
                <a:tc>
                  <a:txBody>
                    <a:bodyPr/>
                    <a:lstStyle/>
                    <a:p>
                      <a:pPr>
                        <a:lnSpc>
                          <a:spcPct val="105000"/>
                        </a:lnSpc>
                        <a:spcAft>
                          <a:spcPts val="0"/>
                        </a:spcAft>
                      </a:pPr>
                      <a:r>
                        <a:rPr lang="en-GB" sz="2000" b="0">
                          <a:solidFill>
                            <a:srgbClr val="173042"/>
                          </a:solidFill>
                          <a:latin typeface="Arial"/>
                        </a:rPr>
                        <a:t>DC electricity / kWh kg⁻¹ H₂</a:t>
                      </a:r>
                    </a:p>
                  </a:txBody>
                  <a:tcPr marL="128016" marR="109728" marT="73152" marB="27432" anchor="ctr">
                    <a:solidFill>
                      <a:srgbClr val="FFFFFF"/>
                    </a:solidFill>
                  </a:tcPr>
                </a:tc>
                <a:tc>
                  <a:txBody>
                    <a:bodyPr/>
                    <a:lstStyle/>
                    <a:p>
                      <a:pPr>
                        <a:lnSpc>
                          <a:spcPct val="105000"/>
                        </a:lnSpc>
                        <a:spcAft>
                          <a:spcPts val="0"/>
                        </a:spcAft>
                      </a:pPr>
                      <a:r>
                        <a:rPr lang="en-GB" sz="2000" b="0">
                          <a:solidFill>
                            <a:srgbClr val="173042"/>
                          </a:solidFill>
                          <a:latin typeface="Arial"/>
                        </a:rPr>
                        <a:t>50.58</a:t>
                      </a:r>
                    </a:p>
                  </a:txBody>
                  <a:tcPr marL="128016" marR="109728" marT="73152" marB="27432" anchor="ctr">
                    <a:solidFill>
                      <a:srgbClr val="FFFFFF"/>
                    </a:solidFill>
                  </a:tcPr>
                </a:tc>
                <a:tc>
                  <a:txBody>
                    <a:bodyPr/>
                    <a:lstStyle/>
                    <a:p>
                      <a:pPr>
                        <a:lnSpc>
                          <a:spcPct val="105000"/>
                        </a:lnSpc>
                        <a:spcAft>
                          <a:spcPts val="0"/>
                        </a:spcAft>
                      </a:pPr>
                      <a:r>
                        <a:rPr lang="en-GB" sz="2000" b="0">
                          <a:solidFill>
                            <a:srgbClr val="173042"/>
                          </a:solidFill>
                          <a:latin typeface="Arial"/>
                        </a:rPr>
                        <a:t>57.36</a:t>
                      </a:r>
                    </a:p>
                  </a:txBody>
                  <a:tcPr marL="128016" marR="109728" marT="73152" marB="27432" anchor="ctr">
                    <a:solidFill>
                      <a:srgbClr val="FFFFFF"/>
                    </a:solidFill>
                  </a:tcPr>
                </a:tc>
                <a:extLst>
                  <a:ext uri="{0D108BD9-81ED-4DB2-BD59-A6C34878D82A}">
                    <a16:rowId xmlns:a16="http://schemas.microsoft.com/office/drawing/2014/main" val="10004"/>
                  </a:ext>
                </a:extLst>
              </a:tr>
            </a:tbl>
          </a:graphicData>
        </a:graphic>
      </p:graphicFrame>
      <p:sp>
        <p:nvSpPr>
          <p:cNvPr id="10" name="Rounded Rectangle 9"/>
          <p:cNvSpPr/>
          <p:nvPr/>
        </p:nvSpPr>
        <p:spPr>
          <a:xfrm>
            <a:off x="768096" y="5129784"/>
            <a:ext cx="5074920" cy="60350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969264" y="5266944"/>
            <a:ext cx="4709160" cy="3931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300" b="1">
                <a:solidFill>
                  <a:srgbClr val="24777A"/>
                </a:solidFill>
                <a:latin typeface="Arial"/>
              </a:rPr>
              <a:t>50% less active area</a:t>
            </a:r>
          </a:p>
        </p:txBody>
      </p:sp>
      <p:sp>
        <p:nvSpPr>
          <p:cNvPr id="12" name="Rounded Rectangle 11"/>
          <p:cNvSpPr/>
          <p:nvPr/>
        </p:nvSpPr>
        <p:spPr>
          <a:xfrm>
            <a:off x="6190488" y="5129784"/>
            <a:ext cx="5212080" cy="603504"/>
          </a:xfrm>
          <a:prstGeom prst="roundRect">
            <a:avLst>
              <a:gd name="adj" fmla="val 8000"/>
            </a:avLst>
          </a:prstGeom>
          <a:solidFill>
            <a:srgbClr val="F6F1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6391656" y="5266944"/>
            <a:ext cx="4818888" cy="3931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300" b="1">
                <a:solidFill>
                  <a:srgbClr val="A66835"/>
                </a:solidFill>
                <a:latin typeface="Arial"/>
              </a:rPr>
              <a:t>13.4% more DC electricity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Do not confuse a component metric with a plant metric</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42</a:t>
            </a:r>
          </a:p>
        </p:txBody>
      </p:sp>
      <p:sp>
        <p:nvSpPr>
          <p:cNvPr id="8" name="Rounded Rectangle 7"/>
          <p:cNvSpPr/>
          <p:nvPr/>
        </p:nvSpPr>
        <p:spPr>
          <a:xfrm>
            <a:off x="704088" y="1810512"/>
            <a:ext cx="5285232" cy="3630168"/>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923544" y="1993392"/>
            <a:ext cx="4846320"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83" b="1">
                <a:solidFill>
                  <a:srgbClr val="24777A"/>
                </a:solidFill>
                <a:latin typeface="Arial"/>
              </a:rPr>
              <a:t>DC ELECTRICITY IS NOT THE WHOLE PLANT</a:t>
            </a:r>
          </a:p>
        </p:txBody>
      </p:sp>
      <p:sp>
        <p:nvSpPr>
          <p:cNvPr id="10" name="TextBox 9"/>
          <p:cNvSpPr txBox="1"/>
          <p:nvPr/>
        </p:nvSpPr>
        <p:spPr>
          <a:xfrm>
            <a:off x="923544" y="2660904"/>
            <a:ext cx="4846320" cy="263347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The calculation excludes rectification losses, hydrogen compression, pumps and other auxiliaries.</a:t>
            </a:r>
          </a:p>
        </p:txBody>
      </p:sp>
      <p:sp>
        <p:nvSpPr>
          <p:cNvPr id="11" name="Rounded Rectangle 10"/>
          <p:cNvSpPr/>
          <p:nvPr/>
        </p:nvSpPr>
        <p:spPr>
          <a:xfrm>
            <a:off x="6217920" y="1810512"/>
            <a:ext cx="5285232" cy="3630168"/>
          </a:xfrm>
          <a:prstGeom prst="roundRect">
            <a:avLst>
              <a:gd name="adj" fmla="val 8000"/>
            </a:avLst>
          </a:prstGeom>
          <a:solidFill>
            <a:srgbClr val="F6F1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437376" y="1993392"/>
            <a:ext cx="4846320"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AREA IS NOT TOTAL CAPITAL COST</a:t>
            </a:r>
          </a:p>
        </p:txBody>
      </p:sp>
      <p:sp>
        <p:nvSpPr>
          <p:cNvPr id="13" name="TextBox 12"/>
          <p:cNvSpPr txBox="1"/>
          <p:nvPr/>
        </p:nvSpPr>
        <p:spPr>
          <a:xfrm>
            <a:off x="6437376" y="2660904"/>
            <a:ext cx="4846320" cy="263347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Half the active area does not imply half the plant investment. Equipment and infrastructure scale differently.</a:t>
            </a:r>
          </a:p>
        </p:txBody>
      </p:sp>
      <p:sp>
        <p:nvSpPr>
          <p:cNvPr id="14" name="Rounded Rectangle 13"/>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State the system boundary before comparing energy demand or cost.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A recycle loop changes overall conversion</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43</a:t>
            </a:r>
          </a:p>
        </p:txBody>
      </p:sp>
      <p:sp>
        <p:nvSpPr>
          <p:cNvPr id="8" name="Rounded Rectangle 7"/>
          <p:cNvSpPr/>
          <p:nvPr/>
        </p:nvSpPr>
        <p:spPr>
          <a:xfrm>
            <a:off x="713232" y="2084831"/>
            <a:ext cx="1847088" cy="658368"/>
          </a:xfrm>
          <a:prstGeom prst="roundRect">
            <a:avLst>
              <a:gd name="adj" fmla="val 8000"/>
            </a:avLst>
          </a:prstGeom>
          <a:solidFill>
            <a:srgbClr val="F6F1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822960" y="2139696"/>
            <a:ext cx="1627632" cy="548640"/>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2000" b="1">
                <a:solidFill>
                  <a:srgbClr val="173042"/>
                </a:solidFill>
                <a:latin typeface="Arial"/>
              </a:rPr>
              <a:t>Fresh CO₂</a:t>
            </a:r>
          </a:p>
        </p:txBody>
      </p:sp>
      <p:sp>
        <p:nvSpPr>
          <p:cNvPr id="10" name="Rounded Rectangle 9"/>
          <p:cNvSpPr/>
          <p:nvPr/>
        </p:nvSpPr>
        <p:spPr>
          <a:xfrm>
            <a:off x="4379976" y="2011680"/>
            <a:ext cx="1883664" cy="80467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4489704" y="2066544"/>
            <a:ext cx="1664208" cy="694944"/>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2100" b="1">
                <a:solidFill>
                  <a:srgbClr val="173042"/>
                </a:solidFill>
                <a:latin typeface="Arial"/>
              </a:rPr>
              <a:t>Reactor</a:t>
            </a:r>
          </a:p>
        </p:txBody>
      </p:sp>
      <p:sp>
        <p:nvSpPr>
          <p:cNvPr id="12" name="Rounded Rectangle 11"/>
          <p:cNvSpPr/>
          <p:nvPr/>
        </p:nvSpPr>
        <p:spPr>
          <a:xfrm>
            <a:off x="7872983" y="1929384"/>
            <a:ext cx="2624328" cy="960120"/>
          </a:xfrm>
          <a:prstGeom prst="roundRect">
            <a:avLst>
              <a:gd name="adj" fmla="val 8000"/>
            </a:avLst>
          </a:prstGeom>
          <a:solidFill>
            <a:srgbClr val="EAF0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7982711" y="1984248"/>
            <a:ext cx="2404872" cy="850392"/>
          </a:xfrm>
          <a:prstGeom prst="rect">
            <a:avLst/>
          </a:prstGeom>
          <a:noFill/>
          <a:effectLst/>
        </p:spPr>
        <p:txBody>
          <a:bodyPr wrap="square" lIns="0" tIns="0" rIns="0" bIns="0" anchor="ctr">
            <a:noAutofit/>
          </a:bodyPr>
          <a:lstStyle/>
          <a:p>
            <a:pPr algn="ctr">
              <a:lnSpc>
                <a:spcPct val="113000"/>
              </a:lnSpc>
              <a:spcBef>
                <a:spcPts val="0"/>
              </a:spcBef>
              <a:spcAft>
                <a:spcPts val="400"/>
              </a:spcAft>
            </a:pPr>
            <a:r>
              <a:rPr lang="en-GB" sz="2000" b="1">
                <a:solidFill>
                  <a:srgbClr val="173042"/>
                </a:solidFill>
                <a:latin typeface="Arial"/>
              </a:rPr>
              <a:t>Ideal product</a:t>
            </a:r>
          </a:p>
          <a:p>
            <a:pPr algn="ctr">
              <a:lnSpc>
                <a:spcPct val="113000"/>
              </a:lnSpc>
              <a:spcBef>
                <a:spcPts val="0"/>
              </a:spcBef>
              <a:spcAft>
                <a:spcPts val="0"/>
              </a:spcAft>
            </a:pPr>
            <a:r>
              <a:rPr lang="en-GB" sz="2000" b="1">
                <a:solidFill>
                  <a:srgbClr val="173042"/>
                </a:solidFill>
                <a:latin typeface="Arial"/>
              </a:rPr>
              <a:t>separation</a:t>
            </a:r>
          </a:p>
        </p:txBody>
      </p:sp>
      <p:cxnSp>
        <p:nvCxnSpPr>
          <p:cNvPr id="14" name="Connector 13"/>
          <p:cNvCxnSpPr/>
          <p:nvPr/>
        </p:nvCxnSpPr>
        <p:spPr>
          <a:xfrm>
            <a:off x="2596896" y="2404872"/>
            <a:ext cx="1682496"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6318504" y="2404872"/>
            <a:ext cx="1444752"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9153144" y="2944368"/>
            <a:ext cx="0" cy="960119"/>
          </a:xfrm>
          <a:prstGeom prst="line">
            <a:avLst/>
          </a:prstGeom>
          <a:ln w="15240">
            <a:solidFill>
              <a:srgbClr val="24777A"/>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H="1">
            <a:off x="3282696" y="3904487"/>
            <a:ext cx="5870448" cy="0"/>
          </a:xfrm>
          <a:prstGeom prst="line">
            <a:avLst/>
          </a:prstGeom>
          <a:ln w="15240">
            <a:solidFill>
              <a:srgbClr val="24777A"/>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3282696" y="2423160"/>
            <a:ext cx="0" cy="1481327"/>
          </a:xfrm>
          <a:prstGeom prst="line">
            <a:avLst/>
          </a:prstGeom>
          <a:ln w="15240">
            <a:solidFill>
              <a:srgbClr val="24777A"/>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3300984" y="2404872"/>
            <a:ext cx="969264"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9180576" y="3913632"/>
            <a:ext cx="1737360" cy="0"/>
          </a:xfrm>
          <a:prstGeom prst="line">
            <a:avLst/>
          </a:prstGeom>
          <a:ln w="15240">
            <a:solidFill>
              <a:srgbClr val="A66835"/>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9308592" y="4361688"/>
            <a:ext cx="2368296" cy="585216"/>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900" b="0">
                <a:solidFill>
                  <a:srgbClr val="A66835"/>
                </a:solidFill>
                <a:latin typeface="Arial"/>
              </a:rPr>
              <a:t>Purge fraction φ</a:t>
            </a:r>
          </a:p>
        </p:txBody>
      </p:sp>
      <p:sp>
        <p:nvSpPr>
          <p:cNvPr id="22" name="TextBox 21"/>
          <p:cNvSpPr txBox="1"/>
          <p:nvPr/>
        </p:nvSpPr>
        <p:spPr>
          <a:xfrm>
            <a:off x="3977639" y="4169663"/>
            <a:ext cx="4599432" cy="4572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300" b="1">
                <a:solidFill>
                  <a:srgbClr val="24777A"/>
                </a:solidFill>
                <a:latin typeface="Arial"/>
              </a:rPr>
              <a:t>Recycle the unreacted CO₂</a:t>
            </a:r>
          </a:p>
        </p:txBody>
      </p:sp>
      <p:sp>
        <p:nvSpPr>
          <p:cNvPr id="23" name="TextBox 22"/>
          <p:cNvSpPr txBox="1"/>
          <p:nvPr/>
        </p:nvSpPr>
        <p:spPr>
          <a:xfrm>
            <a:off x="832104" y="5349240"/>
            <a:ext cx="10625328" cy="73152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0">
                <a:solidFill>
                  <a:srgbClr val="173042"/>
                </a:solidFill>
                <a:latin typeface="Arial"/>
              </a:rPr>
              <a:t>Assume: fixed single-pass conversion X, no side reactions and complete removal of products.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Derive the idealised carbon balance step by step</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44</a:t>
            </a:r>
          </a:p>
        </p:txBody>
      </p:sp>
      <p:sp>
        <p:nvSpPr>
          <p:cNvPr id="8" name="Rounded Rectangle 7"/>
          <p:cNvSpPr/>
          <p:nvPr/>
        </p:nvSpPr>
        <p:spPr>
          <a:xfrm>
            <a:off x="713232" y="1645920"/>
            <a:ext cx="10762488" cy="1234440"/>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914400" y="1755648"/>
            <a:ext cx="10360152"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1  FRESH FEED PLUS RECYCLED UNREACTED CO₂</a:t>
            </a:r>
          </a:p>
        </p:txBody>
      </p:sp>
      <mc:AlternateContent xmlns:mc="http://schemas.openxmlformats.org/markup-compatibility/2006">
        <mc:Choice xmlns:a14="http://schemas.microsoft.com/office/drawing/2010/main" Requires="a14">
          <p:sp>
            <p:nvSpPr>
              <p:cNvPr id="10" name="Equation 053" descr="F_{\mathrm{in}}=F_0+(1-\phi)(1-X)F_{\mathrm{in}}"/>
              <p:cNvSpPr txBox="1"/>
              <p:nvPr/>
            </p:nvSpPr>
            <p:spPr>
              <a:xfrm>
                <a:off x="3591351" y="2230882"/>
                <a:ext cx="5006249" cy="393700"/>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sSub>
                        <m:sSubPr>
                          <m:ctrlPr>
                            <a:rPr lang="en-GB" sz="3100">
                              <a:latin typeface="Cambria Math" panose="02040503050406030204" pitchFamily="18" charset="0"/>
                            </a:rPr>
                          </m:ctrlPr>
                        </m:sSubPr>
                        <m:e>
                          <m:r>
                            <a:rPr lang="en-GB" sz="3100">
                              <a:latin typeface="Cambria Math"/>
                            </a:rPr>
                            <m:t>𝐹</m:t>
                          </m:r>
                        </m:e>
                        <m:sub>
                          <m:r>
                            <m:rPr>
                              <m:sty m:val="p"/>
                            </m:rPr>
                            <a:rPr lang="en-GB" sz="3100" i="0">
                              <a:latin typeface="Cambria Math"/>
                            </a:rPr>
                            <m:t>in</m:t>
                          </m:r>
                        </m:sub>
                      </m:sSub>
                      <m:r>
                        <a:rPr lang="en-GB" sz="3100" i="0">
                          <a:latin typeface="Cambria Math"/>
                        </a:rPr>
                        <m:t>=</m:t>
                      </m:r>
                      <m:sSub>
                        <m:sSubPr>
                          <m:ctrlPr>
                            <a:rPr lang="en-GB" sz="3100" i="1">
                              <a:latin typeface="Cambria Math" panose="02040503050406030204" pitchFamily="18" charset="0"/>
                            </a:rPr>
                          </m:ctrlPr>
                        </m:sSubPr>
                        <m:e>
                          <m:r>
                            <a:rPr lang="en-GB" sz="3100">
                              <a:latin typeface="Cambria Math"/>
                            </a:rPr>
                            <m:t>𝐹</m:t>
                          </m:r>
                        </m:e>
                        <m:sub>
                          <m:r>
                            <a:rPr lang="en-GB" sz="3100">
                              <a:latin typeface="Cambria Math"/>
                            </a:rPr>
                            <m:t>0</m:t>
                          </m:r>
                        </m:sub>
                      </m:sSub>
                      <m:r>
                        <a:rPr lang="en-GB" sz="3100" i="0">
                          <a:latin typeface="Cambria Math"/>
                        </a:rPr>
                        <m:t>+</m:t>
                      </m:r>
                      <m:d>
                        <m:dPr>
                          <m:ctrlPr>
                            <a:rPr lang="en-GB" sz="3100" i="1">
                              <a:latin typeface="Cambria Math" panose="02040503050406030204" pitchFamily="18" charset="0"/>
                            </a:rPr>
                          </m:ctrlPr>
                        </m:dPr>
                        <m:e>
                          <m:r>
                            <a:rPr lang="en-GB" sz="3100">
                              <a:latin typeface="Cambria Math"/>
                            </a:rPr>
                            <m:t>1</m:t>
                          </m:r>
                          <m:r>
                            <a:rPr lang="en-GB" sz="3100" i="0">
                              <a:latin typeface="Cambria Math"/>
                            </a:rPr>
                            <m:t>−</m:t>
                          </m:r>
                          <m:r>
                            <a:rPr lang="en-GB" sz="3100">
                              <a:latin typeface="Cambria Math"/>
                            </a:rPr>
                            <m:t>𝜙</m:t>
                          </m:r>
                        </m:e>
                      </m:d>
                      <m:d>
                        <m:dPr>
                          <m:ctrlPr>
                            <a:rPr lang="en-GB" sz="3100" i="1">
                              <a:latin typeface="Cambria Math" panose="02040503050406030204" pitchFamily="18" charset="0"/>
                            </a:rPr>
                          </m:ctrlPr>
                        </m:dPr>
                        <m:e>
                          <m:r>
                            <a:rPr lang="en-GB" sz="3100">
                              <a:latin typeface="Cambria Math"/>
                            </a:rPr>
                            <m:t>1</m:t>
                          </m:r>
                          <m:r>
                            <a:rPr lang="en-GB" sz="3100" i="0">
                              <a:latin typeface="Cambria Math"/>
                            </a:rPr>
                            <m:t>−</m:t>
                          </m:r>
                          <m:r>
                            <a:rPr lang="en-GB" sz="3100">
                              <a:latin typeface="Cambria Math"/>
                            </a:rPr>
                            <m:t>𝑋</m:t>
                          </m:r>
                        </m:e>
                      </m:d>
                      <m:sSub>
                        <m:sSubPr>
                          <m:ctrlPr>
                            <a:rPr lang="en-GB" sz="3100" i="1">
                              <a:latin typeface="Cambria Math" panose="02040503050406030204" pitchFamily="18" charset="0"/>
                            </a:rPr>
                          </m:ctrlPr>
                        </m:sSubPr>
                        <m:e>
                          <m:r>
                            <a:rPr lang="en-GB" sz="3100">
                              <a:latin typeface="Cambria Math"/>
                            </a:rPr>
                            <m:t>𝐹</m:t>
                          </m:r>
                        </m:e>
                        <m:sub>
                          <m:r>
                            <m:rPr>
                              <m:sty m:val="p"/>
                            </m:rPr>
                            <a:rPr lang="en-GB" sz="3100" i="0">
                              <a:latin typeface="Cambria Math"/>
                            </a:rPr>
                            <m:t>in</m:t>
                          </m:r>
                        </m:sub>
                      </m:sSub>
                    </m:oMath>
                  </m:oMathPara>
                </a14:m>
                <a:endParaRPr/>
              </a:p>
            </p:txBody>
          </p:sp>
        </mc:Choice>
        <mc:Fallback>
          <p:sp>
            <p:nvSpPr>
              <p:cNvPr id="10" name="Equation 053" descr="F_{\mathrm{in}}=F_0+(1-\phi)(1-X)F_{\mathrm{in}}"/>
              <p:cNvSpPr txBox="1">
                <a:spLocks noRot="1" noChangeAspect="1" noMove="1" noResize="1" noEditPoints="1" noAdjustHandles="1" noChangeArrowheads="1" noChangeShapeType="1" noTextEdit="1"/>
              </p:cNvSpPr>
              <p:nvPr/>
            </p:nvSpPr>
            <p:spPr>
              <a:xfrm>
                <a:off x="3591351" y="2230882"/>
                <a:ext cx="5006249" cy="393700"/>
              </a:xfrm>
              <a:prstGeom prst="rect">
                <a:avLst/>
              </a:prstGeom>
              <a:blipFill>
                <a:blip r:embed="rId3"/>
                <a:stretch>
                  <a:fillRect l="-2532" t="-6250" b="-50000"/>
                </a:stretch>
              </a:blipFill>
              <a:effectLst/>
            </p:spPr>
            <p:txBody>
              <a:bodyPr/>
              <a:lstStyle/>
              <a:p>
                <a:r>
                  <a:rPr lang="zh-CN" altLang="en-US">
                    <a:noFill/>
                  </a:rPr>
                  <a:t> </a:t>
                </a:r>
              </a:p>
            </p:txBody>
          </p:sp>
        </mc:Fallback>
      </mc:AlternateContent>
      <p:sp>
        <p:nvSpPr>
          <p:cNvPr id="11" name="Rounded Rectangle 10"/>
          <p:cNvSpPr/>
          <p:nvPr/>
        </p:nvSpPr>
        <p:spPr>
          <a:xfrm>
            <a:off x="713232" y="3054096"/>
            <a:ext cx="10762488" cy="136245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14400" y="3163824"/>
            <a:ext cx="10360152"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2  REARRANGE THE INLET BALANCE</a:t>
            </a:r>
          </a:p>
        </p:txBody>
      </p:sp>
      <mc:AlternateContent xmlns:mc="http://schemas.openxmlformats.org/markup-compatibility/2006">
        <mc:Choice xmlns:a14="http://schemas.microsoft.com/office/drawing/2010/main" Requires="a14">
          <p:sp>
            <p:nvSpPr>
              <p:cNvPr id="13" name="Equation 054" descr="\frac{F_{\mathrm{in}}}{F_0}=\frac{1}{X+\phi(1-X)}"/>
              <p:cNvSpPr txBox="1"/>
              <p:nvPr/>
            </p:nvSpPr>
            <p:spPr>
              <a:xfrm>
                <a:off x="4416208" y="3493008"/>
                <a:ext cx="3356534" cy="813816"/>
              </a:xfrm>
              <a:prstGeom prst="rect">
                <a:avLst/>
              </a:prstGeom>
              <a:noFill/>
              <a:effectLst/>
            </p:spPr>
            <p:txBody>
              <a:bodyPr wrap="none" lIns="0" tIns="0" rIns="0" bIns="0" anchor="ctr">
                <a:noAutofit/>
              </a:bodyPr>
              <a:lstStyle/>
              <a:p>
                <a:pPr algn="ctr">
                  <a:spcBef>
                    <a:spcPts val="0"/>
                  </a:spcBef>
                  <a:spcAft>
                    <a:spcPts val="0"/>
                  </a:spcAft>
                  <a:defRPr sz="2766">
                    <a:latin typeface="Cambria Math"/>
                  </a:defRPr>
                </a:pPr>
                <a14:m>
                  <m:oMathPara xmlns:m="http://schemas.openxmlformats.org/officeDocument/2006/math">
                    <m:oMathParaPr>
                      <m:jc m:val="center"/>
                    </m:oMathParaPr>
                    <m:oMath xmlns:m="http://schemas.openxmlformats.org/officeDocument/2006/math">
                      <m:f>
                        <m:fPr>
                          <m:ctrlPr>
                            <a:rPr lang="en-GB" sz="2767">
                              <a:latin typeface="Cambria Math" panose="02040503050406030204" pitchFamily="18" charset="0"/>
                            </a:rPr>
                          </m:ctrlPr>
                        </m:fPr>
                        <m:num>
                          <m:sSub>
                            <m:sSubPr>
                              <m:ctrlPr>
                                <a:rPr lang="en-GB" sz="2767">
                                  <a:latin typeface="Cambria Math" panose="02040503050406030204" pitchFamily="18" charset="0"/>
                                </a:rPr>
                              </m:ctrlPr>
                            </m:sSubPr>
                            <m:e>
                              <m:r>
                                <a:rPr lang="en-GB" sz="2767">
                                  <a:latin typeface="Cambria Math"/>
                                </a:rPr>
                                <m:t>𝐹</m:t>
                              </m:r>
                            </m:e>
                            <m:sub>
                              <m:r>
                                <m:rPr>
                                  <m:sty m:val="p"/>
                                </m:rPr>
                                <a:rPr lang="en-GB" sz="2767" i="0">
                                  <a:latin typeface="Cambria Math"/>
                                </a:rPr>
                                <m:t>in</m:t>
                              </m:r>
                            </m:sub>
                          </m:sSub>
                        </m:num>
                        <m:den>
                          <m:sSub>
                            <m:sSubPr>
                              <m:ctrlPr>
                                <a:rPr lang="en-GB" sz="2767" i="1">
                                  <a:latin typeface="Cambria Math" panose="02040503050406030204" pitchFamily="18" charset="0"/>
                                </a:rPr>
                              </m:ctrlPr>
                            </m:sSubPr>
                            <m:e>
                              <m:r>
                                <a:rPr lang="en-GB" sz="2767">
                                  <a:latin typeface="Cambria Math"/>
                                </a:rPr>
                                <m:t>𝐹</m:t>
                              </m:r>
                            </m:e>
                            <m:sub>
                              <m:r>
                                <a:rPr lang="en-GB" sz="2767">
                                  <a:latin typeface="Cambria Math"/>
                                </a:rPr>
                                <m:t>0</m:t>
                              </m:r>
                            </m:sub>
                          </m:sSub>
                        </m:den>
                      </m:f>
                      <m:r>
                        <a:rPr lang="en-GB" sz="2767" i="0">
                          <a:latin typeface="Cambria Math"/>
                        </a:rPr>
                        <m:t>=</m:t>
                      </m:r>
                      <m:f>
                        <m:fPr>
                          <m:ctrlPr>
                            <a:rPr lang="en-GB" sz="2767" i="1">
                              <a:latin typeface="Cambria Math" panose="02040503050406030204" pitchFamily="18" charset="0"/>
                            </a:rPr>
                          </m:ctrlPr>
                        </m:fPr>
                        <m:num>
                          <m:r>
                            <a:rPr lang="en-GB" sz="2767">
                              <a:latin typeface="Cambria Math"/>
                            </a:rPr>
                            <m:t>1</m:t>
                          </m:r>
                        </m:num>
                        <m:den>
                          <m:r>
                            <a:rPr lang="en-GB" sz="2767">
                              <a:latin typeface="Cambria Math"/>
                            </a:rPr>
                            <m:t>𝑋</m:t>
                          </m:r>
                          <m:r>
                            <a:rPr lang="en-GB" sz="2767" i="0">
                              <a:latin typeface="Cambria Math"/>
                            </a:rPr>
                            <m:t>+</m:t>
                          </m:r>
                          <m:r>
                            <a:rPr lang="en-GB" sz="2767">
                              <a:latin typeface="Cambria Math"/>
                            </a:rPr>
                            <m:t>𝜙</m:t>
                          </m:r>
                          <m:d>
                            <m:dPr>
                              <m:ctrlPr>
                                <a:rPr lang="en-GB" sz="2767" i="1">
                                  <a:latin typeface="Cambria Math" panose="02040503050406030204" pitchFamily="18" charset="0"/>
                                </a:rPr>
                              </m:ctrlPr>
                            </m:dPr>
                            <m:e>
                              <m:r>
                                <a:rPr lang="en-GB" sz="2767">
                                  <a:latin typeface="Cambria Math"/>
                                </a:rPr>
                                <m:t>1</m:t>
                              </m:r>
                              <m:r>
                                <a:rPr lang="en-GB" sz="2767" i="0">
                                  <a:latin typeface="Cambria Math"/>
                                </a:rPr>
                                <m:t>−</m:t>
                              </m:r>
                              <m:r>
                                <a:rPr lang="en-GB" sz="2767">
                                  <a:latin typeface="Cambria Math"/>
                                </a:rPr>
                                <m:t>𝑋</m:t>
                              </m:r>
                            </m:e>
                          </m:d>
                        </m:den>
                      </m:f>
                    </m:oMath>
                  </m:oMathPara>
                </a14:m>
                <a:endParaRPr/>
              </a:p>
            </p:txBody>
          </p:sp>
        </mc:Choice>
        <mc:Fallback>
          <p:sp>
            <p:nvSpPr>
              <p:cNvPr id="13" name="Equation 054" descr="\frac{F_{\mathrm{in}}}{F_0}=\frac{1}{X+\phi(1-X)}"/>
              <p:cNvSpPr txBox="1">
                <a:spLocks noRot="1" noChangeAspect="1" noMove="1" noResize="1" noEditPoints="1" noAdjustHandles="1" noChangeArrowheads="1" noChangeShapeType="1" noTextEdit="1"/>
              </p:cNvSpPr>
              <p:nvPr/>
            </p:nvSpPr>
            <p:spPr>
              <a:xfrm>
                <a:off x="4416208" y="3493008"/>
                <a:ext cx="3356534" cy="813816"/>
              </a:xfrm>
              <a:prstGeom prst="rect">
                <a:avLst/>
              </a:prstGeom>
              <a:blipFill>
                <a:blip r:embed="rId4"/>
                <a:stretch>
                  <a:fillRect t="-4615" b="-20000"/>
                </a:stretch>
              </a:blipFill>
              <a:effectLst/>
            </p:spPr>
            <p:txBody>
              <a:bodyPr/>
              <a:lstStyle/>
              <a:p>
                <a:r>
                  <a:rPr lang="zh-CN" altLang="en-US">
                    <a:noFill/>
                  </a:rPr>
                  <a:t> </a:t>
                </a:r>
              </a:p>
            </p:txBody>
          </p:sp>
        </mc:Fallback>
      </mc:AlternateContent>
      <p:sp>
        <p:nvSpPr>
          <p:cNvPr id="14" name="Rounded Rectangle 13"/>
          <p:cNvSpPr/>
          <p:nvPr/>
        </p:nvSpPr>
        <p:spPr>
          <a:xfrm>
            <a:off x="713232" y="4590288"/>
            <a:ext cx="10762488" cy="1490472"/>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914400" y="4700016"/>
            <a:ext cx="10360152"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3  CONVERTED CARBON RELATIVE TO FRESH CARBON</a:t>
            </a:r>
          </a:p>
        </p:txBody>
      </p:sp>
      <mc:AlternateContent xmlns:mc="http://schemas.openxmlformats.org/markup-compatibility/2006">
        <mc:Choice xmlns:a14="http://schemas.microsoft.com/office/drawing/2010/main" Requires="a14">
          <p:sp>
            <p:nvSpPr>
              <p:cNvPr id="16" name="Equation 055" descr="X_{\mathrm{overall}}=\frac{XF_{\mathrm{in}}}{F_0}=\frac{X}{X+\phi(1-X)}"/>
              <p:cNvSpPr txBox="1"/>
              <p:nvPr/>
            </p:nvSpPr>
            <p:spPr>
              <a:xfrm>
                <a:off x="3198123" y="5043620"/>
                <a:ext cx="5792704" cy="912990"/>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sSub>
                        <m:sSubPr>
                          <m:ctrlPr>
                            <a:rPr lang="en-GB" sz="3100">
                              <a:latin typeface="Cambria Math" panose="02040503050406030204" pitchFamily="18" charset="0"/>
                            </a:rPr>
                          </m:ctrlPr>
                        </m:sSubPr>
                        <m:e>
                          <m:r>
                            <a:rPr lang="en-GB" sz="3100">
                              <a:latin typeface="Cambria Math"/>
                            </a:rPr>
                            <m:t>𝑋</m:t>
                          </m:r>
                        </m:e>
                        <m:sub>
                          <m:r>
                            <m:rPr>
                              <m:sty m:val="p"/>
                            </m:rPr>
                            <a:rPr lang="en-GB" sz="3100" i="0">
                              <a:latin typeface="Cambria Math"/>
                            </a:rPr>
                            <m:t>overall</m:t>
                          </m:r>
                        </m:sub>
                      </m:sSub>
                      <m:r>
                        <a:rPr lang="en-GB" sz="3100" i="0">
                          <a:latin typeface="Cambria Math"/>
                        </a:rPr>
                        <m:t>=</m:t>
                      </m:r>
                      <m:f>
                        <m:fPr>
                          <m:ctrlPr>
                            <a:rPr lang="en-GB" sz="3100" i="1">
                              <a:latin typeface="Cambria Math" panose="02040503050406030204" pitchFamily="18" charset="0"/>
                            </a:rPr>
                          </m:ctrlPr>
                        </m:fPr>
                        <m:num>
                          <m:r>
                            <a:rPr lang="en-GB" sz="3100">
                              <a:latin typeface="Cambria Math"/>
                            </a:rPr>
                            <m:t>𝑋</m:t>
                          </m:r>
                          <m:sSub>
                            <m:sSubPr>
                              <m:ctrlPr>
                                <a:rPr lang="en-GB" sz="3100" i="1">
                                  <a:latin typeface="Cambria Math" panose="02040503050406030204" pitchFamily="18" charset="0"/>
                                </a:rPr>
                              </m:ctrlPr>
                            </m:sSubPr>
                            <m:e>
                              <m:r>
                                <a:rPr lang="en-GB" sz="3100">
                                  <a:latin typeface="Cambria Math"/>
                                </a:rPr>
                                <m:t>𝐹</m:t>
                              </m:r>
                            </m:e>
                            <m:sub>
                              <m:r>
                                <m:rPr>
                                  <m:sty m:val="p"/>
                                </m:rPr>
                                <a:rPr lang="en-GB" sz="3100" i="0">
                                  <a:latin typeface="Cambria Math"/>
                                </a:rPr>
                                <m:t>in</m:t>
                              </m:r>
                            </m:sub>
                          </m:sSub>
                        </m:num>
                        <m:den>
                          <m:sSub>
                            <m:sSubPr>
                              <m:ctrlPr>
                                <a:rPr lang="en-GB" sz="3100" i="1">
                                  <a:latin typeface="Cambria Math" panose="02040503050406030204" pitchFamily="18" charset="0"/>
                                </a:rPr>
                              </m:ctrlPr>
                            </m:sSubPr>
                            <m:e>
                              <m:r>
                                <a:rPr lang="en-GB" sz="3100">
                                  <a:latin typeface="Cambria Math"/>
                                </a:rPr>
                                <m:t>𝐹</m:t>
                              </m:r>
                            </m:e>
                            <m:sub>
                              <m:r>
                                <a:rPr lang="en-GB" sz="3100">
                                  <a:latin typeface="Cambria Math"/>
                                </a:rPr>
                                <m:t>0</m:t>
                              </m:r>
                            </m:sub>
                          </m:sSub>
                        </m:den>
                      </m:f>
                      <m:r>
                        <a:rPr lang="en-GB" sz="3100" i="0">
                          <a:latin typeface="Cambria Math"/>
                        </a:rPr>
                        <m:t>=</m:t>
                      </m:r>
                      <m:f>
                        <m:fPr>
                          <m:ctrlPr>
                            <a:rPr lang="en-GB" sz="3100" i="1">
                              <a:latin typeface="Cambria Math" panose="02040503050406030204" pitchFamily="18" charset="0"/>
                            </a:rPr>
                          </m:ctrlPr>
                        </m:fPr>
                        <m:num>
                          <m:r>
                            <a:rPr lang="en-GB" sz="3100">
                              <a:latin typeface="Cambria Math"/>
                            </a:rPr>
                            <m:t>𝑋</m:t>
                          </m:r>
                        </m:num>
                        <m:den>
                          <m:r>
                            <a:rPr lang="en-GB" sz="3100">
                              <a:latin typeface="Cambria Math"/>
                            </a:rPr>
                            <m:t>𝑋</m:t>
                          </m:r>
                          <m:r>
                            <a:rPr lang="en-GB" sz="3100" i="0">
                              <a:latin typeface="Cambria Math"/>
                            </a:rPr>
                            <m:t>+</m:t>
                          </m:r>
                          <m:r>
                            <a:rPr lang="en-GB" sz="3100">
                              <a:latin typeface="Cambria Math"/>
                            </a:rPr>
                            <m:t>𝜙</m:t>
                          </m:r>
                          <m:d>
                            <m:dPr>
                              <m:ctrlPr>
                                <a:rPr lang="en-GB" sz="3100" i="1">
                                  <a:latin typeface="Cambria Math" panose="02040503050406030204" pitchFamily="18" charset="0"/>
                                </a:rPr>
                              </m:ctrlPr>
                            </m:dPr>
                            <m:e>
                              <m:r>
                                <a:rPr lang="en-GB" sz="3100">
                                  <a:latin typeface="Cambria Math"/>
                                </a:rPr>
                                <m:t>1</m:t>
                              </m:r>
                              <m:r>
                                <a:rPr lang="en-GB" sz="3100" i="0">
                                  <a:latin typeface="Cambria Math"/>
                                </a:rPr>
                                <m:t>−</m:t>
                              </m:r>
                              <m:r>
                                <a:rPr lang="en-GB" sz="3100">
                                  <a:latin typeface="Cambria Math"/>
                                </a:rPr>
                                <m:t>𝑋</m:t>
                              </m:r>
                            </m:e>
                          </m:d>
                        </m:den>
                      </m:f>
                    </m:oMath>
                  </m:oMathPara>
                </a14:m>
                <a:endParaRPr/>
              </a:p>
            </p:txBody>
          </p:sp>
        </mc:Choice>
        <mc:Fallback>
          <p:sp>
            <p:nvSpPr>
              <p:cNvPr id="16" name="Equation 055" descr="X_{\mathrm{overall}}=\frac{XF_{\mathrm{in}}}{F_0}=\frac{X}{X+\phi(1-X)}"/>
              <p:cNvSpPr txBox="1">
                <a:spLocks noRot="1" noChangeAspect="1" noMove="1" noResize="1" noEditPoints="1" noAdjustHandles="1" noChangeArrowheads="1" noChangeShapeType="1" noTextEdit="1"/>
              </p:cNvSpPr>
              <p:nvPr/>
            </p:nvSpPr>
            <p:spPr>
              <a:xfrm>
                <a:off x="3198123" y="5043620"/>
                <a:ext cx="5792704" cy="912990"/>
              </a:xfrm>
              <a:prstGeom prst="rect">
                <a:avLst/>
              </a:prstGeom>
              <a:blipFill>
                <a:blip r:embed="rId5"/>
                <a:stretch>
                  <a:fillRect t="-1370" b="-24658"/>
                </a:stretch>
              </a:blipFill>
              <a:effectLst/>
            </p:spPr>
            <p:txBody>
              <a:bodyPr/>
              <a:lstStyle/>
              <a:p>
                <a:r>
                  <a:rPr lang="zh-CN"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2644" b="1">
                <a:solidFill>
                  <a:srgbClr val="173042"/>
                </a:solidFill>
                <a:latin typeface="Arial"/>
              </a:rPr>
              <a:t>Low single-pass conversion can still mean high overall conversion</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45</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Idealised fixed-conversion recycle calculation; not a complete methanol-plant prediction.</a:t>
            </a:r>
          </a:p>
        </p:txBody>
      </p:sp>
      <p:pic>
        <p:nvPicPr>
          <p:cNvPr id="9" name="recycle_relation.png" descr="recycle_relation.png"/>
          <p:cNvPicPr>
            <a:picLocks noChangeAspect="1"/>
          </p:cNvPicPr>
          <p:nvPr/>
        </p:nvPicPr>
        <p:blipFill>
          <a:blip r:embed="rId3"/>
          <a:stretch>
            <a:fillRect/>
          </a:stretch>
        </p:blipFill>
        <p:spPr>
          <a:xfrm>
            <a:off x="824922" y="1828800"/>
            <a:ext cx="5939675" cy="3995928"/>
          </a:xfrm>
          <a:prstGeom prst="rect">
            <a:avLst/>
          </a:prstGeom>
          <a:effectLst/>
        </p:spPr>
      </p:pic>
      <p:sp>
        <p:nvSpPr>
          <p:cNvPr id="10" name="Rounded Rectangle 9"/>
          <p:cNvSpPr/>
          <p:nvPr/>
        </p:nvSpPr>
        <p:spPr>
          <a:xfrm>
            <a:off x="7104888" y="1920240"/>
            <a:ext cx="4306824" cy="93268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1" name="Equation 056" descr="X=0.20,\qquad\phi=0.02"/>
              <p:cNvSpPr txBox="1"/>
              <p:nvPr/>
            </p:nvSpPr>
            <p:spPr>
              <a:xfrm>
                <a:off x="7395475" y="2221033"/>
                <a:ext cx="3725649" cy="331101"/>
              </a:xfrm>
              <a:prstGeom prst="rect">
                <a:avLst/>
              </a:prstGeom>
              <a:noFill/>
              <a:effectLst/>
            </p:spPr>
            <p:txBody>
              <a:bodyPr wrap="none" lIns="0" tIns="0" rIns="0" bIns="0" anchor="ctr">
                <a:noAutofit/>
              </a:bodyPr>
              <a:lstStyle/>
              <a:p>
                <a:pPr algn="ctr">
                  <a:spcBef>
                    <a:spcPts val="0"/>
                  </a:spcBef>
                  <a:spcAft>
                    <a:spcPts val="0"/>
                  </a:spcAft>
                  <a:defRPr sz="2900">
                    <a:latin typeface="Cambria Math"/>
                  </a:defRPr>
                </a:pPr>
                <a14:m>
                  <m:oMathPara xmlns:m="http://schemas.openxmlformats.org/officeDocument/2006/math">
                    <m:oMathParaPr>
                      <m:jc m:val="center"/>
                    </m:oMathParaPr>
                    <m:oMath xmlns:m="http://schemas.openxmlformats.org/officeDocument/2006/math">
                      <m:r>
                        <a:rPr lang="en-GB" sz="2900">
                          <a:latin typeface="Cambria Math"/>
                        </a:rPr>
                        <m:t>𝑋</m:t>
                      </m:r>
                      <m:r>
                        <a:rPr lang="en-GB" sz="2900" i="0">
                          <a:latin typeface="Cambria Math"/>
                        </a:rPr>
                        <m:t>=</m:t>
                      </m:r>
                      <m:r>
                        <a:rPr lang="en-GB" sz="2900">
                          <a:latin typeface="Cambria Math"/>
                        </a:rPr>
                        <m:t>0.20</m:t>
                      </m:r>
                      <m:r>
                        <a:rPr lang="en-GB" sz="2900" i="0">
                          <a:latin typeface="Cambria Math"/>
                        </a:rPr>
                        <m:t>,</m:t>
                      </m:r>
                      <m:r>
                        <a:rPr lang="en-GB" sz="2900">
                          <a:latin typeface="Cambria Math"/>
                        </a:rPr>
                        <m:t>  </m:t>
                      </m:r>
                      <m:r>
                        <a:rPr lang="en-GB" sz="2900">
                          <a:latin typeface="Cambria Math"/>
                        </a:rPr>
                        <m:t>𝜙</m:t>
                      </m:r>
                      <m:r>
                        <a:rPr lang="en-GB" sz="2900" i="0">
                          <a:latin typeface="Cambria Math"/>
                        </a:rPr>
                        <m:t>=</m:t>
                      </m:r>
                      <m:r>
                        <a:rPr lang="en-GB" sz="2900">
                          <a:latin typeface="Cambria Math"/>
                        </a:rPr>
                        <m:t>0.02</m:t>
                      </m:r>
                    </m:oMath>
                  </m:oMathPara>
                </a14:m>
                <a:endParaRPr/>
              </a:p>
            </p:txBody>
          </p:sp>
        </mc:Choice>
        <mc:Fallback>
          <p:sp>
            <p:nvSpPr>
              <p:cNvPr id="11" name="Equation 056" descr="X=0.20,\qquad\phi=0.02"/>
              <p:cNvSpPr txBox="1">
                <a:spLocks noRot="1" noChangeAspect="1" noMove="1" noResize="1" noEditPoints="1" noAdjustHandles="1" noChangeArrowheads="1" noChangeShapeType="1" noTextEdit="1"/>
              </p:cNvSpPr>
              <p:nvPr/>
            </p:nvSpPr>
            <p:spPr>
              <a:xfrm>
                <a:off x="7395475" y="2221033"/>
                <a:ext cx="3725649" cy="331101"/>
              </a:xfrm>
              <a:prstGeom prst="rect">
                <a:avLst/>
              </a:prstGeom>
              <a:blipFill>
                <a:blip r:embed="rId4"/>
                <a:stretch>
                  <a:fillRect l="-4082" t="-25000" r="-2381" b="-60714"/>
                </a:stretch>
              </a:blipFill>
              <a:effectLst/>
            </p:spPr>
            <p:txBody>
              <a:bodyPr/>
              <a:lstStyle/>
              <a:p>
                <a:r>
                  <a:rPr lang="zh-CN" altLang="en-US">
                    <a:noFill/>
                  </a:rPr>
                  <a:t> </a:t>
                </a:r>
              </a:p>
            </p:txBody>
          </p:sp>
        </mc:Fallback>
      </mc:AlternateContent>
      <p:sp>
        <p:nvSpPr>
          <p:cNvPr id="12" name="TextBox 11"/>
          <p:cNvSpPr txBox="1"/>
          <p:nvPr/>
        </p:nvSpPr>
        <p:spPr>
          <a:xfrm>
            <a:off x="7296912" y="3172968"/>
            <a:ext cx="3657600" cy="66751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3700" b="1">
                <a:solidFill>
                  <a:srgbClr val="24777A"/>
                </a:solidFill>
                <a:latin typeface="Arial"/>
              </a:rPr>
              <a:t>92.6%</a:t>
            </a:r>
          </a:p>
        </p:txBody>
      </p:sp>
      <p:sp>
        <p:nvSpPr>
          <p:cNvPr id="13" name="TextBox 12"/>
          <p:cNvSpPr txBox="1"/>
          <p:nvPr/>
        </p:nvSpPr>
        <p:spPr>
          <a:xfrm>
            <a:off x="7296912" y="3831336"/>
            <a:ext cx="3950208" cy="47548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0">
                <a:solidFill>
                  <a:srgbClr val="173042"/>
                </a:solidFill>
                <a:latin typeface="Arial"/>
              </a:rPr>
              <a:t>overall CO₂ conversion</a:t>
            </a:r>
          </a:p>
        </p:txBody>
      </p:sp>
      <p:sp>
        <p:nvSpPr>
          <p:cNvPr id="14" name="TextBox 13"/>
          <p:cNvSpPr txBox="1"/>
          <p:nvPr/>
        </p:nvSpPr>
        <p:spPr>
          <a:xfrm>
            <a:off x="7296912" y="4663440"/>
            <a:ext cx="3657600" cy="66751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3500" b="1">
                <a:solidFill>
                  <a:srgbClr val="24777A"/>
                </a:solidFill>
                <a:latin typeface="Arial"/>
              </a:rPr>
              <a:t>4.63 ×</a:t>
            </a:r>
          </a:p>
        </p:txBody>
      </p:sp>
      <p:sp>
        <p:nvSpPr>
          <p:cNvPr id="15" name="TextBox 14"/>
          <p:cNvSpPr txBox="1"/>
          <p:nvPr/>
        </p:nvSpPr>
        <p:spPr>
          <a:xfrm>
            <a:off x="7296912" y="5303520"/>
            <a:ext cx="4041648" cy="57607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reactor-inlet / fresh CO₂ flow</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2858" b="1">
                <a:solidFill>
                  <a:srgbClr val="173042"/>
                </a:solidFill>
                <a:latin typeface="Arial"/>
              </a:rPr>
              <a:t>Replacing a unit model does not remove recycle convergence</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46</a:t>
            </a:r>
          </a:p>
        </p:txBody>
      </p:sp>
      <p:sp>
        <p:nvSpPr>
          <p:cNvPr id="8" name="Rounded Rectangle 7"/>
          <p:cNvSpPr/>
          <p:nvPr/>
        </p:nvSpPr>
        <p:spPr>
          <a:xfrm>
            <a:off x="685800" y="1947672"/>
            <a:ext cx="2258568" cy="75895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795528" y="2002536"/>
            <a:ext cx="2039112" cy="649224"/>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2100" b="1">
                <a:solidFill>
                  <a:srgbClr val="173042"/>
                </a:solidFill>
                <a:latin typeface="Arial"/>
              </a:rPr>
              <a:t>Inlet state</a:t>
            </a:r>
          </a:p>
        </p:txBody>
      </p:sp>
      <p:sp>
        <p:nvSpPr>
          <p:cNvPr id="10" name="Rounded Rectangle 9"/>
          <p:cNvSpPr/>
          <p:nvPr/>
        </p:nvSpPr>
        <p:spPr>
          <a:xfrm>
            <a:off x="3575304" y="1947672"/>
            <a:ext cx="2752344" cy="75895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3685032" y="2002536"/>
            <a:ext cx="2532887" cy="649224"/>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852" b="1">
                <a:solidFill>
                  <a:srgbClr val="173042"/>
                </a:solidFill>
                <a:latin typeface="Arial"/>
              </a:rPr>
              <a:t>Surrogate conversion</a:t>
            </a:r>
          </a:p>
        </p:txBody>
      </p:sp>
      <p:sp>
        <p:nvSpPr>
          <p:cNvPr id="12" name="Rounded Rectangle 11"/>
          <p:cNvSpPr/>
          <p:nvPr/>
        </p:nvSpPr>
        <p:spPr>
          <a:xfrm>
            <a:off x="6931152" y="1947672"/>
            <a:ext cx="3831336" cy="758952"/>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7040880" y="2002536"/>
            <a:ext cx="3611880" cy="649224"/>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900" b="1">
                <a:solidFill>
                  <a:srgbClr val="173042"/>
                </a:solidFill>
                <a:latin typeface="Arial"/>
              </a:rPr>
              <a:t>Balances and separation</a:t>
            </a:r>
          </a:p>
        </p:txBody>
      </p:sp>
      <p:cxnSp>
        <p:nvCxnSpPr>
          <p:cNvPr id="14" name="Connector 13"/>
          <p:cNvCxnSpPr/>
          <p:nvPr/>
        </p:nvCxnSpPr>
        <p:spPr>
          <a:xfrm>
            <a:off x="3008376" y="2331720"/>
            <a:ext cx="457200"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6391656" y="2331720"/>
            <a:ext cx="429768" cy="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6903720" y="3758184"/>
            <a:ext cx="3813048" cy="768096"/>
          </a:xfrm>
          <a:prstGeom prst="roundRect">
            <a:avLst>
              <a:gd name="adj" fmla="val 8000"/>
            </a:avLst>
          </a:prstGeom>
          <a:solidFill>
            <a:srgbClr val="EAF0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7013448" y="3813048"/>
            <a:ext cx="3593591" cy="65836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2100" b="1">
                <a:solidFill>
                  <a:srgbClr val="173042"/>
                </a:solidFill>
                <a:latin typeface="Arial"/>
              </a:rPr>
              <a:t>Updated recycle state</a:t>
            </a:r>
          </a:p>
        </p:txBody>
      </p:sp>
      <p:cxnSp>
        <p:nvCxnSpPr>
          <p:cNvPr id="18" name="Connector 17"/>
          <p:cNvCxnSpPr/>
          <p:nvPr/>
        </p:nvCxnSpPr>
        <p:spPr>
          <a:xfrm>
            <a:off x="8833104" y="2779776"/>
            <a:ext cx="0" cy="886968"/>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H="1">
            <a:off x="1819656" y="4151376"/>
            <a:ext cx="5001768" cy="0"/>
          </a:xfrm>
          <a:prstGeom prst="line">
            <a:avLst/>
          </a:prstGeom>
          <a:ln w="15240">
            <a:solidFill>
              <a:srgbClr val="24777A"/>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1819656" y="2825496"/>
            <a:ext cx="0" cy="1325880"/>
          </a:xfrm>
          <a:prstGeom prst="line">
            <a:avLst/>
          </a:prstGeom>
          <a:ln w="15240">
            <a:solidFill>
              <a:srgbClr val="24777A"/>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841248" y="5029200"/>
            <a:ext cx="10533888" cy="6217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700" b="1">
                <a:solidFill>
                  <a:srgbClr val="173042"/>
                </a:solidFill>
                <a:latin typeface="Arial"/>
              </a:rPr>
              <a:t>Iterate until flow and composition are consistent.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Translate unit predictions into system objectives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47</a:t>
            </a:r>
          </a:p>
        </p:txBody>
      </p:sp>
      <p:sp>
        <p:nvSpPr>
          <p:cNvPr id="8" name="Rounded Rectangle 7"/>
          <p:cNvSpPr/>
          <p:nvPr/>
        </p:nvSpPr>
        <p:spPr>
          <a:xfrm>
            <a:off x="722376" y="1810512"/>
            <a:ext cx="10762488" cy="1645920"/>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923544" y="1920240"/>
            <a:ext cx="10360152"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ELECTRICITY PER UNIT METHANOL PRODUCTION</a:t>
            </a:r>
          </a:p>
        </p:txBody>
      </p:sp>
      <mc:AlternateContent xmlns:mc="http://schemas.openxmlformats.org/markup-compatibility/2006">
        <mc:Choice xmlns:a14="http://schemas.microsoft.com/office/drawing/2010/main" Requires="a14">
          <p:sp>
            <p:nvSpPr>
              <p:cNvPr id="10" name="Equation 057" descr="\mathrm{SEC}_{\mathrm{el}}=\frac{\dot W_{\mathrm{WE}}+\dot W_{\mathrm{compression}}+\dot W_{\mathrm{pumps}}+\cdots}{\dot m_{\mathrm{MeOH}}}"/>
              <p:cNvSpPr txBox="1"/>
              <p:nvPr/>
            </p:nvSpPr>
            <p:spPr>
              <a:xfrm>
                <a:off x="2559984" y="2310490"/>
                <a:ext cx="7087270" cy="975147"/>
              </a:xfrm>
              <a:prstGeom prst="rect">
                <a:avLst/>
              </a:prstGeom>
              <a:noFill/>
              <a:effectLst/>
            </p:spPr>
            <p:txBody>
              <a:bodyPr wrap="none" lIns="0" tIns="0" rIns="0" bIns="0" anchor="ctr">
                <a:noAutofit/>
              </a:bodyPr>
              <a:lstStyle/>
              <a:p>
                <a:pPr algn="ctr">
                  <a:spcBef>
                    <a:spcPts val="0"/>
                  </a:spcBef>
                  <a:spcAft>
                    <a:spcPts val="0"/>
                  </a:spcAft>
                  <a:defRPr sz="2900">
                    <a:latin typeface="Cambria Math"/>
                  </a:defRPr>
                </a:pPr>
                <a14:m>
                  <m:oMathPara xmlns:m="http://schemas.openxmlformats.org/officeDocument/2006/math">
                    <m:oMathParaPr>
                      <m:jc m:val="center"/>
                    </m:oMathParaPr>
                    <m:oMath xmlns:m="http://schemas.openxmlformats.org/officeDocument/2006/math">
                      <m:sSub>
                        <m:sSubPr>
                          <m:ctrlPr>
                            <a:rPr lang="en-GB" sz="2900">
                              <a:latin typeface="Cambria Math" panose="02040503050406030204" pitchFamily="18" charset="0"/>
                            </a:rPr>
                          </m:ctrlPr>
                        </m:sSubPr>
                        <m:e>
                          <m:r>
                            <m:rPr>
                              <m:sty m:val="p"/>
                            </m:rPr>
                            <a:rPr lang="en-GB" sz="2900" i="0">
                              <a:latin typeface="Cambria Math"/>
                            </a:rPr>
                            <m:t>SEC</m:t>
                          </m:r>
                        </m:e>
                        <m:sub>
                          <m:r>
                            <m:rPr>
                              <m:sty m:val="p"/>
                            </m:rPr>
                            <a:rPr lang="en-GB" sz="2900" i="0">
                              <a:latin typeface="Cambria Math"/>
                            </a:rPr>
                            <m:t>el</m:t>
                          </m:r>
                        </m:sub>
                      </m:sSub>
                      <m:r>
                        <a:rPr lang="en-GB" sz="2900" i="0">
                          <a:latin typeface="Cambria Math"/>
                        </a:rPr>
                        <m:t>=</m:t>
                      </m:r>
                      <m:f>
                        <m:fPr>
                          <m:ctrlPr>
                            <a:rPr lang="en-GB" sz="2900" i="1">
                              <a:latin typeface="Cambria Math" panose="02040503050406030204" pitchFamily="18" charset="0"/>
                            </a:rPr>
                          </m:ctrlPr>
                        </m:fPr>
                        <m:num>
                          <m:sSub>
                            <m:sSubPr>
                              <m:ctrlPr>
                                <a:rPr lang="en-GB" sz="2900" i="1">
                                  <a:latin typeface="Cambria Math" panose="02040503050406030204" pitchFamily="18" charset="0"/>
                                </a:rPr>
                              </m:ctrlPr>
                            </m:sSubPr>
                            <m:e>
                              <m:acc>
                                <m:accPr>
                                  <m:chr m:val="̇"/>
                                  <m:ctrlPr>
                                    <a:rPr lang="en-GB" sz="2900" i="1">
                                      <a:latin typeface="Cambria Math" panose="02040503050406030204" pitchFamily="18" charset="0"/>
                                    </a:rPr>
                                  </m:ctrlPr>
                                </m:accPr>
                                <m:e>
                                  <m:r>
                                    <a:rPr lang="en-GB" sz="2900">
                                      <a:latin typeface="Cambria Math"/>
                                    </a:rPr>
                                    <m:t>𝑊</m:t>
                                  </m:r>
                                </m:e>
                              </m:acc>
                            </m:e>
                            <m:sub>
                              <m:r>
                                <m:rPr>
                                  <m:sty m:val="p"/>
                                </m:rPr>
                                <a:rPr lang="en-GB" sz="2900" i="0">
                                  <a:latin typeface="Cambria Math"/>
                                </a:rPr>
                                <m:t>WE</m:t>
                              </m:r>
                            </m:sub>
                          </m:sSub>
                          <m:r>
                            <a:rPr lang="en-GB" sz="2900" i="0">
                              <a:latin typeface="Cambria Math"/>
                            </a:rPr>
                            <m:t>+</m:t>
                          </m:r>
                          <m:sSub>
                            <m:sSubPr>
                              <m:ctrlPr>
                                <a:rPr lang="en-GB" sz="2900" i="1">
                                  <a:latin typeface="Cambria Math" panose="02040503050406030204" pitchFamily="18" charset="0"/>
                                </a:rPr>
                              </m:ctrlPr>
                            </m:sSubPr>
                            <m:e>
                              <m:acc>
                                <m:accPr>
                                  <m:chr m:val="̇"/>
                                  <m:ctrlPr>
                                    <a:rPr lang="en-GB" sz="2900" i="1">
                                      <a:latin typeface="Cambria Math" panose="02040503050406030204" pitchFamily="18" charset="0"/>
                                    </a:rPr>
                                  </m:ctrlPr>
                                </m:accPr>
                                <m:e>
                                  <m:r>
                                    <a:rPr lang="en-GB" sz="2900">
                                      <a:latin typeface="Cambria Math"/>
                                    </a:rPr>
                                    <m:t>𝑊</m:t>
                                  </m:r>
                                </m:e>
                              </m:acc>
                            </m:e>
                            <m:sub>
                              <m:r>
                                <m:rPr>
                                  <m:sty m:val="p"/>
                                </m:rPr>
                                <a:rPr lang="en-GB" sz="2900" i="0">
                                  <a:latin typeface="Cambria Math"/>
                                </a:rPr>
                                <m:t>compression</m:t>
                              </m:r>
                            </m:sub>
                          </m:sSub>
                          <m:r>
                            <a:rPr lang="en-GB" sz="2900" i="0">
                              <a:latin typeface="Cambria Math"/>
                            </a:rPr>
                            <m:t>+</m:t>
                          </m:r>
                          <m:sSub>
                            <m:sSubPr>
                              <m:ctrlPr>
                                <a:rPr lang="en-GB" sz="2900" i="1">
                                  <a:latin typeface="Cambria Math" panose="02040503050406030204" pitchFamily="18" charset="0"/>
                                </a:rPr>
                              </m:ctrlPr>
                            </m:sSubPr>
                            <m:e>
                              <m:acc>
                                <m:accPr>
                                  <m:chr m:val="̇"/>
                                  <m:ctrlPr>
                                    <a:rPr lang="en-GB" sz="2900" i="1">
                                      <a:latin typeface="Cambria Math" panose="02040503050406030204" pitchFamily="18" charset="0"/>
                                    </a:rPr>
                                  </m:ctrlPr>
                                </m:accPr>
                                <m:e>
                                  <m:r>
                                    <a:rPr lang="en-GB" sz="2900">
                                      <a:latin typeface="Cambria Math"/>
                                    </a:rPr>
                                    <m:t>𝑊</m:t>
                                  </m:r>
                                </m:e>
                              </m:acc>
                            </m:e>
                            <m:sub>
                              <m:r>
                                <m:rPr>
                                  <m:sty m:val="p"/>
                                </m:rPr>
                                <a:rPr lang="en-GB" sz="2900" i="0">
                                  <a:latin typeface="Cambria Math"/>
                                </a:rPr>
                                <m:t>pumps</m:t>
                              </m:r>
                            </m:sub>
                          </m:sSub>
                          <m:r>
                            <a:rPr lang="en-GB" sz="2900" i="0">
                              <a:latin typeface="Cambria Math"/>
                            </a:rPr>
                            <m:t>+⋯</m:t>
                          </m:r>
                        </m:num>
                        <m:den>
                          <m:sSub>
                            <m:sSubPr>
                              <m:ctrlPr>
                                <a:rPr lang="en-GB" sz="2900" i="1">
                                  <a:latin typeface="Cambria Math" panose="02040503050406030204" pitchFamily="18" charset="0"/>
                                </a:rPr>
                              </m:ctrlPr>
                            </m:sSubPr>
                            <m:e>
                              <m:acc>
                                <m:accPr>
                                  <m:chr m:val="̇"/>
                                  <m:ctrlPr>
                                    <a:rPr lang="en-GB" sz="2900" i="1">
                                      <a:latin typeface="Cambria Math" panose="02040503050406030204" pitchFamily="18" charset="0"/>
                                    </a:rPr>
                                  </m:ctrlPr>
                                </m:accPr>
                                <m:e>
                                  <m:r>
                                    <a:rPr lang="en-GB" sz="2900">
                                      <a:latin typeface="Cambria Math"/>
                                    </a:rPr>
                                    <m:t>𝑚</m:t>
                                  </m:r>
                                </m:e>
                              </m:acc>
                            </m:e>
                            <m:sub>
                              <m:r>
                                <m:rPr>
                                  <m:sty m:val="p"/>
                                </m:rPr>
                                <a:rPr lang="en-GB" sz="2900" i="0">
                                  <a:latin typeface="Cambria Math"/>
                                </a:rPr>
                                <m:t>MeOH</m:t>
                              </m:r>
                            </m:sub>
                          </m:sSub>
                        </m:den>
                      </m:f>
                    </m:oMath>
                  </m:oMathPara>
                </a14:m>
                <a:endParaRPr/>
              </a:p>
            </p:txBody>
          </p:sp>
        </mc:Choice>
        <mc:Fallback>
          <p:sp>
            <p:nvSpPr>
              <p:cNvPr id="10" name="Equation 057" descr="\mathrm{SEC}_{\mathrm{el}}=\frac{\dot W_{\mathrm{WE}}+\dot W_{\mathrm{compression}}+\dot W_{\mathrm{pumps}}+\cdots}{\dot m_{\mathrm{MeOH}}}"/>
              <p:cNvSpPr txBox="1">
                <a:spLocks noRot="1" noChangeAspect="1" noMove="1" noResize="1" noEditPoints="1" noAdjustHandles="1" noChangeArrowheads="1" noChangeShapeType="1" noTextEdit="1"/>
              </p:cNvSpPr>
              <p:nvPr/>
            </p:nvSpPr>
            <p:spPr>
              <a:xfrm>
                <a:off x="2559984" y="2310490"/>
                <a:ext cx="7087270" cy="975147"/>
              </a:xfrm>
              <a:prstGeom prst="rect">
                <a:avLst/>
              </a:prstGeom>
              <a:blipFill>
                <a:blip r:embed="rId3"/>
                <a:stretch>
                  <a:fillRect l="-894" t="-3846" b="-11538"/>
                </a:stretch>
              </a:blipFill>
              <a:effectLst/>
            </p:spPr>
            <p:txBody>
              <a:bodyPr/>
              <a:lstStyle/>
              <a:p>
                <a:r>
                  <a:rPr lang="zh-CN" altLang="en-US">
                    <a:noFill/>
                  </a:rPr>
                  <a:t> </a:t>
                </a:r>
              </a:p>
            </p:txBody>
          </p:sp>
        </mc:Fallback>
      </mc:AlternateContent>
      <p:sp>
        <p:nvSpPr>
          <p:cNvPr id="11" name="Rounded Rectangle 10"/>
          <p:cNvSpPr/>
          <p:nvPr/>
        </p:nvSpPr>
        <p:spPr>
          <a:xfrm>
            <a:off x="731520" y="3886200"/>
            <a:ext cx="3401568" cy="170992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50976" y="4069080"/>
            <a:ext cx="296265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ENERGY</a:t>
            </a:r>
          </a:p>
        </p:txBody>
      </p:sp>
      <p:sp>
        <p:nvSpPr>
          <p:cNvPr id="13" name="TextBox 12"/>
          <p:cNvSpPr txBox="1"/>
          <p:nvPr/>
        </p:nvSpPr>
        <p:spPr>
          <a:xfrm>
            <a:off x="950976" y="4736592"/>
            <a:ext cx="2962656" cy="7132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Use a consistent boundary and unit basis.</a:t>
            </a:r>
          </a:p>
        </p:txBody>
      </p:sp>
      <p:sp>
        <p:nvSpPr>
          <p:cNvPr id="14" name="Rounded Rectangle 13"/>
          <p:cNvSpPr/>
          <p:nvPr/>
        </p:nvSpPr>
        <p:spPr>
          <a:xfrm>
            <a:off x="4389120" y="3886200"/>
            <a:ext cx="3401568" cy="170992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4608576" y="4069080"/>
            <a:ext cx="296265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CARBON</a:t>
            </a:r>
          </a:p>
        </p:txBody>
      </p:sp>
      <p:sp>
        <p:nvSpPr>
          <p:cNvPr id="16" name="TextBox 15"/>
          <p:cNvSpPr txBox="1"/>
          <p:nvPr/>
        </p:nvSpPr>
        <p:spPr>
          <a:xfrm>
            <a:off x="4608576" y="4736592"/>
            <a:ext cx="2962656" cy="7132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Track fresh input, product carbon and losses.</a:t>
            </a:r>
          </a:p>
        </p:txBody>
      </p:sp>
      <p:sp>
        <p:nvSpPr>
          <p:cNvPr id="17" name="Rounded Rectangle 16"/>
          <p:cNvSpPr/>
          <p:nvPr/>
        </p:nvSpPr>
        <p:spPr>
          <a:xfrm>
            <a:off x="8046720" y="3886200"/>
            <a:ext cx="3401568" cy="1709928"/>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8266176" y="4069080"/>
            <a:ext cx="2962656"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EQUIPMENT SCALE</a:t>
            </a:r>
          </a:p>
        </p:txBody>
      </p:sp>
      <p:sp>
        <p:nvSpPr>
          <p:cNvPr id="19" name="TextBox 18"/>
          <p:cNvSpPr txBox="1"/>
          <p:nvPr/>
        </p:nvSpPr>
        <p:spPr>
          <a:xfrm>
            <a:off x="8266176" y="4736592"/>
            <a:ext cx="2962656" cy="7132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Distinguish a proxy from a complete cost model.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There are two different Pareto problems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48</a:t>
            </a:r>
          </a:p>
        </p:txBody>
      </p:sp>
      <p:sp>
        <p:nvSpPr>
          <p:cNvPr id="8" name="Rounded Rectangle 7"/>
          <p:cNvSpPr/>
          <p:nvPr/>
        </p:nvSpPr>
        <p:spPr>
          <a:xfrm>
            <a:off x="713232" y="1773936"/>
            <a:ext cx="5266944" cy="352958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932688" y="1956816"/>
            <a:ext cx="4828031"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MODEL SELECTION</a:t>
            </a:r>
          </a:p>
        </p:txBody>
      </p:sp>
      <p:sp>
        <p:nvSpPr>
          <p:cNvPr id="10" name="TextBox 9"/>
          <p:cNvSpPr txBox="1"/>
          <p:nvPr/>
        </p:nvSpPr>
        <p:spPr>
          <a:xfrm>
            <a:off x="932688" y="2624328"/>
            <a:ext cx="4828031" cy="2532887"/>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300" b="0">
                <a:solidFill>
                  <a:srgbClr val="173042"/>
                </a:solidFill>
                <a:latin typeface="Arial"/>
              </a:rPr>
              <a:t>Objectives:</a:t>
            </a:r>
          </a:p>
          <a:p>
            <a:pPr algn="l">
              <a:lnSpc>
                <a:spcPct val="113000"/>
              </a:lnSpc>
              <a:spcBef>
                <a:spcPts val="0"/>
              </a:spcBef>
              <a:spcAft>
                <a:spcPts val="400"/>
              </a:spcAft>
            </a:pPr>
            <a:r>
              <a:rPr lang="en-GB" sz="2300" b="0">
                <a:solidFill>
                  <a:srgbClr val="173042"/>
                </a:solidFill>
                <a:latin typeface="Arial"/>
              </a:rPr>
              <a:t>Prediction error and expression complexity.</a:t>
            </a:r>
          </a:p>
          <a:p>
            <a:pPr algn="l">
              <a:lnSpc>
                <a:spcPct val="113000"/>
              </a:lnSpc>
              <a:spcBef>
                <a:spcPts val="0"/>
              </a:spcBef>
              <a:spcAft>
                <a:spcPts val="400"/>
              </a:spcAft>
            </a:pPr>
            <a:endParaRPr lang="en-GB" sz="2300" b="0">
              <a:solidFill>
                <a:srgbClr val="173042"/>
              </a:solidFill>
              <a:latin typeface="Arial"/>
            </a:endParaRPr>
          </a:p>
          <a:p>
            <a:pPr algn="l">
              <a:lnSpc>
                <a:spcPct val="113000"/>
              </a:lnSpc>
              <a:spcBef>
                <a:spcPts val="0"/>
              </a:spcBef>
              <a:spcAft>
                <a:spcPts val="0"/>
              </a:spcAft>
            </a:pPr>
            <a:r>
              <a:rPr lang="en-GB" sz="2300" b="0">
                <a:solidFill>
                  <a:srgbClr val="173042"/>
                </a:solidFill>
                <a:latin typeface="Arial"/>
              </a:rPr>
              <a:t>Decision: which surrogate is suitable?</a:t>
            </a:r>
          </a:p>
        </p:txBody>
      </p:sp>
      <p:sp>
        <p:nvSpPr>
          <p:cNvPr id="11" name="Rounded Rectangle 10"/>
          <p:cNvSpPr/>
          <p:nvPr/>
        </p:nvSpPr>
        <p:spPr>
          <a:xfrm>
            <a:off x="6236208" y="1773936"/>
            <a:ext cx="5266944" cy="3529584"/>
          </a:xfrm>
          <a:prstGeom prst="roundRect">
            <a:avLst>
              <a:gd name="adj" fmla="val 8000"/>
            </a:avLst>
          </a:prstGeom>
          <a:solidFill>
            <a:srgbClr val="EAF0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455664" y="1956816"/>
            <a:ext cx="4828031"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PROCESS DESIGN</a:t>
            </a:r>
          </a:p>
        </p:txBody>
      </p:sp>
      <p:sp>
        <p:nvSpPr>
          <p:cNvPr id="13" name="TextBox 12"/>
          <p:cNvSpPr txBox="1"/>
          <p:nvPr/>
        </p:nvSpPr>
        <p:spPr>
          <a:xfrm>
            <a:off x="6455664" y="2624328"/>
            <a:ext cx="4828031" cy="2532887"/>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2300" b="0">
                <a:solidFill>
                  <a:srgbClr val="173042"/>
                </a:solidFill>
                <a:latin typeface="Arial"/>
              </a:rPr>
              <a:t>Objectives:</a:t>
            </a:r>
          </a:p>
          <a:p>
            <a:pPr algn="l">
              <a:lnSpc>
                <a:spcPct val="113000"/>
              </a:lnSpc>
              <a:spcBef>
                <a:spcPts val="0"/>
              </a:spcBef>
              <a:spcAft>
                <a:spcPts val="400"/>
              </a:spcAft>
            </a:pPr>
            <a:r>
              <a:rPr lang="en-GB" sz="2300" b="0">
                <a:solidFill>
                  <a:srgbClr val="173042"/>
                </a:solidFill>
                <a:latin typeface="Arial"/>
              </a:rPr>
              <a:t>Energy, equipment scale and carbon performance.</a:t>
            </a:r>
          </a:p>
          <a:p>
            <a:pPr algn="l">
              <a:lnSpc>
                <a:spcPct val="113000"/>
              </a:lnSpc>
              <a:spcBef>
                <a:spcPts val="0"/>
              </a:spcBef>
              <a:spcAft>
                <a:spcPts val="400"/>
              </a:spcAft>
            </a:pPr>
            <a:endParaRPr lang="en-GB" sz="2300" b="0">
              <a:solidFill>
                <a:srgbClr val="173042"/>
              </a:solidFill>
              <a:latin typeface="Arial"/>
            </a:endParaRPr>
          </a:p>
          <a:p>
            <a:pPr algn="l">
              <a:lnSpc>
                <a:spcPct val="113000"/>
              </a:lnSpc>
              <a:spcBef>
                <a:spcPts val="0"/>
              </a:spcBef>
              <a:spcAft>
                <a:spcPts val="0"/>
              </a:spcAft>
            </a:pPr>
            <a:r>
              <a:rPr lang="en-GB" sz="2300" b="0">
                <a:solidFill>
                  <a:srgbClr val="173042"/>
                </a:solidFill>
                <a:latin typeface="Arial"/>
              </a:rPr>
              <a:t>Decision: which operating point is suitable?</a:t>
            </a:r>
          </a:p>
        </p:txBody>
      </p:sp>
      <p:sp>
        <p:nvSpPr>
          <p:cNvPr id="14" name="Rounded Rectangle 13"/>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A simple model and a resource-efficient process are different optimisation outcomes.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04 • CASE 2 — GREEN METHANOL</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Close the loop with high-fidelity verification</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49</a:t>
            </a:r>
          </a:p>
        </p:txBody>
      </p:sp>
      <p:sp>
        <p:nvSpPr>
          <p:cNvPr id="8" name="Oval 7"/>
          <p:cNvSpPr/>
          <p:nvPr/>
        </p:nvSpPr>
        <p:spPr>
          <a:xfrm>
            <a:off x="722376" y="1828800"/>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722376" y="1833372"/>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1</a:t>
            </a:r>
          </a:p>
        </p:txBody>
      </p:sp>
      <p:sp>
        <p:nvSpPr>
          <p:cNvPr id="10" name="TextBox 9"/>
          <p:cNvSpPr txBox="1"/>
          <p:nvPr/>
        </p:nvSpPr>
        <p:spPr>
          <a:xfrm>
            <a:off x="1325880" y="1828800"/>
            <a:ext cx="3968496" cy="4846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173042"/>
                </a:solidFill>
                <a:latin typeface="Arial"/>
              </a:rPr>
              <a:t>Optimise the surrogate</a:t>
            </a:r>
          </a:p>
        </p:txBody>
      </p:sp>
      <p:sp>
        <p:nvSpPr>
          <p:cNvPr id="11" name="TextBox 10"/>
          <p:cNvSpPr txBox="1"/>
          <p:nvPr/>
        </p:nvSpPr>
        <p:spPr>
          <a:xfrm>
            <a:off x="5586984" y="1828800"/>
            <a:ext cx="5678424" cy="69494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50" b="0">
                <a:solidFill>
                  <a:srgbClr val="173042"/>
                </a:solidFill>
                <a:latin typeface="Arial"/>
              </a:rPr>
              <a:t>Screen many operating conditions.</a:t>
            </a:r>
          </a:p>
        </p:txBody>
      </p:sp>
      <p:sp>
        <p:nvSpPr>
          <p:cNvPr id="12" name="Oval 11"/>
          <p:cNvSpPr/>
          <p:nvPr/>
        </p:nvSpPr>
        <p:spPr>
          <a:xfrm>
            <a:off x="722376" y="2715768"/>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722376" y="2720339"/>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2</a:t>
            </a:r>
          </a:p>
        </p:txBody>
      </p:sp>
      <p:sp>
        <p:nvSpPr>
          <p:cNvPr id="14" name="TextBox 13"/>
          <p:cNvSpPr txBox="1"/>
          <p:nvPr/>
        </p:nvSpPr>
        <p:spPr>
          <a:xfrm>
            <a:off x="1325880" y="2715768"/>
            <a:ext cx="3968496" cy="4846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173042"/>
                </a:solidFill>
                <a:latin typeface="Arial"/>
              </a:rPr>
              <a:t>Recompute key candidates</a:t>
            </a:r>
          </a:p>
        </p:txBody>
      </p:sp>
      <p:sp>
        <p:nvSpPr>
          <p:cNvPr id="15" name="TextBox 14"/>
          <p:cNvSpPr txBox="1"/>
          <p:nvPr/>
        </p:nvSpPr>
        <p:spPr>
          <a:xfrm>
            <a:off x="5586984" y="2715768"/>
            <a:ext cx="5678424" cy="69494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50" b="0">
                <a:solidFill>
                  <a:srgbClr val="173042"/>
                </a:solidFill>
                <a:latin typeface="Arial"/>
              </a:rPr>
              <a:t>Check feasibility and performance using the original model.</a:t>
            </a:r>
          </a:p>
        </p:txBody>
      </p:sp>
      <p:sp>
        <p:nvSpPr>
          <p:cNvPr id="16" name="Oval 15"/>
          <p:cNvSpPr/>
          <p:nvPr/>
        </p:nvSpPr>
        <p:spPr>
          <a:xfrm>
            <a:off x="722376" y="3602736"/>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722376" y="3607308"/>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3</a:t>
            </a:r>
          </a:p>
        </p:txBody>
      </p:sp>
      <p:sp>
        <p:nvSpPr>
          <p:cNvPr id="18" name="TextBox 17"/>
          <p:cNvSpPr txBox="1"/>
          <p:nvPr/>
        </p:nvSpPr>
        <p:spPr>
          <a:xfrm>
            <a:off x="1325880" y="3602736"/>
            <a:ext cx="3968496" cy="4846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173042"/>
                </a:solidFill>
                <a:latin typeface="Arial"/>
              </a:rPr>
              <a:t>Compare decisions</a:t>
            </a:r>
          </a:p>
        </p:txBody>
      </p:sp>
      <p:sp>
        <p:nvSpPr>
          <p:cNvPr id="19" name="TextBox 18"/>
          <p:cNvSpPr txBox="1"/>
          <p:nvPr/>
        </p:nvSpPr>
        <p:spPr>
          <a:xfrm>
            <a:off x="5586984" y="3602736"/>
            <a:ext cx="5678424" cy="69494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50" b="0">
                <a:solidFill>
                  <a:srgbClr val="173042"/>
                </a:solidFill>
                <a:latin typeface="Arial"/>
              </a:rPr>
              <a:t>Does the recommended trade-off survive verification?</a:t>
            </a:r>
          </a:p>
        </p:txBody>
      </p:sp>
      <p:sp>
        <p:nvSpPr>
          <p:cNvPr id="20" name="Oval 19"/>
          <p:cNvSpPr/>
          <p:nvPr/>
        </p:nvSpPr>
        <p:spPr>
          <a:xfrm>
            <a:off x="722376" y="4489704"/>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722376" y="4494276"/>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4</a:t>
            </a:r>
          </a:p>
        </p:txBody>
      </p:sp>
      <p:sp>
        <p:nvSpPr>
          <p:cNvPr id="22" name="TextBox 21"/>
          <p:cNvSpPr txBox="1"/>
          <p:nvPr/>
        </p:nvSpPr>
        <p:spPr>
          <a:xfrm>
            <a:off x="1325880" y="4489704"/>
            <a:ext cx="3968496" cy="4846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173042"/>
                </a:solidFill>
                <a:latin typeface="Arial"/>
              </a:rPr>
              <a:t>Refine when necessary</a:t>
            </a:r>
          </a:p>
        </p:txBody>
      </p:sp>
      <p:sp>
        <p:nvSpPr>
          <p:cNvPr id="23" name="TextBox 22"/>
          <p:cNvSpPr txBox="1"/>
          <p:nvPr/>
        </p:nvSpPr>
        <p:spPr>
          <a:xfrm>
            <a:off x="5586984" y="4489704"/>
            <a:ext cx="5678424" cy="69494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50" b="0">
                <a:solidFill>
                  <a:srgbClr val="173042"/>
                </a:solidFill>
                <a:latin typeface="Arial"/>
              </a:rPr>
              <a:t>Add development data near unreliable regions; preserve an independent test.</a:t>
            </a:r>
          </a:p>
        </p:txBody>
      </p:sp>
      <p:sp>
        <p:nvSpPr>
          <p:cNvPr id="24" name="Rounded Rectangle 23"/>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The optimiser searches favourable predictions—and may exploit surrogate errors.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05 • RELIABILITY AND GOOD PRACTICE</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R² alone is not an engineering acceptance criterion</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50</a:t>
            </a:r>
          </a:p>
        </p:txBody>
      </p:sp>
      <p:sp>
        <p:nvSpPr>
          <p:cNvPr id="8" name="Rounded Rectangle 7"/>
          <p:cNvSpPr/>
          <p:nvPr/>
        </p:nvSpPr>
        <p:spPr>
          <a:xfrm>
            <a:off x="731520" y="1755648"/>
            <a:ext cx="5797296" cy="1947672"/>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932688" y="1865376"/>
            <a:ext cx="5394959"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ERROR IN THE ORIGINAL OUTPUT UNITS</a:t>
            </a:r>
          </a:p>
        </p:txBody>
      </p:sp>
      <mc:AlternateContent xmlns:mc="http://schemas.openxmlformats.org/markup-compatibility/2006">
        <mc:Choice xmlns:a14="http://schemas.microsoft.com/office/drawing/2010/main" Requires="a14">
          <p:sp>
            <p:nvSpPr>
              <p:cNvPr id="10" name="Equation 058" descr="\mathrm{RMSE}=\sqrt{\frac{1}{n}\sum_{i=1}^{n}(z_i-\hat z_i)^2}"/>
              <p:cNvSpPr txBox="1"/>
              <p:nvPr/>
            </p:nvSpPr>
            <p:spPr>
              <a:xfrm>
                <a:off x="1353483" y="2196846"/>
                <a:ext cx="4553369" cy="1394460"/>
              </a:xfrm>
              <a:prstGeom prst="rect">
                <a:avLst/>
              </a:prstGeom>
              <a:noFill/>
              <a:effectLst/>
            </p:spPr>
            <p:txBody>
              <a:bodyPr wrap="none" lIns="0" tIns="0" rIns="0" bIns="0" anchor="ctr">
                <a:noAutofit/>
              </a:bodyPr>
              <a:lstStyle/>
              <a:p>
                <a:pPr algn="ctr">
                  <a:spcBef>
                    <a:spcPts val="0"/>
                  </a:spcBef>
                  <a:spcAft>
                    <a:spcPts val="0"/>
                  </a:spcAft>
                  <a:defRPr sz="3000">
                    <a:latin typeface="Cambria Math"/>
                  </a:defRPr>
                </a:pPr>
                <a14:m>
                  <m:oMathPara xmlns:m="http://schemas.openxmlformats.org/officeDocument/2006/math">
                    <m:oMathParaPr>
                      <m:jc m:val="center"/>
                    </m:oMathParaPr>
                    <m:oMath xmlns:m="http://schemas.openxmlformats.org/officeDocument/2006/math">
                      <m:r>
                        <m:rPr>
                          <m:sty m:val="p"/>
                        </m:rPr>
                        <a:rPr lang="en-GB" sz="3000" i="0">
                          <a:latin typeface="Cambria Math"/>
                        </a:rPr>
                        <m:t>RMSE</m:t>
                      </m:r>
                      <m:r>
                        <a:rPr lang="en-GB" sz="3000" i="0">
                          <a:latin typeface="Cambria Math"/>
                        </a:rPr>
                        <m:t>=</m:t>
                      </m:r>
                      <m:rad>
                        <m:radPr>
                          <m:degHide m:val="on"/>
                          <m:ctrlPr>
                            <a:rPr lang="en-GB" sz="3000" i="1">
                              <a:latin typeface="Cambria Math" panose="02040503050406030204" pitchFamily="18" charset="0"/>
                            </a:rPr>
                          </m:ctrlPr>
                        </m:radPr>
                        <m:deg/>
                        <m:e>
                          <m:f>
                            <m:fPr>
                              <m:ctrlPr>
                                <a:rPr lang="en-GB" sz="3000" i="1">
                                  <a:latin typeface="Cambria Math" panose="02040503050406030204" pitchFamily="18" charset="0"/>
                                </a:rPr>
                              </m:ctrlPr>
                            </m:fPr>
                            <m:num>
                              <m:r>
                                <a:rPr lang="en-GB" sz="3000">
                                  <a:latin typeface="Cambria Math"/>
                                </a:rPr>
                                <m:t>1</m:t>
                              </m:r>
                            </m:num>
                            <m:den>
                              <m:r>
                                <a:rPr lang="en-GB" sz="3000">
                                  <a:latin typeface="Cambria Math"/>
                                </a:rPr>
                                <m:t>𝑛</m:t>
                              </m:r>
                            </m:den>
                          </m:f>
                          <m:nary>
                            <m:naryPr>
                              <m:chr m:val="∑"/>
                              <m:limLoc m:val="undOvr"/>
                              <m:ctrlPr>
                                <a:rPr lang="en-GB" sz="3000" i="1">
                                  <a:latin typeface="Cambria Math" panose="02040503050406030204" pitchFamily="18" charset="0"/>
                                </a:rPr>
                              </m:ctrlPr>
                            </m:naryPr>
                            <m:sub>
                              <m:r>
                                <a:rPr lang="en-GB" sz="3000">
                                  <a:latin typeface="Cambria Math"/>
                                </a:rPr>
                                <m:t>𝑖</m:t>
                              </m:r>
                              <m:r>
                                <a:rPr lang="en-GB" sz="3000" i="0">
                                  <a:latin typeface="Cambria Math"/>
                                </a:rPr>
                                <m:t>=</m:t>
                              </m:r>
                              <m:r>
                                <a:rPr lang="en-GB" sz="3000">
                                  <a:latin typeface="Cambria Math"/>
                                </a:rPr>
                                <m:t>1</m:t>
                              </m:r>
                            </m:sub>
                            <m:sup>
                              <m:r>
                                <a:rPr lang="en-GB" sz="3000">
                                  <a:latin typeface="Cambria Math"/>
                                </a:rPr>
                                <m:t>𝑛</m:t>
                              </m:r>
                            </m:sup>
                            <m:e>
                              <m:sSup>
                                <m:sSupPr>
                                  <m:ctrlPr>
                                    <a:rPr lang="en-GB" sz="3000" i="1">
                                      <a:latin typeface="Cambria Math" panose="02040503050406030204" pitchFamily="18" charset="0"/>
                                    </a:rPr>
                                  </m:ctrlPr>
                                </m:sSupPr>
                                <m:e>
                                  <m:d>
                                    <m:dPr>
                                      <m:ctrlPr>
                                        <a:rPr lang="en-GB" sz="3000" i="1">
                                          <a:latin typeface="Cambria Math" panose="02040503050406030204" pitchFamily="18" charset="0"/>
                                        </a:rPr>
                                      </m:ctrlPr>
                                    </m:dPr>
                                    <m:e>
                                      <m:sSub>
                                        <m:sSubPr>
                                          <m:ctrlPr>
                                            <a:rPr lang="en-GB" sz="3000" i="1">
                                              <a:latin typeface="Cambria Math" panose="02040503050406030204" pitchFamily="18" charset="0"/>
                                            </a:rPr>
                                          </m:ctrlPr>
                                        </m:sSubPr>
                                        <m:e>
                                          <m:r>
                                            <a:rPr lang="en-GB" sz="3000">
                                              <a:latin typeface="Cambria Math"/>
                                            </a:rPr>
                                            <m:t>𝑧</m:t>
                                          </m:r>
                                        </m:e>
                                        <m:sub>
                                          <m:r>
                                            <a:rPr lang="en-GB" sz="3000">
                                              <a:latin typeface="Cambria Math"/>
                                            </a:rPr>
                                            <m:t>𝑖</m:t>
                                          </m:r>
                                        </m:sub>
                                      </m:sSub>
                                      <m:r>
                                        <a:rPr lang="en-GB" sz="3000" i="0">
                                          <a:latin typeface="Cambria Math"/>
                                        </a:rPr>
                                        <m:t>−</m:t>
                                      </m:r>
                                      <m:sSub>
                                        <m:sSubPr>
                                          <m:ctrlPr>
                                            <a:rPr lang="en-GB" sz="3000" i="1">
                                              <a:latin typeface="Cambria Math" panose="02040503050406030204" pitchFamily="18" charset="0"/>
                                            </a:rPr>
                                          </m:ctrlPr>
                                        </m:sSubPr>
                                        <m:e>
                                          <m:acc>
                                            <m:accPr>
                                              <m:chr m:val="̂"/>
                                              <m:ctrlPr>
                                                <a:rPr lang="en-GB" sz="3000" i="1">
                                                  <a:latin typeface="Cambria Math" panose="02040503050406030204" pitchFamily="18" charset="0"/>
                                                </a:rPr>
                                              </m:ctrlPr>
                                            </m:accPr>
                                            <m:e>
                                              <m:r>
                                                <a:rPr lang="en-GB" sz="3000">
                                                  <a:latin typeface="Cambria Math"/>
                                                </a:rPr>
                                                <m:t>𝑧</m:t>
                                              </m:r>
                                            </m:e>
                                          </m:acc>
                                        </m:e>
                                        <m:sub>
                                          <m:r>
                                            <a:rPr lang="en-GB" sz="3000">
                                              <a:latin typeface="Cambria Math"/>
                                            </a:rPr>
                                            <m:t>𝑖</m:t>
                                          </m:r>
                                        </m:sub>
                                      </m:sSub>
                                    </m:e>
                                  </m:d>
                                </m:e>
                                <m:sup>
                                  <m:r>
                                    <a:rPr lang="en-GB" sz="3000">
                                      <a:latin typeface="Cambria Math"/>
                                    </a:rPr>
                                    <m:t>2</m:t>
                                  </m:r>
                                </m:sup>
                              </m:sSup>
                            </m:e>
                          </m:nary>
                        </m:e>
                      </m:rad>
                    </m:oMath>
                  </m:oMathPara>
                </a14:m>
                <a:endParaRPr/>
              </a:p>
            </p:txBody>
          </p:sp>
        </mc:Choice>
        <mc:Fallback>
          <p:sp>
            <p:nvSpPr>
              <p:cNvPr id="10" name="Equation 058" descr="\mathrm{RMSE}=\sqrt{\frac{1}{n}\sum_{i=1}^{n}(z_i-\hat z_i)^2}"/>
              <p:cNvSpPr txBox="1">
                <a:spLocks noRot="1" noChangeAspect="1" noMove="1" noResize="1" noEditPoints="1" noAdjustHandles="1" noChangeArrowheads="1" noChangeShapeType="1" noTextEdit="1"/>
              </p:cNvSpPr>
              <p:nvPr/>
            </p:nvSpPr>
            <p:spPr>
              <a:xfrm>
                <a:off x="1353483" y="2196846"/>
                <a:ext cx="4553369" cy="1394460"/>
              </a:xfrm>
              <a:prstGeom prst="rect">
                <a:avLst/>
              </a:prstGeom>
              <a:blipFill>
                <a:blip r:embed="rId3"/>
                <a:stretch>
                  <a:fillRect t="-99099" b="-162162"/>
                </a:stretch>
              </a:blipFill>
              <a:effectLst/>
            </p:spPr>
            <p:txBody>
              <a:bodyPr/>
              <a:lstStyle/>
              <a:p>
                <a:r>
                  <a:rPr lang="zh-CN" altLang="en-US">
                    <a:noFill/>
                  </a:rPr>
                  <a:t> </a:t>
                </a:r>
              </a:p>
            </p:txBody>
          </p:sp>
        </mc:Fallback>
      </mc:AlternateContent>
      <p:pic>
        <p:nvPicPr>
          <p:cNvPr id="11" name="peaks_parity.png" descr="peaks_parity.png"/>
          <p:cNvPicPr>
            <a:picLocks noChangeAspect="1"/>
          </p:cNvPicPr>
          <p:nvPr/>
        </p:nvPicPr>
        <p:blipFill>
          <a:blip r:embed="rId4"/>
          <a:stretch>
            <a:fillRect/>
          </a:stretch>
        </p:blipFill>
        <p:spPr>
          <a:xfrm>
            <a:off x="6839712" y="1970206"/>
            <a:ext cx="4700016" cy="3850275"/>
          </a:xfrm>
          <a:prstGeom prst="rect">
            <a:avLst/>
          </a:prstGeom>
          <a:effectLst/>
        </p:spPr>
      </p:pic>
      <p:sp>
        <p:nvSpPr>
          <p:cNvPr id="12" name="TextBox 11"/>
          <p:cNvSpPr txBox="1"/>
          <p:nvPr/>
        </p:nvSpPr>
        <p:spPr>
          <a:xfrm>
            <a:off x="877824" y="4041648"/>
            <a:ext cx="5248656" cy="89611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50" b="1">
                <a:solidFill>
                  <a:srgbClr val="173042"/>
                </a:solidFill>
                <a:latin typeface="Arial"/>
              </a:rPr>
              <a:t>Check error magnitude, not only explained variance.</a:t>
            </a:r>
          </a:p>
        </p:txBody>
      </p:sp>
      <p:sp>
        <p:nvSpPr>
          <p:cNvPr id="13" name="TextBox 12"/>
          <p:cNvSpPr txBox="1"/>
          <p:nvPr/>
        </p:nvSpPr>
        <p:spPr>
          <a:xfrm>
            <a:off x="877824" y="5184648"/>
            <a:ext cx="5257800" cy="8503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Inspect boundaries, high-load conditions and optimiser-selected regions.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05 • RELIABILITY AND GOOD PRACTICE</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A computable extrapolation is not a validated prediction</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51</a:t>
            </a:r>
          </a:p>
        </p:txBody>
      </p:sp>
      <p:sp>
        <p:nvSpPr>
          <p:cNvPr id="8" name="Rounded Rectangle 7"/>
          <p:cNvSpPr/>
          <p:nvPr/>
        </p:nvSpPr>
        <p:spPr>
          <a:xfrm>
            <a:off x="713232" y="1801368"/>
            <a:ext cx="5303520" cy="1362456"/>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914400" y="1911095"/>
            <a:ext cx="4901183"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EXAMPLE TRAINING RANGE</a:t>
            </a:r>
          </a:p>
        </p:txBody>
      </p:sp>
      <mc:AlternateContent xmlns:mc="http://schemas.openxmlformats.org/markup-compatibility/2006">
        <mc:Choice xmlns:a14="http://schemas.microsoft.com/office/drawing/2010/main" Requires="a14">
          <p:sp>
            <p:nvSpPr>
              <p:cNvPr id="10" name="Equation 059" descr="0.2\leq j\leq0.8\ \mathrm{A\,cm^{-2}}"/>
              <p:cNvSpPr txBox="1"/>
              <p:nvPr/>
            </p:nvSpPr>
            <p:spPr>
              <a:xfrm>
                <a:off x="1580389" y="2433034"/>
                <a:ext cx="3569205" cy="428306"/>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r>
                        <a:rPr lang="en-GB" sz="3100">
                          <a:latin typeface="Cambria Math"/>
                        </a:rPr>
                        <m:t>0.2</m:t>
                      </m:r>
                      <m:r>
                        <a:rPr lang="en-GB" sz="3100" i="0">
                          <a:latin typeface="Cambria Math"/>
                        </a:rPr>
                        <m:t>≤</m:t>
                      </m:r>
                      <m:r>
                        <a:rPr lang="en-GB" sz="3100">
                          <a:latin typeface="Cambria Math"/>
                        </a:rPr>
                        <m:t>𝑗</m:t>
                      </m:r>
                      <m:r>
                        <a:rPr lang="en-GB" sz="3100" i="0">
                          <a:latin typeface="Cambria Math"/>
                        </a:rPr>
                        <m:t>≤</m:t>
                      </m:r>
                      <m:r>
                        <a:rPr lang="en-GB" sz="3100">
                          <a:latin typeface="Cambria Math"/>
                        </a:rPr>
                        <m:t>0.8 </m:t>
                      </m:r>
                      <m:r>
                        <m:rPr>
                          <m:sty m:val="p"/>
                        </m:rPr>
                        <a:rPr lang="en-GB" sz="3100" i="0">
                          <a:latin typeface="Cambria Math"/>
                        </a:rPr>
                        <m:t>A</m:t>
                      </m:r>
                      <m:r>
                        <a:rPr lang="en-GB" sz="3100" i="0">
                          <a:latin typeface="Cambria Math"/>
                        </a:rPr>
                        <m:t> </m:t>
                      </m:r>
                      <m:r>
                        <m:rPr>
                          <m:sty m:val="p"/>
                        </m:rPr>
                        <a:rPr lang="en-GB" sz="3100" i="0">
                          <a:latin typeface="Cambria Math"/>
                        </a:rPr>
                        <m:t>c</m:t>
                      </m:r>
                      <m:sSup>
                        <m:sSupPr>
                          <m:ctrlPr>
                            <a:rPr lang="en-GB" sz="3100" i="1">
                              <a:latin typeface="Cambria Math" panose="02040503050406030204" pitchFamily="18" charset="0"/>
                            </a:rPr>
                          </m:ctrlPr>
                        </m:sSupPr>
                        <m:e>
                          <m:r>
                            <m:rPr>
                              <m:sty m:val="p"/>
                            </m:rPr>
                            <a:rPr lang="en-GB" sz="3100" i="0">
                              <a:latin typeface="Cambria Math"/>
                            </a:rPr>
                            <m:t>m</m:t>
                          </m:r>
                        </m:e>
                        <m:sup>
                          <m:r>
                            <a:rPr lang="en-GB" sz="3100" i="0">
                              <a:latin typeface="Cambria Math"/>
                            </a:rPr>
                            <m:t>−2</m:t>
                          </m:r>
                        </m:sup>
                      </m:sSup>
                    </m:oMath>
                  </m:oMathPara>
                </a14:m>
                <a:endParaRPr/>
              </a:p>
            </p:txBody>
          </p:sp>
        </mc:Choice>
        <mc:Fallback>
          <p:sp>
            <p:nvSpPr>
              <p:cNvPr id="10" name="Equation 059" descr="0.2\leq j\leq0.8\ \mathrm{A\,cm^{-2}}"/>
              <p:cNvSpPr txBox="1">
                <a:spLocks noRot="1" noChangeAspect="1" noMove="1" noResize="1" noEditPoints="1" noAdjustHandles="1" noChangeArrowheads="1" noChangeShapeType="1" noTextEdit="1"/>
              </p:cNvSpPr>
              <p:nvPr/>
            </p:nvSpPr>
            <p:spPr>
              <a:xfrm>
                <a:off x="1580389" y="2433034"/>
                <a:ext cx="3569205" cy="428306"/>
              </a:xfrm>
              <a:prstGeom prst="rect">
                <a:avLst/>
              </a:prstGeom>
              <a:blipFill>
                <a:blip r:embed="rId3"/>
                <a:stretch>
                  <a:fillRect l="-4255" t="-14286" b="-45714"/>
                </a:stretch>
              </a:blipFill>
              <a:effectLst/>
            </p:spPr>
            <p:txBody>
              <a:bodyPr/>
              <a:lstStyle/>
              <a:p>
                <a:r>
                  <a:rPr lang="zh-CN" altLang="en-US">
                    <a:noFill/>
                  </a:rPr>
                  <a:t> </a:t>
                </a:r>
              </a:p>
            </p:txBody>
          </p:sp>
        </mc:Fallback>
      </mc:AlternateContent>
      <p:sp>
        <p:nvSpPr>
          <p:cNvPr id="11" name="Rounded Rectangle 10"/>
          <p:cNvSpPr/>
          <p:nvPr/>
        </p:nvSpPr>
        <p:spPr>
          <a:xfrm>
            <a:off x="6263640" y="1801368"/>
            <a:ext cx="5257800" cy="1362456"/>
          </a:xfrm>
          <a:prstGeom prst="roundRect">
            <a:avLst>
              <a:gd name="adj" fmla="val 8000"/>
            </a:avLst>
          </a:prstGeom>
          <a:solidFill>
            <a:srgbClr val="F6F1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464807" y="1911095"/>
            <a:ext cx="4855464"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OUTSIDE THE RANGE</a:t>
            </a:r>
          </a:p>
        </p:txBody>
      </p:sp>
      <mc:AlternateContent xmlns:mc="http://schemas.openxmlformats.org/markup-compatibility/2006">
        <mc:Choice xmlns:a14="http://schemas.microsoft.com/office/drawing/2010/main" Requires="a14">
          <p:sp>
            <p:nvSpPr>
              <p:cNvPr id="13" name="Equation 060" descr="j=2.0\ \mathrm{A\,cm^{-2}}"/>
              <p:cNvSpPr txBox="1"/>
              <p:nvPr/>
            </p:nvSpPr>
            <p:spPr>
              <a:xfrm>
                <a:off x="7622030" y="2433034"/>
                <a:ext cx="2541018" cy="428306"/>
              </a:xfrm>
              <a:prstGeom prst="rect">
                <a:avLst/>
              </a:prstGeom>
              <a:noFill/>
              <a:effectLst/>
            </p:spPr>
            <p:txBody>
              <a:bodyPr wrap="none" lIns="0" tIns="0" rIns="0" bIns="0" anchor="ctr">
                <a:noAutofit/>
              </a:bodyPr>
              <a:lstStyle/>
              <a:p>
                <a:pPr algn="ctr">
                  <a:spcBef>
                    <a:spcPts val="0"/>
                  </a:spcBef>
                  <a:spcAft>
                    <a:spcPts val="0"/>
                  </a:spcAft>
                  <a:defRPr sz="3100">
                    <a:latin typeface="Cambria Math"/>
                  </a:defRPr>
                </a:pPr>
                <a14:m>
                  <m:oMathPara xmlns:m="http://schemas.openxmlformats.org/officeDocument/2006/math">
                    <m:oMathParaPr>
                      <m:jc m:val="center"/>
                    </m:oMathParaPr>
                    <m:oMath xmlns:m="http://schemas.openxmlformats.org/officeDocument/2006/math">
                      <m:r>
                        <a:rPr lang="en-GB" sz="3100">
                          <a:latin typeface="Cambria Math"/>
                        </a:rPr>
                        <m:t>𝑗</m:t>
                      </m:r>
                      <m:r>
                        <a:rPr lang="en-GB" sz="3100" i="0">
                          <a:latin typeface="Cambria Math"/>
                        </a:rPr>
                        <m:t>=</m:t>
                      </m:r>
                      <m:r>
                        <a:rPr lang="en-GB" sz="3100">
                          <a:latin typeface="Cambria Math"/>
                        </a:rPr>
                        <m:t>2.0 </m:t>
                      </m:r>
                      <m:r>
                        <m:rPr>
                          <m:sty m:val="p"/>
                        </m:rPr>
                        <a:rPr lang="en-GB" sz="3100" i="0">
                          <a:latin typeface="Cambria Math"/>
                        </a:rPr>
                        <m:t>A</m:t>
                      </m:r>
                      <m:r>
                        <a:rPr lang="en-GB" sz="3100" i="0">
                          <a:latin typeface="Cambria Math"/>
                        </a:rPr>
                        <m:t> </m:t>
                      </m:r>
                      <m:r>
                        <m:rPr>
                          <m:sty m:val="p"/>
                        </m:rPr>
                        <a:rPr lang="en-GB" sz="3100" i="0">
                          <a:latin typeface="Cambria Math"/>
                        </a:rPr>
                        <m:t>c</m:t>
                      </m:r>
                      <m:sSup>
                        <m:sSupPr>
                          <m:ctrlPr>
                            <a:rPr lang="en-GB" sz="3100" i="1">
                              <a:latin typeface="Cambria Math" panose="02040503050406030204" pitchFamily="18" charset="0"/>
                            </a:rPr>
                          </m:ctrlPr>
                        </m:sSupPr>
                        <m:e>
                          <m:r>
                            <m:rPr>
                              <m:sty m:val="p"/>
                            </m:rPr>
                            <a:rPr lang="en-GB" sz="3100" i="0">
                              <a:latin typeface="Cambria Math"/>
                            </a:rPr>
                            <m:t>m</m:t>
                          </m:r>
                        </m:e>
                        <m:sup>
                          <m:r>
                            <a:rPr lang="en-GB" sz="3100" i="0">
                              <a:latin typeface="Cambria Math"/>
                            </a:rPr>
                            <m:t>−2</m:t>
                          </m:r>
                        </m:sup>
                      </m:sSup>
                    </m:oMath>
                  </m:oMathPara>
                </a14:m>
                <a:endParaRPr/>
              </a:p>
            </p:txBody>
          </p:sp>
        </mc:Choice>
        <mc:Fallback>
          <p:sp>
            <p:nvSpPr>
              <p:cNvPr id="13" name="Equation 060" descr="j=2.0\ \mathrm{A\,cm^{-2}}"/>
              <p:cNvSpPr txBox="1">
                <a:spLocks noRot="1" noChangeAspect="1" noMove="1" noResize="1" noEditPoints="1" noAdjustHandles="1" noChangeArrowheads="1" noChangeShapeType="1" noTextEdit="1"/>
              </p:cNvSpPr>
              <p:nvPr/>
            </p:nvSpPr>
            <p:spPr>
              <a:xfrm>
                <a:off x="7622030" y="2433034"/>
                <a:ext cx="2541018" cy="428306"/>
              </a:xfrm>
              <a:prstGeom prst="rect">
                <a:avLst/>
              </a:prstGeom>
              <a:blipFill>
                <a:blip r:embed="rId4"/>
                <a:stretch>
                  <a:fillRect l="-7463" t="-14286" b="-45714"/>
                </a:stretch>
              </a:blipFill>
              <a:effectLst/>
            </p:spPr>
            <p:txBody>
              <a:bodyPr/>
              <a:lstStyle/>
              <a:p>
                <a:r>
                  <a:rPr lang="zh-CN" altLang="en-US">
                    <a:noFill/>
                  </a:rPr>
                  <a:t> </a:t>
                </a:r>
              </a:p>
            </p:txBody>
          </p:sp>
        </mc:Fallback>
      </mc:AlternateContent>
      <p:sp>
        <p:nvSpPr>
          <p:cNvPr id="14" name="TextBox 13"/>
          <p:cNvSpPr txBox="1"/>
          <p:nvPr/>
        </p:nvSpPr>
        <p:spPr>
          <a:xfrm>
            <a:off x="978408" y="3877056"/>
            <a:ext cx="4608576" cy="92354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18" b="1">
                <a:solidFill>
                  <a:srgbClr val="173042"/>
                </a:solidFill>
                <a:latin typeface="Arial"/>
              </a:rPr>
              <a:t>The formula still returns a number.</a:t>
            </a:r>
          </a:p>
        </p:txBody>
      </p:sp>
      <p:sp>
        <p:nvSpPr>
          <p:cNvPr id="15" name="TextBox 14"/>
          <p:cNvSpPr txBox="1"/>
          <p:nvPr/>
        </p:nvSpPr>
        <p:spPr>
          <a:xfrm>
            <a:off x="6501384" y="3877056"/>
            <a:ext cx="4572000" cy="124358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67" b="1">
                <a:solidFill>
                  <a:srgbClr val="A66835"/>
                </a:solidFill>
                <a:latin typeface="Arial"/>
              </a:rPr>
              <a:t>The evidence may not support that number.</a:t>
            </a:r>
          </a:p>
        </p:txBody>
      </p:sp>
      <p:sp>
        <p:nvSpPr>
          <p:cNvPr id="16" name="Rounded Rectangle 15"/>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Define and enforce the valid input domain during simulation and optimisation.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05 • RELIABILITY AND GOOD PRACTICE</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Audit both physics and numerical behaviour</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52</a:t>
            </a:r>
          </a:p>
        </p:txBody>
      </p:sp>
      <p:sp>
        <p:nvSpPr>
          <p:cNvPr id="8" name="TextBox 7"/>
          <p:cNvSpPr txBox="1"/>
          <p:nvPr/>
        </p:nvSpPr>
        <p:spPr>
          <a:xfrm>
            <a:off x="566928" y="6318504"/>
            <a:ext cx="10469880" cy="137160"/>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900" b="0">
                <a:solidFill>
                  <a:srgbClr val="617481"/>
                </a:solidFill>
                <a:latin typeface="Arial"/>
              </a:rPr>
              <a:t>Protected-operator semantics: gplearn API [2].</a:t>
            </a:r>
          </a:p>
        </p:txBody>
      </p:sp>
      <p:graphicFrame>
        <p:nvGraphicFramePr>
          <p:cNvPr id="9" name="Table 8"/>
          <p:cNvGraphicFramePr>
            <a:graphicFrameLocks noGrp="1"/>
          </p:cNvGraphicFramePr>
          <p:nvPr/>
        </p:nvGraphicFramePr>
        <p:xfrm>
          <a:off x="731520" y="1801368"/>
          <a:ext cx="10725912" cy="3950208"/>
        </p:xfrm>
        <a:graphic>
          <a:graphicData uri="http://schemas.openxmlformats.org/drawingml/2006/table">
            <a:tbl>
              <a:tblPr firstRow="1" bandRow="1">
                <a:tableStyleId>{5C22544A-7EE6-4342-B048-85BDC9FD1C3A}</a:tableStyleId>
              </a:tblPr>
              <a:tblGrid>
                <a:gridCol w="3035808">
                  <a:extLst>
                    <a:ext uri="{9D8B030D-6E8A-4147-A177-3AD203B41FA5}">
                      <a16:colId xmlns:a16="http://schemas.microsoft.com/office/drawing/2014/main" val="20000"/>
                    </a:ext>
                  </a:extLst>
                </a:gridCol>
                <a:gridCol w="7690104">
                  <a:extLst>
                    <a:ext uri="{9D8B030D-6E8A-4147-A177-3AD203B41FA5}">
                      <a16:colId xmlns:a16="http://schemas.microsoft.com/office/drawing/2014/main" val="20001"/>
                    </a:ext>
                  </a:extLst>
                </a:gridCol>
              </a:tblGrid>
              <a:tr h="658368">
                <a:tc>
                  <a:txBody>
                    <a:bodyPr/>
                    <a:lstStyle/>
                    <a:p>
                      <a:pPr>
                        <a:lnSpc>
                          <a:spcPct val="105000"/>
                        </a:lnSpc>
                        <a:spcAft>
                          <a:spcPts val="0"/>
                        </a:spcAft>
                      </a:pPr>
                      <a:r>
                        <a:rPr lang="en-GB" sz="1950" b="1">
                          <a:solidFill>
                            <a:srgbClr val="FFFFFF"/>
                          </a:solidFill>
                          <a:latin typeface="Arial"/>
                        </a:rPr>
                        <a:t>Check</a:t>
                      </a:r>
                    </a:p>
                  </a:txBody>
                  <a:tcPr marL="128016" marR="109728" marT="73152" marB="27432" anchor="ctr">
                    <a:solidFill>
                      <a:srgbClr val="173042"/>
                    </a:solidFill>
                  </a:tcPr>
                </a:tc>
                <a:tc>
                  <a:txBody>
                    <a:bodyPr/>
                    <a:lstStyle/>
                    <a:p>
                      <a:pPr>
                        <a:lnSpc>
                          <a:spcPct val="105000"/>
                        </a:lnSpc>
                        <a:spcAft>
                          <a:spcPts val="0"/>
                        </a:spcAft>
                      </a:pPr>
                      <a:r>
                        <a:rPr lang="en-GB" sz="1950" b="1">
                          <a:solidFill>
                            <a:srgbClr val="FFFFFF"/>
                          </a:solidFill>
                          <a:latin typeface="Arial"/>
                        </a:rPr>
                        <a:t>What can go wrong?</a:t>
                      </a:r>
                    </a:p>
                  </a:txBody>
                  <a:tcPr marL="128016" marR="109728" marT="73152" marB="27432" anchor="ctr">
                    <a:solidFill>
                      <a:srgbClr val="173042"/>
                    </a:solidFill>
                  </a:tcPr>
                </a:tc>
                <a:extLst>
                  <a:ext uri="{0D108BD9-81ED-4DB2-BD59-A6C34878D82A}">
                    <a16:rowId xmlns:a16="http://schemas.microsoft.com/office/drawing/2014/main" val="10000"/>
                  </a:ext>
                </a:extLst>
              </a:tr>
              <a:tr h="658368">
                <a:tc>
                  <a:txBody>
                    <a:bodyPr/>
                    <a:lstStyle/>
                    <a:p>
                      <a:pPr>
                        <a:lnSpc>
                          <a:spcPct val="105000"/>
                        </a:lnSpc>
                        <a:spcAft>
                          <a:spcPts val="0"/>
                        </a:spcAft>
                      </a:pPr>
                      <a:r>
                        <a:rPr lang="en-GB" sz="2000" b="0">
                          <a:solidFill>
                            <a:srgbClr val="173042"/>
                          </a:solidFill>
                          <a:latin typeface="Arial"/>
                        </a:rPr>
                        <a:t>Physical bounds</a:t>
                      </a:r>
                    </a:p>
                  </a:txBody>
                  <a:tcPr marL="128016" marR="109728" marT="73152" marB="27432" anchor="ctr">
                    <a:solidFill>
                      <a:srgbClr val="F6F8FA"/>
                    </a:solidFill>
                  </a:tcPr>
                </a:tc>
                <a:tc>
                  <a:txBody>
                    <a:bodyPr/>
                    <a:lstStyle/>
                    <a:p>
                      <a:pPr>
                        <a:lnSpc>
                          <a:spcPct val="105000"/>
                        </a:lnSpc>
                        <a:spcAft>
                          <a:spcPts val="0"/>
                        </a:spcAft>
                      </a:pPr>
                      <a:r>
                        <a:rPr lang="en-GB" sz="2000" b="0">
                          <a:solidFill>
                            <a:srgbClr val="173042"/>
                          </a:solidFill>
                          <a:latin typeface="Arial"/>
                        </a:rPr>
                        <a:t>Negative efficiencies, impossible conversion or inconsistent flows.</a:t>
                      </a:r>
                    </a:p>
                  </a:txBody>
                  <a:tcPr marL="128016" marR="109728" marT="73152" marB="27432" anchor="ctr">
                    <a:solidFill>
                      <a:srgbClr val="F6F8FA"/>
                    </a:solidFill>
                  </a:tcPr>
                </a:tc>
                <a:extLst>
                  <a:ext uri="{0D108BD9-81ED-4DB2-BD59-A6C34878D82A}">
                    <a16:rowId xmlns:a16="http://schemas.microsoft.com/office/drawing/2014/main" val="10001"/>
                  </a:ext>
                </a:extLst>
              </a:tr>
              <a:tr h="658368">
                <a:tc>
                  <a:txBody>
                    <a:bodyPr/>
                    <a:lstStyle/>
                    <a:p>
                      <a:pPr>
                        <a:lnSpc>
                          <a:spcPct val="105000"/>
                        </a:lnSpc>
                        <a:spcAft>
                          <a:spcPts val="0"/>
                        </a:spcAft>
                      </a:pPr>
                      <a:r>
                        <a:rPr lang="en-GB" sz="2000" b="0">
                          <a:solidFill>
                            <a:srgbClr val="173042"/>
                          </a:solidFill>
                          <a:latin typeface="Arial"/>
                        </a:rPr>
                        <a:t>Conservation</a:t>
                      </a:r>
                    </a:p>
                  </a:txBody>
                  <a:tcPr marL="128016" marR="109728" marT="73152" marB="27432" anchor="ctr">
                    <a:solidFill>
                      <a:srgbClr val="FFFFFF"/>
                    </a:solidFill>
                  </a:tcPr>
                </a:tc>
                <a:tc>
                  <a:txBody>
                    <a:bodyPr/>
                    <a:lstStyle/>
                    <a:p>
                      <a:pPr>
                        <a:lnSpc>
                          <a:spcPct val="105000"/>
                        </a:lnSpc>
                        <a:spcAft>
                          <a:spcPts val="0"/>
                        </a:spcAft>
                      </a:pPr>
                      <a:r>
                        <a:rPr lang="en-GB" sz="2000" b="0">
                          <a:solidFill>
                            <a:srgbClr val="173042"/>
                          </a:solidFill>
                          <a:latin typeface="Arial"/>
                        </a:rPr>
                        <a:t>Independently fitted outputs need not close a balance.</a:t>
                      </a:r>
                    </a:p>
                  </a:txBody>
                  <a:tcPr marL="128016" marR="109728" marT="73152" marB="27432" anchor="ctr">
                    <a:solidFill>
                      <a:srgbClr val="FFFFFF"/>
                    </a:solidFill>
                  </a:tcPr>
                </a:tc>
                <a:extLst>
                  <a:ext uri="{0D108BD9-81ED-4DB2-BD59-A6C34878D82A}">
                    <a16:rowId xmlns:a16="http://schemas.microsoft.com/office/drawing/2014/main" val="10002"/>
                  </a:ext>
                </a:extLst>
              </a:tr>
              <a:tr h="658368">
                <a:tc>
                  <a:txBody>
                    <a:bodyPr/>
                    <a:lstStyle/>
                    <a:p>
                      <a:pPr>
                        <a:lnSpc>
                          <a:spcPct val="105000"/>
                        </a:lnSpc>
                        <a:spcAft>
                          <a:spcPts val="0"/>
                        </a:spcAft>
                      </a:pPr>
                      <a:r>
                        <a:rPr lang="en-GB" sz="2000" b="0">
                          <a:solidFill>
                            <a:srgbClr val="173042"/>
                          </a:solidFill>
                          <a:latin typeface="Arial"/>
                        </a:rPr>
                        <a:t>Mathematical domain</a:t>
                      </a:r>
                    </a:p>
                  </a:txBody>
                  <a:tcPr marL="128016" marR="109728" marT="73152" marB="27432" anchor="ctr">
                    <a:solidFill>
                      <a:srgbClr val="F6F8FA"/>
                    </a:solidFill>
                  </a:tcPr>
                </a:tc>
                <a:tc>
                  <a:txBody>
                    <a:bodyPr/>
                    <a:lstStyle/>
                    <a:p>
                      <a:pPr>
                        <a:lnSpc>
                          <a:spcPct val="105000"/>
                        </a:lnSpc>
                        <a:spcAft>
                          <a:spcPts val="0"/>
                        </a:spcAft>
                      </a:pPr>
                      <a:r>
                        <a:rPr lang="en-GB" sz="2000" b="0">
                          <a:solidFill>
                            <a:srgbClr val="173042"/>
                          </a:solidFill>
                          <a:latin typeface="Arial"/>
                        </a:rPr>
                        <a:t>Near-zero denominators, invalid logarithms or overflow.</a:t>
                      </a:r>
                    </a:p>
                  </a:txBody>
                  <a:tcPr marL="128016" marR="109728" marT="73152" marB="27432" anchor="ctr">
                    <a:solidFill>
                      <a:srgbClr val="F6F8FA"/>
                    </a:solidFill>
                  </a:tcPr>
                </a:tc>
                <a:extLst>
                  <a:ext uri="{0D108BD9-81ED-4DB2-BD59-A6C34878D82A}">
                    <a16:rowId xmlns:a16="http://schemas.microsoft.com/office/drawing/2014/main" val="10003"/>
                  </a:ext>
                </a:extLst>
              </a:tr>
              <a:tr h="658368">
                <a:tc>
                  <a:txBody>
                    <a:bodyPr/>
                    <a:lstStyle/>
                    <a:p>
                      <a:pPr>
                        <a:lnSpc>
                          <a:spcPct val="105000"/>
                        </a:lnSpc>
                        <a:spcAft>
                          <a:spcPts val="0"/>
                        </a:spcAft>
                      </a:pPr>
                      <a:r>
                        <a:rPr lang="en-GB" sz="2000" b="0">
                          <a:solidFill>
                            <a:srgbClr val="173042"/>
                          </a:solidFill>
                          <a:latin typeface="Arial"/>
                        </a:rPr>
                        <a:t>Exported operators</a:t>
                      </a:r>
                    </a:p>
                  </a:txBody>
                  <a:tcPr marL="128016" marR="109728" marT="73152" marB="27432" anchor="ctr">
                    <a:solidFill>
                      <a:srgbClr val="FFFFFF"/>
                    </a:solidFill>
                  </a:tcPr>
                </a:tc>
                <a:tc>
                  <a:txBody>
                    <a:bodyPr/>
                    <a:lstStyle/>
                    <a:p>
                      <a:pPr>
                        <a:lnSpc>
                          <a:spcPct val="105000"/>
                        </a:lnSpc>
                        <a:spcAft>
                          <a:spcPts val="0"/>
                        </a:spcAft>
                      </a:pPr>
                      <a:r>
                        <a:rPr lang="en-GB" sz="2000" b="0">
                          <a:solidFill>
                            <a:srgbClr val="173042"/>
                          </a:solidFill>
                          <a:latin typeface="Arial"/>
                        </a:rPr>
                        <a:t>A protected division is not ordinary division near zero.</a:t>
                      </a:r>
                    </a:p>
                  </a:txBody>
                  <a:tcPr marL="128016" marR="109728" marT="73152" marB="27432" anchor="ctr">
                    <a:solidFill>
                      <a:srgbClr val="FFFFFF"/>
                    </a:solidFill>
                  </a:tcPr>
                </a:tc>
                <a:extLst>
                  <a:ext uri="{0D108BD9-81ED-4DB2-BD59-A6C34878D82A}">
                    <a16:rowId xmlns:a16="http://schemas.microsoft.com/office/drawing/2014/main" val="10004"/>
                  </a:ext>
                </a:extLst>
              </a:tr>
              <a:tr h="658368">
                <a:tc>
                  <a:txBody>
                    <a:bodyPr/>
                    <a:lstStyle/>
                    <a:p>
                      <a:pPr>
                        <a:lnSpc>
                          <a:spcPct val="105000"/>
                        </a:lnSpc>
                        <a:spcAft>
                          <a:spcPts val="0"/>
                        </a:spcAft>
                      </a:pPr>
                      <a:r>
                        <a:rPr lang="en-GB" sz="2000" b="0">
                          <a:solidFill>
                            <a:srgbClr val="173042"/>
                          </a:solidFill>
                          <a:latin typeface="Arial"/>
                        </a:rPr>
                        <a:t>Units and derivatives</a:t>
                      </a:r>
                    </a:p>
                  </a:txBody>
                  <a:tcPr marL="128016" marR="109728" marT="73152" marB="27432" anchor="ctr">
                    <a:solidFill>
                      <a:srgbClr val="F6F8FA"/>
                    </a:solidFill>
                  </a:tcPr>
                </a:tc>
                <a:tc>
                  <a:txBody>
                    <a:bodyPr/>
                    <a:lstStyle/>
                    <a:p>
                      <a:pPr>
                        <a:lnSpc>
                          <a:spcPct val="105000"/>
                        </a:lnSpc>
                        <a:spcAft>
                          <a:spcPts val="0"/>
                        </a:spcAft>
                      </a:pPr>
                      <a:r>
                        <a:rPr lang="en-GB" sz="2000" b="0">
                          <a:solidFill>
                            <a:srgbClr val="173042"/>
                          </a:solidFill>
                          <a:latin typeface="Arial"/>
                        </a:rPr>
                        <a:t>Incorrect scaling, implausible slopes or fragile sensitivities.</a:t>
                      </a:r>
                    </a:p>
                  </a:txBody>
                  <a:tcPr marL="128016" marR="109728" marT="73152" marB="27432" anchor="ctr">
                    <a:solidFill>
                      <a:srgbClr val="F6F8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05 • RELIABILITY AND GOOD PRACTICE</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2912" b="1">
                <a:solidFill>
                  <a:srgbClr val="173042"/>
                </a:solidFill>
                <a:latin typeface="Arial"/>
              </a:rPr>
              <a:t>A static surrogate does not automatically describe dynamics</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53</a:t>
            </a:r>
          </a:p>
        </p:txBody>
      </p:sp>
      <p:sp>
        <p:nvSpPr>
          <p:cNvPr id="8" name="Rounded Rectangle 7"/>
          <p:cNvSpPr/>
          <p:nvPr/>
        </p:nvSpPr>
        <p:spPr>
          <a:xfrm>
            <a:off x="731520" y="1837943"/>
            <a:ext cx="5010912" cy="1335024"/>
          </a:xfrm>
          <a:prstGeom prst="roundRect">
            <a:avLst>
              <a:gd name="adj" fmla="val 8000"/>
            </a:avLst>
          </a:prstGeom>
          <a:solidFill>
            <a:srgbClr val="F6F8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932688" y="1947672"/>
            <a:ext cx="4608576" cy="25603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617481"/>
                </a:solidFill>
                <a:latin typeface="Arial"/>
              </a:rPr>
              <a:t>STATIC INPUT–OUTPUT RELATION</a:t>
            </a:r>
          </a:p>
        </p:txBody>
      </p:sp>
      <mc:AlternateContent xmlns:mc="http://schemas.openxmlformats.org/markup-compatibility/2006">
        <mc:Choice xmlns:a14="http://schemas.microsoft.com/office/drawing/2010/main" Requires="a14">
          <p:sp>
            <p:nvSpPr>
              <p:cNvPr id="10" name="Equation 061" descr="\mathbf{y}=g(\mathbf{x})"/>
              <p:cNvSpPr txBox="1"/>
              <p:nvPr/>
            </p:nvSpPr>
            <p:spPr>
              <a:xfrm>
                <a:off x="2391848" y="2447797"/>
                <a:ext cx="1690255" cy="444500"/>
              </a:xfrm>
              <a:prstGeom prst="rect">
                <a:avLst/>
              </a:prstGeom>
              <a:noFill/>
              <a:effectLst/>
            </p:spPr>
            <p:txBody>
              <a:bodyPr wrap="none" lIns="0" tIns="0" rIns="0" bIns="0" anchor="ctr">
                <a:noAutofit/>
              </a:bodyPr>
              <a:lstStyle/>
              <a:p>
                <a:pPr algn="ctr">
                  <a:spcBef>
                    <a:spcPts val="0"/>
                  </a:spcBef>
                  <a:spcAft>
                    <a:spcPts val="0"/>
                  </a:spcAft>
                  <a:defRPr sz="3500">
                    <a:latin typeface="Cambria Math"/>
                  </a:defRPr>
                </a:pPr>
                <a14:m>
                  <m:oMathPara xmlns:m="http://schemas.openxmlformats.org/officeDocument/2006/math">
                    <m:oMathParaPr>
                      <m:jc m:val="center"/>
                    </m:oMathParaPr>
                    <m:oMath xmlns:m="http://schemas.openxmlformats.org/officeDocument/2006/math">
                      <m:r>
                        <a:rPr lang="en-GB" sz="3500" i="0">
                          <a:latin typeface="Cambria Math"/>
                        </a:rPr>
                        <m:t>𝐲</m:t>
                      </m:r>
                      <m:r>
                        <a:rPr lang="en-GB" sz="3500" i="0">
                          <a:latin typeface="Cambria Math"/>
                        </a:rPr>
                        <m:t>=</m:t>
                      </m:r>
                      <m:r>
                        <a:rPr lang="en-GB" sz="3500">
                          <a:latin typeface="Cambria Math"/>
                        </a:rPr>
                        <m:t>𝑔</m:t>
                      </m:r>
                      <m:d>
                        <m:dPr>
                          <m:ctrlPr>
                            <a:rPr lang="en-GB" sz="3500" i="1">
                              <a:latin typeface="Cambria Math" panose="02040503050406030204" pitchFamily="18" charset="0"/>
                            </a:rPr>
                          </m:ctrlPr>
                        </m:dPr>
                        <m:e>
                          <m:r>
                            <a:rPr lang="en-GB" sz="3500" i="0">
                              <a:latin typeface="Cambria Math"/>
                            </a:rPr>
                            <m:t>𝐱</m:t>
                          </m:r>
                        </m:e>
                      </m:d>
                    </m:oMath>
                  </m:oMathPara>
                </a14:m>
                <a:endParaRPr/>
              </a:p>
            </p:txBody>
          </p:sp>
        </mc:Choice>
        <mc:Fallback>
          <p:sp>
            <p:nvSpPr>
              <p:cNvPr id="10" name="Equation 061" descr="\mathbf{y}=g(\mathbf{x})"/>
              <p:cNvSpPr txBox="1">
                <a:spLocks noRot="1" noChangeAspect="1" noMove="1" noResize="1" noEditPoints="1" noAdjustHandles="1" noChangeArrowheads="1" noChangeShapeType="1" noTextEdit="1"/>
              </p:cNvSpPr>
              <p:nvPr/>
            </p:nvSpPr>
            <p:spPr>
              <a:xfrm>
                <a:off x="2391848" y="2447797"/>
                <a:ext cx="1690255" cy="444500"/>
              </a:xfrm>
              <a:prstGeom prst="rect">
                <a:avLst/>
              </a:prstGeom>
              <a:blipFill>
                <a:blip r:embed="rId3"/>
                <a:stretch>
                  <a:fillRect l="-12687" b="-41667"/>
                </a:stretch>
              </a:blipFill>
              <a:effectLst/>
            </p:spPr>
            <p:txBody>
              <a:bodyPr/>
              <a:lstStyle/>
              <a:p>
                <a:r>
                  <a:rPr lang="zh-CN" altLang="en-US">
                    <a:noFill/>
                  </a:rPr>
                  <a:t> </a:t>
                </a:r>
              </a:p>
            </p:txBody>
          </p:sp>
        </mc:Fallback>
      </mc:AlternateContent>
      <p:sp>
        <p:nvSpPr>
          <p:cNvPr id="11" name="TextBox 10"/>
          <p:cNvSpPr txBox="1"/>
          <p:nvPr/>
        </p:nvSpPr>
        <p:spPr>
          <a:xfrm>
            <a:off x="6473952" y="1965960"/>
            <a:ext cx="4718304" cy="112471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50" b="1">
                <a:solidFill>
                  <a:srgbClr val="173042"/>
                </a:solidFill>
                <a:latin typeface="Arial"/>
              </a:rPr>
              <a:t>The current inputs must be sufficient to specify the output.</a:t>
            </a:r>
          </a:p>
        </p:txBody>
      </p:sp>
      <p:sp>
        <p:nvSpPr>
          <p:cNvPr id="12" name="Rounded Rectangle 11"/>
          <p:cNvSpPr/>
          <p:nvPr/>
        </p:nvSpPr>
        <p:spPr>
          <a:xfrm>
            <a:off x="749808" y="3730752"/>
            <a:ext cx="5010912" cy="1828800"/>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969264" y="3913632"/>
            <a:ext cx="4572000"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HISTORY MATTERS</a:t>
            </a:r>
          </a:p>
        </p:txBody>
      </p:sp>
      <p:sp>
        <p:nvSpPr>
          <p:cNvPr id="14" name="TextBox 13"/>
          <p:cNvSpPr txBox="1"/>
          <p:nvPr/>
        </p:nvSpPr>
        <p:spPr>
          <a:xfrm>
            <a:off x="969264" y="4581144"/>
            <a:ext cx="4572000" cy="832103"/>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A dynamic model needs suitable states, history or evolution equations.</a:t>
            </a:r>
          </a:p>
        </p:txBody>
      </p:sp>
      <p:sp>
        <p:nvSpPr>
          <p:cNvPr id="15" name="Rounded Rectangle 14"/>
          <p:cNvSpPr/>
          <p:nvPr/>
        </p:nvSpPr>
        <p:spPr>
          <a:xfrm>
            <a:off x="6263640" y="3730752"/>
            <a:ext cx="5010912" cy="1828800"/>
          </a:xfrm>
          <a:prstGeom prst="roundRect">
            <a:avLst>
              <a:gd name="adj" fmla="val 8000"/>
            </a:avLst>
          </a:prstGeom>
          <a:solidFill>
            <a:srgbClr val="F6F1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6483096" y="3913632"/>
            <a:ext cx="4572000" cy="54864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100" b="1">
                <a:solidFill>
                  <a:srgbClr val="24777A"/>
                </a:solidFill>
                <a:latin typeface="Arial"/>
              </a:rPr>
              <a:t>MULTIPLE STEADY STATES</a:t>
            </a:r>
          </a:p>
        </p:txBody>
      </p:sp>
      <p:sp>
        <p:nvSpPr>
          <p:cNvPr id="17" name="TextBox 16"/>
          <p:cNvSpPr txBox="1"/>
          <p:nvPr/>
        </p:nvSpPr>
        <p:spPr>
          <a:xfrm>
            <a:off x="6483096" y="4581144"/>
            <a:ext cx="4572000" cy="832103"/>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000" b="0">
                <a:solidFill>
                  <a:srgbClr val="173042"/>
                </a:solidFill>
                <a:latin typeface="Arial"/>
              </a:rPr>
              <a:t>Identify the operating branch; do not average incompatible branches.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05 • RELIABILITY AND GOOD PRACTICE</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A decision-ready surrogate needs more than a good fit</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54</a:t>
            </a:r>
          </a:p>
        </p:txBody>
      </p:sp>
      <p:sp>
        <p:nvSpPr>
          <p:cNvPr id="8" name="Oval 7"/>
          <p:cNvSpPr/>
          <p:nvPr/>
        </p:nvSpPr>
        <p:spPr>
          <a:xfrm>
            <a:off x="749808" y="1920240"/>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749808" y="1924812"/>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1</a:t>
            </a:r>
          </a:p>
        </p:txBody>
      </p:sp>
      <p:sp>
        <p:nvSpPr>
          <p:cNvPr id="10" name="TextBox 9"/>
          <p:cNvSpPr txBox="1"/>
          <p:nvPr/>
        </p:nvSpPr>
        <p:spPr>
          <a:xfrm>
            <a:off x="1344168" y="1920240"/>
            <a:ext cx="2660904" cy="4572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300" b="1">
                <a:solidFill>
                  <a:srgbClr val="173042"/>
                </a:solidFill>
                <a:latin typeface="Arial"/>
              </a:rPr>
              <a:t>Prediction</a:t>
            </a:r>
          </a:p>
        </p:txBody>
      </p:sp>
      <p:sp>
        <p:nvSpPr>
          <p:cNvPr id="11" name="TextBox 10"/>
          <p:cNvSpPr txBox="1"/>
          <p:nvPr/>
        </p:nvSpPr>
        <p:spPr>
          <a:xfrm>
            <a:off x="4215384" y="1920240"/>
            <a:ext cx="7077456" cy="64922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Independent errors meet the intended engineering tolerance.</a:t>
            </a:r>
          </a:p>
        </p:txBody>
      </p:sp>
      <p:sp>
        <p:nvSpPr>
          <p:cNvPr id="12" name="Oval 11"/>
          <p:cNvSpPr/>
          <p:nvPr/>
        </p:nvSpPr>
        <p:spPr>
          <a:xfrm>
            <a:off x="749808" y="2798064"/>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749808" y="2802636"/>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2</a:t>
            </a:r>
          </a:p>
        </p:txBody>
      </p:sp>
      <p:sp>
        <p:nvSpPr>
          <p:cNvPr id="14" name="TextBox 13"/>
          <p:cNvSpPr txBox="1"/>
          <p:nvPr/>
        </p:nvSpPr>
        <p:spPr>
          <a:xfrm>
            <a:off x="1344168" y="2798064"/>
            <a:ext cx="2660904" cy="4572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300" b="1">
                <a:solidFill>
                  <a:srgbClr val="173042"/>
                </a:solidFill>
                <a:latin typeface="Arial"/>
              </a:rPr>
              <a:t>Physics</a:t>
            </a:r>
          </a:p>
        </p:txBody>
      </p:sp>
      <p:sp>
        <p:nvSpPr>
          <p:cNvPr id="15" name="TextBox 14"/>
          <p:cNvSpPr txBox="1"/>
          <p:nvPr/>
        </p:nvSpPr>
        <p:spPr>
          <a:xfrm>
            <a:off x="4215384" y="2798064"/>
            <a:ext cx="7077456" cy="64922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Bounds, balances, units and trends are consistent.</a:t>
            </a:r>
          </a:p>
        </p:txBody>
      </p:sp>
      <p:sp>
        <p:nvSpPr>
          <p:cNvPr id="16" name="Oval 15"/>
          <p:cNvSpPr/>
          <p:nvPr/>
        </p:nvSpPr>
        <p:spPr>
          <a:xfrm>
            <a:off x="749808" y="3675887"/>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749808" y="3680459"/>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3</a:t>
            </a:r>
          </a:p>
        </p:txBody>
      </p:sp>
      <p:sp>
        <p:nvSpPr>
          <p:cNvPr id="18" name="TextBox 17"/>
          <p:cNvSpPr txBox="1"/>
          <p:nvPr/>
        </p:nvSpPr>
        <p:spPr>
          <a:xfrm>
            <a:off x="1344168" y="3675887"/>
            <a:ext cx="2660904" cy="4572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300" b="1">
                <a:solidFill>
                  <a:srgbClr val="173042"/>
                </a:solidFill>
                <a:latin typeface="Arial"/>
              </a:rPr>
              <a:t>Numerics</a:t>
            </a:r>
          </a:p>
        </p:txBody>
      </p:sp>
      <p:sp>
        <p:nvSpPr>
          <p:cNvPr id="19" name="TextBox 18"/>
          <p:cNvSpPr txBox="1"/>
          <p:nvPr/>
        </p:nvSpPr>
        <p:spPr>
          <a:xfrm>
            <a:off x="4215384" y="3675887"/>
            <a:ext cx="7077456" cy="64922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The exported implementation is stable over its valid domain.</a:t>
            </a:r>
          </a:p>
        </p:txBody>
      </p:sp>
      <p:sp>
        <p:nvSpPr>
          <p:cNvPr id="20" name="Oval 19"/>
          <p:cNvSpPr/>
          <p:nvPr/>
        </p:nvSpPr>
        <p:spPr>
          <a:xfrm>
            <a:off x="749808" y="4553712"/>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749808" y="4558284"/>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4</a:t>
            </a:r>
          </a:p>
        </p:txBody>
      </p:sp>
      <p:sp>
        <p:nvSpPr>
          <p:cNvPr id="22" name="TextBox 21"/>
          <p:cNvSpPr txBox="1"/>
          <p:nvPr/>
        </p:nvSpPr>
        <p:spPr>
          <a:xfrm>
            <a:off x="1344168" y="4553712"/>
            <a:ext cx="2660904" cy="4572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300" b="1">
                <a:solidFill>
                  <a:srgbClr val="173042"/>
                </a:solidFill>
                <a:latin typeface="Arial"/>
              </a:rPr>
              <a:t>Decision</a:t>
            </a:r>
          </a:p>
        </p:txBody>
      </p:sp>
      <p:sp>
        <p:nvSpPr>
          <p:cNvPr id="23" name="TextBox 22"/>
          <p:cNvSpPr txBox="1"/>
          <p:nvPr/>
        </p:nvSpPr>
        <p:spPr>
          <a:xfrm>
            <a:off x="4215384" y="4553712"/>
            <a:ext cx="7077456" cy="64922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High-fidelity checks support the recommended operating points.</a:t>
            </a:r>
          </a:p>
        </p:txBody>
      </p:sp>
      <p:sp>
        <p:nvSpPr>
          <p:cNvPr id="24" name="Rounded Rectangle 23"/>
          <p:cNvSpPr/>
          <p:nvPr/>
        </p:nvSpPr>
        <p:spPr>
          <a:xfrm>
            <a:off x="530352" y="5806440"/>
            <a:ext cx="11128248" cy="466344"/>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731520" y="5893307"/>
            <a:ext cx="10725912" cy="33832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50" b="0">
                <a:solidFill>
                  <a:srgbClr val="173042"/>
                </a:solidFill>
                <a:latin typeface="Arial"/>
              </a:rPr>
              <a:t>Record limitations explicitly. Validation is evidence for a defined use—not a universal guarantee.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05 • TAKE-HOME MESSAGE</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The formula is a means; reliable engineering is the goal</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55</a:t>
            </a:r>
          </a:p>
        </p:txBody>
      </p:sp>
      <p:sp>
        <p:nvSpPr>
          <p:cNvPr id="8" name="TextBox 7"/>
          <p:cNvSpPr txBox="1"/>
          <p:nvPr/>
        </p:nvSpPr>
        <p:spPr>
          <a:xfrm>
            <a:off x="859536" y="1984248"/>
            <a:ext cx="4718304" cy="194767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3100" b="1">
                <a:solidFill>
                  <a:srgbClr val="173042"/>
                </a:solidFill>
                <a:latin typeface="Arial"/>
              </a:rPr>
              <a:t>Define the task.</a:t>
            </a:r>
          </a:p>
          <a:p>
            <a:pPr algn="l">
              <a:lnSpc>
                <a:spcPct val="113000"/>
              </a:lnSpc>
              <a:spcBef>
                <a:spcPts val="0"/>
              </a:spcBef>
              <a:spcAft>
                <a:spcPts val="400"/>
              </a:spcAft>
            </a:pPr>
            <a:r>
              <a:rPr lang="en-GB" sz="3100" b="1">
                <a:solidFill>
                  <a:srgbClr val="173042"/>
                </a:solidFill>
                <a:latin typeface="Arial"/>
              </a:rPr>
              <a:t>Design the data.</a:t>
            </a:r>
          </a:p>
          <a:p>
            <a:pPr algn="l">
              <a:lnSpc>
                <a:spcPct val="113000"/>
              </a:lnSpc>
              <a:spcBef>
                <a:spcPts val="0"/>
              </a:spcBef>
              <a:spcAft>
                <a:spcPts val="0"/>
              </a:spcAft>
            </a:pPr>
            <a:r>
              <a:rPr lang="en-GB" sz="3100" b="1">
                <a:solidFill>
                  <a:srgbClr val="173042"/>
                </a:solidFill>
                <a:latin typeface="Arial"/>
              </a:rPr>
              <a:t>Establish a baseline.</a:t>
            </a:r>
          </a:p>
        </p:txBody>
      </p:sp>
      <p:sp>
        <p:nvSpPr>
          <p:cNvPr id="9" name="TextBox 8"/>
          <p:cNvSpPr txBox="1"/>
          <p:nvPr/>
        </p:nvSpPr>
        <p:spPr>
          <a:xfrm>
            <a:off x="6492240" y="1984248"/>
            <a:ext cx="4782312" cy="1947672"/>
          </a:xfrm>
          <a:prstGeom prst="rect">
            <a:avLst/>
          </a:prstGeom>
          <a:noFill/>
          <a:effectLst/>
        </p:spPr>
        <p:txBody>
          <a:bodyPr wrap="square" lIns="0" tIns="0" rIns="0" bIns="0" anchor="t">
            <a:noAutofit/>
          </a:bodyPr>
          <a:lstStyle/>
          <a:p>
            <a:pPr algn="l">
              <a:lnSpc>
                <a:spcPct val="113000"/>
              </a:lnSpc>
              <a:spcBef>
                <a:spcPts val="0"/>
              </a:spcBef>
              <a:spcAft>
                <a:spcPts val="400"/>
              </a:spcAft>
            </a:pPr>
            <a:r>
              <a:rPr lang="en-GB" sz="3100" b="1">
                <a:solidFill>
                  <a:srgbClr val="24777A"/>
                </a:solidFill>
                <a:latin typeface="Arial"/>
              </a:rPr>
              <a:t>Search the expression.</a:t>
            </a:r>
          </a:p>
          <a:p>
            <a:pPr algn="l">
              <a:lnSpc>
                <a:spcPct val="113000"/>
              </a:lnSpc>
              <a:spcBef>
                <a:spcPts val="0"/>
              </a:spcBef>
              <a:spcAft>
                <a:spcPts val="400"/>
              </a:spcAft>
            </a:pPr>
            <a:r>
              <a:rPr lang="en-GB" sz="3100" b="1">
                <a:solidFill>
                  <a:srgbClr val="24777A"/>
                </a:solidFill>
                <a:latin typeface="Arial"/>
              </a:rPr>
              <a:t>Validate the model.</a:t>
            </a:r>
          </a:p>
          <a:p>
            <a:pPr algn="l">
              <a:lnSpc>
                <a:spcPct val="113000"/>
              </a:lnSpc>
              <a:spcBef>
                <a:spcPts val="0"/>
              </a:spcBef>
              <a:spcAft>
                <a:spcPts val="0"/>
              </a:spcAft>
            </a:pPr>
            <a:r>
              <a:rPr lang="en-GB" sz="3100" b="1">
                <a:solidFill>
                  <a:srgbClr val="24777A"/>
                </a:solidFill>
                <a:latin typeface="Arial"/>
              </a:rPr>
              <a:t>Verify the decision.</a:t>
            </a:r>
          </a:p>
        </p:txBody>
      </p:sp>
      <p:sp>
        <p:nvSpPr>
          <p:cNvPr id="10" name="Rounded Rectangle 9"/>
          <p:cNvSpPr/>
          <p:nvPr/>
        </p:nvSpPr>
        <p:spPr>
          <a:xfrm>
            <a:off x="749808" y="4892040"/>
            <a:ext cx="10652760" cy="905256"/>
          </a:xfrm>
          <a:prstGeom prst="roundRect">
            <a:avLst>
              <a:gd name="adj" fmla="val 8000"/>
            </a:avLst>
          </a:prstGeom>
          <a:solidFill>
            <a:srgbClr val="EDF4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987552" y="5029200"/>
            <a:ext cx="10122408" cy="704088"/>
          </a:xfrm>
          <a:prstGeom prst="rect">
            <a:avLst/>
          </a:prstGeom>
          <a:noFill/>
          <a:effectLst/>
        </p:spPr>
        <p:txBody>
          <a:bodyPr wrap="square" lIns="0" tIns="0" rIns="0" bIns="0" anchor="t">
            <a:noAutofit/>
          </a:bodyPr>
          <a:lstStyle/>
          <a:p>
            <a:pPr algn="l">
              <a:lnSpc>
                <a:spcPct val="108000"/>
              </a:lnSpc>
              <a:spcBef>
                <a:spcPts val="0"/>
              </a:spcBef>
              <a:spcAft>
                <a:spcPts val="400"/>
              </a:spcAft>
            </a:pPr>
            <a:r>
              <a:rPr lang="en-GB" sz="2200" b="1">
                <a:solidFill>
                  <a:srgbClr val="173042"/>
                </a:solidFill>
                <a:latin typeface="Arial"/>
              </a:rPr>
              <a:t>Peaks teaches representation.</a:t>
            </a:r>
          </a:p>
          <a:p>
            <a:pPr algn="l">
              <a:lnSpc>
                <a:spcPct val="108000"/>
              </a:lnSpc>
              <a:spcBef>
                <a:spcPts val="0"/>
              </a:spcBef>
              <a:spcAft>
                <a:spcPts val="0"/>
              </a:spcAft>
            </a:pPr>
            <a:r>
              <a:rPr lang="en-GB" sz="2200" b="1">
                <a:solidFill>
                  <a:srgbClr val="173042"/>
                </a:solidFill>
                <a:latin typeface="Arial"/>
              </a:rPr>
              <a:t>Engineering adds conservation, coupling and verified decisions.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06 • CLASSROOM EXERCISES</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Three exercises to consolidate the method</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56</a:t>
            </a:r>
          </a:p>
        </p:txBody>
      </p:sp>
      <p:sp>
        <p:nvSpPr>
          <p:cNvPr id="8" name="Oval 7"/>
          <p:cNvSpPr/>
          <p:nvPr/>
        </p:nvSpPr>
        <p:spPr>
          <a:xfrm>
            <a:off x="731520" y="1819656"/>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731520" y="1824228"/>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1</a:t>
            </a:r>
          </a:p>
        </p:txBody>
      </p:sp>
      <p:sp>
        <p:nvSpPr>
          <p:cNvPr id="10" name="TextBox 9"/>
          <p:cNvSpPr txBox="1"/>
          <p:nvPr/>
        </p:nvSpPr>
        <p:spPr>
          <a:xfrm>
            <a:off x="1335024" y="1819656"/>
            <a:ext cx="9756648" cy="46634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400" b="1">
                <a:solidFill>
                  <a:srgbClr val="173042"/>
                </a:solidFill>
                <a:latin typeface="Arial"/>
              </a:rPr>
              <a:t>Peaks: diagnose the claim</a:t>
            </a:r>
          </a:p>
        </p:txBody>
      </p:sp>
      <p:sp>
        <p:nvSpPr>
          <p:cNvPr id="11" name="TextBox 10"/>
          <p:cNvSpPr txBox="1"/>
          <p:nvPr/>
        </p:nvSpPr>
        <p:spPr>
          <a:xfrm>
            <a:off x="1335024" y="2350008"/>
            <a:ext cx="9756648" cy="6858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Why does near-zero test error here not prove that genetic programming will recover arbitrary functions?</a:t>
            </a:r>
          </a:p>
        </p:txBody>
      </p:sp>
      <p:sp>
        <p:nvSpPr>
          <p:cNvPr id="12" name="Oval 11"/>
          <p:cNvSpPr/>
          <p:nvPr/>
        </p:nvSpPr>
        <p:spPr>
          <a:xfrm>
            <a:off x="731520" y="3154680"/>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731520" y="3159252"/>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2</a:t>
            </a:r>
          </a:p>
        </p:txBody>
      </p:sp>
      <p:sp>
        <p:nvSpPr>
          <p:cNvPr id="14" name="TextBox 13"/>
          <p:cNvSpPr txBox="1"/>
          <p:nvPr/>
        </p:nvSpPr>
        <p:spPr>
          <a:xfrm>
            <a:off x="1335024" y="3154680"/>
            <a:ext cx="9756648" cy="46634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400" b="1">
                <a:solidFill>
                  <a:srgbClr val="173042"/>
                </a:solidFill>
                <a:latin typeface="Arial"/>
              </a:rPr>
              <a:t>Electrolysis: relax an assumption</a:t>
            </a:r>
          </a:p>
        </p:txBody>
      </p:sp>
      <p:sp>
        <p:nvSpPr>
          <p:cNvPr id="15" name="TextBox 14"/>
          <p:cNvSpPr txBox="1"/>
          <p:nvPr/>
        </p:nvSpPr>
        <p:spPr>
          <a:xfrm>
            <a:off x="1335024" y="3685032"/>
            <a:ext cx="9756648" cy="6858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Would doubling current density still halve required area if Faradaic efficiency changed?</a:t>
            </a:r>
          </a:p>
        </p:txBody>
      </p:sp>
      <p:sp>
        <p:nvSpPr>
          <p:cNvPr id="16" name="Oval 15"/>
          <p:cNvSpPr/>
          <p:nvPr/>
        </p:nvSpPr>
        <p:spPr>
          <a:xfrm>
            <a:off x="731520" y="4489704"/>
            <a:ext cx="384048" cy="384048"/>
          </a:xfrm>
          <a:prstGeom prst="ellipse">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731520" y="4494276"/>
            <a:ext cx="384048" cy="338328"/>
          </a:xfrm>
          <a:prstGeom prst="rect">
            <a:avLst/>
          </a:prstGeom>
          <a:noFill/>
          <a:effectLst/>
        </p:spPr>
        <p:txBody>
          <a:bodyPr wrap="square" lIns="0" tIns="0" rIns="0" bIns="0" anchor="ctr">
            <a:noAutofit/>
          </a:bodyPr>
          <a:lstStyle/>
          <a:p>
            <a:pPr algn="ctr">
              <a:lnSpc>
                <a:spcPct val="113000"/>
              </a:lnSpc>
              <a:spcBef>
                <a:spcPts val="0"/>
              </a:spcBef>
              <a:spcAft>
                <a:spcPts val="0"/>
              </a:spcAft>
            </a:pPr>
            <a:r>
              <a:rPr lang="en-GB" sz="1600" b="1">
                <a:solidFill>
                  <a:srgbClr val="FFFFFF"/>
                </a:solidFill>
                <a:latin typeface="Arial"/>
              </a:rPr>
              <a:t>3</a:t>
            </a:r>
          </a:p>
        </p:txBody>
      </p:sp>
      <p:sp>
        <p:nvSpPr>
          <p:cNvPr id="18" name="TextBox 17"/>
          <p:cNvSpPr txBox="1"/>
          <p:nvPr/>
        </p:nvSpPr>
        <p:spPr>
          <a:xfrm>
            <a:off x="1335024" y="4489704"/>
            <a:ext cx="9756648" cy="46634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400" b="1">
                <a:solidFill>
                  <a:srgbClr val="173042"/>
                </a:solidFill>
                <a:latin typeface="Arial"/>
              </a:rPr>
              <a:t>Recycle: calculate and interpret</a:t>
            </a:r>
          </a:p>
        </p:txBody>
      </p:sp>
      <p:sp>
        <p:nvSpPr>
          <p:cNvPr id="19" name="TextBox 18"/>
          <p:cNvSpPr txBox="1"/>
          <p:nvPr/>
        </p:nvSpPr>
        <p:spPr>
          <a:xfrm>
            <a:off x="1335024" y="5020056"/>
            <a:ext cx="9756648" cy="6858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At X = 0.30 and φ = 0.02, calculate overall conversion and the inlet-to-fresh CO₂ ratio.</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06 • REPRODUCIBILITY</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Reproduce the numerical examples independently</a:t>
            </a:r>
          </a:p>
        </p:txBody>
      </p:sp>
      <p:cxnSp>
        <p:nvCxnSpPr>
          <p:cNvPr id="5" name="Connector 4"/>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7" name="TextBox 6"/>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57</a:t>
            </a:r>
          </a:p>
        </p:txBody>
      </p:sp>
      <p:sp>
        <p:nvSpPr>
          <p:cNvPr id="8" name="TextBox 7"/>
          <p:cNvSpPr txBox="1"/>
          <p:nvPr/>
        </p:nvSpPr>
        <p:spPr>
          <a:xfrm>
            <a:off x="822960" y="1828800"/>
            <a:ext cx="10579608" cy="4572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500" b="1">
                <a:solidFill>
                  <a:srgbClr val="173042"/>
                </a:solidFill>
                <a:latin typeface="Arial"/>
              </a:rPr>
              <a:t>Script: symbolic_regression_tutorial.py</a:t>
            </a:r>
          </a:p>
        </p:txBody>
      </p:sp>
      <p:sp>
        <p:nvSpPr>
          <p:cNvPr id="9" name="Rounded Rectangle 8"/>
          <p:cNvSpPr/>
          <p:nvPr/>
        </p:nvSpPr>
        <p:spPr>
          <a:xfrm>
            <a:off x="768096" y="2660904"/>
            <a:ext cx="10634472" cy="932688"/>
          </a:xfrm>
          <a:prstGeom prst="roundRect">
            <a:avLst>
              <a:gd name="adj" fmla="val 8000"/>
            </a:avLst>
          </a:prstGeom>
          <a:solidFill>
            <a:srgbClr val="1730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987552" y="2944368"/>
            <a:ext cx="10168128" cy="374904"/>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800" b="0">
                <a:solidFill>
                  <a:srgbClr val="FFFFFF"/>
                </a:solidFill>
                <a:latin typeface="DejaVu Sans Mono"/>
              </a:rPr>
              <a:t>python symbolic_regression_tutorial.py --plot --out outputs</a:t>
            </a:r>
          </a:p>
        </p:txBody>
      </p:sp>
      <p:sp>
        <p:nvSpPr>
          <p:cNvPr id="11" name="TextBox 10"/>
          <p:cNvSpPr txBox="1"/>
          <p:nvPr/>
        </p:nvSpPr>
        <p:spPr>
          <a:xfrm>
            <a:off x="841248" y="4169663"/>
            <a:ext cx="3145536" cy="3931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24777A"/>
                </a:solidFill>
                <a:latin typeface="Arial"/>
              </a:rPr>
              <a:t>Requirements</a:t>
            </a:r>
          </a:p>
        </p:txBody>
      </p:sp>
      <p:sp>
        <p:nvSpPr>
          <p:cNvPr id="12" name="TextBox 11"/>
          <p:cNvSpPr txBox="1"/>
          <p:nvPr/>
        </p:nvSpPr>
        <p:spPr>
          <a:xfrm>
            <a:off x="3739896" y="4169663"/>
            <a:ext cx="7452360" cy="630936"/>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Python, NumPy and SciPy; Matplotlib for the plots.</a:t>
            </a:r>
          </a:p>
        </p:txBody>
      </p:sp>
      <p:sp>
        <p:nvSpPr>
          <p:cNvPr id="13" name="TextBox 12"/>
          <p:cNvSpPr txBox="1"/>
          <p:nvPr/>
        </p:nvSpPr>
        <p:spPr>
          <a:xfrm>
            <a:off x="841248" y="5148072"/>
            <a:ext cx="3145536" cy="3931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1">
                <a:solidFill>
                  <a:srgbClr val="24777A"/>
                </a:solidFill>
                <a:latin typeface="Arial"/>
              </a:rPr>
              <a:t>What it runs</a:t>
            </a:r>
          </a:p>
        </p:txBody>
      </p:sp>
      <p:sp>
        <p:nvSpPr>
          <p:cNvPr id="14" name="TextBox 13"/>
          <p:cNvSpPr txBox="1"/>
          <p:nvPr/>
        </p:nvSpPr>
        <p:spPr>
          <a:xfrm>
            <a:off x="3739896" y="5148072"/>
            <a:ext cx="7452360" cy="7498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2200" b="0">
                <a:solidFill>
                  <a:srgbClr val="173042"/>
                </a:solidFill>
                <a:latin typeface="Arial"/>
              </a:rPr>
              <a:t>Restricted-library Peaks regression and the specified chemical teaching calculations.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07 • SOURCES AND FURTHER READING</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References 1 of 2</a:t>
            </a:r>
          </a:p>
        </p:txBody>
      </p:sp>
      <p:sp>
        <p:nvSpPr>
          <p:cNvPr id="5" name="TextBox 4"/>
          <p:cNvSpPr txBox="1"/>
          <p:nvPr/>
        </p:nvSpPr>
        <p:spPr>
          <a:xfrm>
            <a:off x="548640" y="1280160"/>
            <a:ext cx="10972800" cy="4572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750" b="0">
                <a:solidFill>
                  <a:srgbClr val="617481"/>
                </a:solidFill>
                <a:latin typeface="Arial"/>
              </a:rPr>
              <a:t>Primary papers and official documentation; source numbers appear on relevant slides.</a:t>
            </a:r>
          </a:p>
        </p:txBody>
      </p:sp>
      <p:cxnSp>
        <p:nvCxnSpPr>
          <p:cNvPr id="6" name="Connector 5"/>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8" name="TextBox 7"/>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58</a:t>
            </a:r>
          </a:p>
        </p:txBody>
      </p:sp>
      <p:sp>
        <p:nvSpPr>
          <p:cNvPr id="9" name="TextBox 8"/>
          <p:cNvSpPr txBox="1"/>
          <p:nvPr/>
        </p:nvSpPr>
        <p:spPr>
          <a:xfrm>
            <a:off x="667512" y="1773936"/>
            <a:ext cx="493776"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24777A"/>
                </a:solidFill>
                <a:latin typeface="Arial"/>
              </a:rPr>
              <a:t>[1]</a:t>
            </a:r>
          </a:p>
        </p:txBody>
      </p:sp>
      <p:sp>
        <p:nvSpPr>
          <p:cNvPr id="10" name="TextBox 9"/>
          <p:cNvSpPr txBox="1"/>
          <p:nvPr/>
        </p:nvSpPr>
        <p:spPr>
          <a:xfrm>
            <a:off x="1234440" y="1773936"/>
            <a:ext cx="10085832" cy="521207"/>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1570" b="0">
                <a:solidFill>
                  <a:srgbClr val="173042"/>
                </a:solidFill>
                <a:latin typeface="Arial"/>
              </a:rPr>
              <a:t>Cranmer, M. (2023). Interpretable Machine Learning for Science with PySR and SymbolicRegression.jl. arXiv:2305.01582.</a:t>
            </a:r>
          </a:p>
        </p:txBody>
      </p:sp>
      <p:sp>
        <p:nvSpPr>
          <p:cNvPr id="11" name="TextBox 10"/>
          <p:cNvSpPr txBox="1"/>
          <p:nvPr/>
        </p:nvSpPr>
        <p:spPr>
          <a:xfrm>
            <a:off x="1234440" y="2304288"/>
            <a:ext cx="10085832" cy="237744"/>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1220" b="0">
                <a:solidFill>
                  <a:srgbClr val="24777A"/>
                </a:solidFill>
                <a:latin typeface="Arial"/>
                <a:hlinkClick r:id="rId3"/>
              </a:rPr>
              <a:t>https://arxiv.org/abs/2305.01582</a:t>
            </a:r>
          </a:p>
        </p:txBody>
      </p:sp>
      <p:cxnSp>
        <p:nvCxnSpPr>
          <p:cNvPr id="12" name="Connector 11"/>
          <p:cNvCxnSpPr/>
          <p:nvPr/>
        </p:nvCxnSpPr>
        <p:spPr>
          <a:xfrm>
            <a:off x="1234440" y="2569464"/>
            <a:ext cx="10104120" cy="0"/>
          </a:xfrm>
          <a:prstGeom prst="line">
            <a:avLst/>
          </a:prstGeom>
          <a:ln w="6350">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67512" y="2633472"/>
            <a:ext cx="493776"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24777A"/>
                </a:solidFill>
                <a:latin typeface="Arial"/>
              </a:rPr>
              <a:t>[2]</a:t>
            </a:r>
          </a:p>
        </p:txBody>
      </p:sp>
      <p:sp>
        <p:nvSpPr>
          <p:cNvPr id="14" name="TextBox 13"/>
          <p:cNvSpPr txBox="1"/>
          <p:nvPr/>
        </p:nvSpPr>
        <p:spPr>
          <a:xfrm>
            <a:off x="1234440" y="2633472"/>
            <a:ext cx="10085832" cy="521207"/>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1570" b="0">
                <a:solidFill>
                  <a:srgbClr val="173042"/>
                </a:solidFill>
                <a:latin typeface="Arial"/>
              </a:rPr>
              <a:t>gplearn documentation. Introduction to Genetic Programming; API reference (protected operators).</a:t>
            </a:r>
          </a:p>
        </p:txBody>
      </p:sp>
      <p:sp>
        <p:nvSpPr>
          <p:cNvPr id="15" name="TextBox 14"/>
          <p:cNvSpPr txBox="1"/>
          <p:nvPr/>
        </p:nvSpPr>
        <p:spPr>
          <a:xfrm>
            <a:off x="1234440" y="3163824"/>
            <a:ext cx="10085832" cy="237744"/>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1220" b="0">
                <a:solidFill>
                  <a:srgbClr val="24777A"/>
                </a:solidFill>
                <a:latin typeface="Arial"/>
                <a:hlinkClick r:id="rId4"/>
              </a:rPr>
              <a:t>https://gplearn.readthedocs.io/en/stable/intro.html</a:t>
            </a:r>
          </a:p>
        </p:txBody>
      </p:sp>
      <p:cxnSp>
        <p:nvCxnSpPr>
          <p:cNvPr id="16" name="Connector 15"/>
          <p:cNvCxnSpPr/>
          <p:nvPr/>
        </p:nvCxnSpPr>
        <p:spPr>
          <a:xfrm>
            <a:off x="1234440" y="3429000"/>
            <a:ext cx="10104120" cy="0"/>
          </a:xfrm>
          <a:prstGeom prst="line">
            <a:avLst/>
          </a:prstGeom>
          <a:ln w="6350">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667512" y="3493008"/>
            <a:ext cx="493776"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24777A"/>
                </a:solidFill>
                <a:latin typeface="Arial"/>
              </a:rPr>
              <a:t>[3]</a:t>
            </a:r>
          </a:p>
        </p:txBody>
      </p:sp>
      <p:sp>
        <p:nvSpPr>
          <p:cNvPr id="18" name="TextBox 17"/>
          <p:cNvSpPr txBox="1"/>
          <p:nvPr/>
        </p:nvSpPr>
        <p:spPr>
          <a:xfrm>
            <a:off x="1234440" y="3493008"/>
            <a:ext cx="10085832" cy="521207"/>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1570" b="0">
                <a:solidFill>
                  <a:srgbClr val="173042"/>
                </a:solidFill>
                <a:latin typeface="Arial"/>
              </a:rPr>
              <a:t>Brunton, S. L., Proctor, J. L. &amp; Kutz, J. N. (2016). Discovering governing equations from data by sparse identification of nonlinear dynamical systems. PNAS 113, 3932–3937.</a:t>
            </a:r>
          </a:p>
        </p:txBody>
      </p:sp>
      <p:sp>
        <p:nvSpPr>
          <p:cNvPr id="19" name="TextBox 18"/>
          <p:cNvSpPr txBox="1"/>
          <p:nvPr/>
        </p:nvSpPr>
        <p:spPr>
          <a:xfrm>
            <a:off x="1234440" y="4023359"/>
            <a:ext cx="10085832" cy="237744"/>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1220" b="0">
                <a:solidFill>
                  <a:srgbClr val="24777A"/>
                </a:solidFill>
                <a:latin typeface="Arial"/>
                <a:hlinkClick r:id="rId5"/>
              </a:rPr>
              <a:t>https://doi.org/10.1073/pnas.1517384113</a:t>
            </a:r>
          </a:p>
        </p:txBody>
      </p:sp>
      <p:cxnSp>
        <p:nvCxnSpPr>
          <p:cNvPr id="20" name="Connector 19"/>
          <p:cNvCxnSpPr/>
          <p:nvPr/>
        </p:nvCxnSpPr>
        <p:spPr>
          <a:xfrm>
            <a:off x="1234440" y="4288536"/>
            <a:ext cx="10104120" cy="0"/>
          </a:xfrm>
          <a:prstGeom prst="line">
            <a:avLst/>
          </a:prstGeom>
          <a:ln w="6350">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667512" y="4352544"/>
            <a:ext cx="493776"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24777A"/>
                </a:solidFill>
                <a:latin typeface="Arial"/>
              </a:rPr>
              <a:t>[4]</a:t>
            </a:r>
          </a:p>
        </p:txBody>
      </p:sp>
      <p:sp>
        <p:nvSpPr>
          <p:cNvPr id="22" name="TextBox 21"/>
          <p:cNvSpPr txBox="1"/>
          <p:nvPr/>
        </p:nvSpPr>
        <p:spPr>
          <a:xfrm>
            <a:off x="1234440" y="4352544"/>
            <a:ext cx="10085832" cy="521207"/>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1570" b="0">
                <a:solidFill>
                  <a:srgbClr val="173042"/>
                </a:solidFill>
                <a:latin typeface="Arial"/>
              </a:rPr>
              <a:t>MathWorks. MATLAB documentation: peaks — Peaks function.</a:t>
            </a:r>
          </a:p>
        </p:txBody>
      </p:sp>
      <p:sp>
        <p:nvSpPr>
          <p:cNvPr id="23" name="TextBox 22"/>
          <p:cNvSpPr txBox="1"/>
          <p:nvPr/>
        </p:nvSpPr>
        <p:spPr>
          <a:xfrm>
            <a:off x="1234440" y="4882896"/>
            <a:ext cx="10085832" cy="237744"/>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1220" b="0">
                <a:solidFill>
                  <a:srgbClr val="24777A"/>
                </a:solidFill>
                <a:latin typeface="Arial"/>
                <a:hlinkClick r:id="rId6"/>
              </a:rPr>
              <a:t>https://www.mathworks.com/help/matlab/ref/peaks.html</a:t>
            </a:r>
          </a:p>
        </p:txBody>
      </p:sp>
      <p:cxnSp>
        <p:nvCxnSpPr>
          <p:cNvPr id="24" name="Connector 23"/>
          <p:cNvCxnSpPr/>
          <p:nvPr/>
        </p:nvCxnSpPr>
        <p:spPr>
          <a:xfrm>
            <a:off x="1234440" y="5148072"/>
            <a:ext cx="10104120" cy="0"/>
          </a:xfrm>
          <a:prstGeom prst="line">
            <a:avLst/>
          </a:prstGeom>
          <a:ln w="6350">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667512" y="5212079"/>
            <a:ext cx="493776"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24777A"/>
                </a:solidFill>
                <a:latin typeface="Arial"/>
              </a:rPr>
              <a:t>[5]</a:t>
            </a:r>
          </a:p>
        </p:txBody>
      </p:sp>
      <p:sp>
        <p:nvSpPr>
          <p:cNvPr id="26" name="TextBox 25"/>
          <p:cNvSpPr txBox="1"/>
          <p:nvPr/>
        </p:nvSpPr>
        <p:spPr>
          <a:xfrm>
            <a:off x="1234440" y="5212079"/>
            <a:ext cx="10085832" cy="521207"/>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1570" b="0">
                <a:solidFill>
                  <a:srgbClr val="173042"/>
                </a:solidFill>
                <a:latin typeface="Arial"/>
              </a:rPr>
              <a:t>SciPy documentation. scipy.stats.qmc.LatinHypercube.</a:t>
            </a:r>
          </a:p>
        </p:txBody>
      </p:sp>
      <p:sp>
        <p:nvSpPr>
          <p:cNvPr id="27" name="TextBox 26"/>
          <p:cNvSpPr txBox="1"/>
          <p:nvPr/>
        </p:nvSpPr>
        <p:spPr>
          <a:xfrm>
            <a:off x="1234440" y="5742431"/>
            <a:ext cx="10085832" cy="237744"/>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1220" b="0">
                <a:solidFill>
                  <a:srgbClr val="24777A"/>
                </a:solidFill>
                <a:latin typeface="Arial"/>
                <a:hlinkClick r:id="rId7"/>
              </a:rPr>
              <a:t>https://docs.scipy.org/doc/scipy/reference/generated/scipy.stats.qmc.LatinHypercube.html</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59436"/>
          </a:xfrm>
          <a:prstGeom prst="rect">
            <a:avLst/>
          </a:prstGeom>
          <a:solidFill>
            <a:srgbClr val="24777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30352" y="228600"/>
            <a:ext cx="10789920" cy="2286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150" b="1">
                <a:solidFill>
                  <a:srgbClr val="24777A"/>
                </a:solidFill>
                <a:latin typeface="Arial"/>
              </a:rPr>
              <a:t>07 • SOURCES AND FURTHER READING</a:t>
            </a:r>
          </a:p>
        </p:txBody>
      </p:sp>
      <p:sp>
        <p:nvSpPr>
          <p:cNvPr id="4" name="TextBox 3"/>
          <p:cNvSpPr txBox="1"/>
          <p:nvPr/>
        </p:nvSpPr>
        <p:spPr>
          <a:xfrm>
            <a:off x="530352" y="621792"/>
            <a:ext cx="11119104" cy="612648"/>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3150" b="1">
                <a:solidFill>
                  <a:srgbClr val="173042"/>
                </a:solidFill>
                <a:latin typeface="Arial"/>
              </a:rPr>
              <a:t>References 2 of 2</a:t>
            </a:r>
          </a:p>
        </p:txBody>
      </p:sp>
      <p:sp>
        <p:nvSpPr>
          <p:cNvPr id="5" name="TextBox 4"/>
          <p:cNvSpPr txBox="1"/>
          <p:nvPr/>
        </p:nvSpPr>
        <p:spPr>
          <a:xfrm>
            <a:off x="548640" y="1280160"/>
            <a:ext cx="10972800" cy="457200"/>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750" b="0">
                <a:solidFill>
                  <a:srgbClr val="617481"/>
                </a:solidFill>
                <a:latin typeface="Arial"/>
              </a:rPr>
              <a:t>Primary papers and official documentation; source numbers appear on relevant slides.</a:t>
            </a:r>
          </a:p>
        </p:txBody>
      </p:sp>
      <p:cxnSp>
        <p:nvCxnSpPr>
          <p:cNvPr id="6" name="Connector 5"/>
          <p:cNvCxnSpPr/>
          <p:nvPr/>
        </p:nvCxnSpPr>
        <p:spPr>
          <a:xfrm>
            <a:off x="530352" y="6428232"/>
            <a:ext cx="11137392" cy="0"/>
          </a:xfrm>
          <a:prstGeom prst="line">
            <a:avLst/>
          </a:prstGeom>
          <a:ln w="8255">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37960"/>
            <a:ext cx="6858000" cy="164592"/>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950" b="0">
                <a:solidFill>
                  <a:srgbClr val="617481"/>
                </a:solidFill>
                <a:latin typeface="Arial"/>
              </a:rPr>
              <a:t>SYMBOLIC REGRESSION  /  CHEMICAL ENGINEERING</a:t>
            </a:r>
          </a:p>
        </p:txBody>
      </p:sp>
      <p:sp>
        <p:nvSpPr>
          <p:cNvPr id="8" name="TextBox 7"/>
          <p:cNvSpPr txBox="1"/>
          <p:nvPr/>
        </p:nvSpPr>
        <p:spPr>
          <a:xfrm>
            <a:off x="10972800" y="6492240"/>
            <a:ext cx="676656" cy="274320"/>
          </a:xfrm>
          <a:prstGeom prst="rect">
            <a:avLst/>
          </a:prstGeom>
          <a:noFill/>
          <a:effectLst/>
        </p:spPr>
        <p:txBody>
          <a:bodyPr wrap="square" lIns="0" tIns="0" rIns="0" bIns="0" anchor="t">
            <a:noAutofit/>
          </a:bodyPr>
          <a:lstStyle/>
          <a:p>
            <a:pPr algn="r">
              <a:lnSpc>
                <a:spcPct val="113000"/>
              </a:lnSpc>
              <a:spcBef>
                <a:spcPts val="0"/>
              </a:spcBef>
              <a:spcAft>
                <a:spcPts val="0"/>
              </a:spcAft>
            </a:pPr>
            <a:r>
              <a:rPr lang="en-GB" sz="1200" b="1">
                <a:solidFill>
                  <a:srgbClr val="24777A"/>
                </a:solidFill>
                <a:latin typeface="Arial"/>
              </a:rPr>
              <a:t>59</a:t>
            </a:r>
          </a:p>
        </p:txBody>
      </p:sp>
      <p:sp>
        <p:nvSpPr>
          <p:cNvPr id="9" name="TextBox 8"/>
          <p:cNvSpPr txBox="1"/>
          <p:nvPr/>
        </p:nvSpPr>
        <p:spPr>
          <a:xfrm>
            <a:off x="667512" y="1773936"/>
            <a:ext cx="493776"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24777A"/>
                </a:solidFill>
                <a:latin typeface="Arial"/>
              </a:rPr>
              <a:t>[6]</a:t>
            </a:r>
          </a:p>
        </p:txBody>
      </p:sp>
      <p:sp>
        <p:nvSpPr>
          <p:cNvPr id="10" name="TextBox 9"/>
          <p:cNvSpPr txBox="1"/>
          <p:nvPr/>
        </p:nvSpPr>
        <p:spPr>
          <a:xfrm>
            <a:off x="1234440" y="1773936"/>
            <a:ext cx="10085832" cy="521207"/>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1570" b="0">
                <a:solidFill>
                  <a:srgbClr val="173042"/>
                </a:solidFill>
                <a:latin typeface="Arial"/>
              </a:rPr>
              <a:t>scikit-learn documentation. Common pitfalls and recommended practices: preprocessing and data leakage.</a:t>
            </a:r>
          </a:p>
        </p:txBody>
      </p:sp>
      <p:sp>
        <p:nvSpPr>
          <p:cNvPr id="11" name="TextBox 10"/>
          <p:cNvSpPr txBox="1"/>
          <p:nvPr/>
        </p:nvSpPr>
        <p:spPr>
          <a:xfrm>
            <a:off x="1234440" y="2304288"/>
            <a:ext cx="10085832" cy="237744"/>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1220" b="0">
                <a:solidFill>
                  <a:srgbClr val="24777A"/>
                </a:solidFill>
                <a:latin typeface="Arial"/>
                <a:hlinkClick r:id="rId3"/>
              </a:rPr>
              <a:t>https://scikit-learn.org/stable/common_pitfalls.html</a:t>
            </a:r>
          </a:p>
        </p:txBody>
      </p:sp>
      <p:cxnSp>
        <p:nvCxnSpPr>
          <p:cNvPr id="12" name="Connector 11"/>
          <p:cNvCxnSpPr/>
          <p:nvPr/>
        </p:nvCxnSpPr>
        <p:spPr>
          <a:xfrm>
            <a:off x="1234440" y="2569464"/>
            <a:ext cx="10104120" cy="0"/>
          </a:xfrm>
          <a:prstGeom prst="line">
            <a:avLst/>
          </a:prstGeom>
          <a:ln w="6350">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67512" y="2633472"/>
            <a:ext cx="493776"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24777A"/>
                </a:solidFill>
                <a:latin typeface="Arial"/>
              </a:rPr>
              <a:t>[7]</a:t>
            </a:r>
          </a:p>
        </p:txBody>
      </p:sp>
      <p:sp>
        <p:nvSpPr>
          <p:cNvPr id="14" name="TextBox 13"/>
          <p:cNvSpPr txBox="1"/>
          <p:nvPr/>
        </p:nvSpPr>
        <p:spPr>
          <a:xfrm>
            <a:off x="1234440" y="2633472"/>
            <a:ext cx="10085832" cy="521207"/>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1570" b="0">
                <a:solidFill>
                  <a:srgbClr val="173042"/>
                </a:solidFill>
                <a:latin typeface="Arial"/>
              </a:rPr>
              <a:t>Tenachi, W., Ibata, R. &amp; Diakogiannis, F. I. (2023). Deep symbolic regression for physics guided by units constraints: toward the automated discovery of physical laws. ApJ 959, 99.</a:t>
            </a:r>
          </a:p>
        </p:txBody>
      </p:sp>
      <p:sp>
        <p:nvSpPr>
          <p:cNvPr id="15" name="TextBox 14"/>
          <p:cNvSpPr txBox="1"/>
          <p:nvPr/>
        </p:nvSpPr>
        <p:spPr>
          <a:xfrm>
            <a:off x="1234440" y="3163824"/>
            <a:ext cx="10085832" cy="237744"/>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1220" b="0">
                <a:solidFill>
                  <a:srgbClr val="24777A"/>
                </a:solidFill>
                <a:latin typeface="Arial"/>
                <a:hlinkClick r:id="rId4"/>
              </a:rPr>
              <a:t>https://doi.org/10.3847/1538-4357/ad014c</a:t>
            </a:r>
          </a:p>
        </p:txBody>
      </p:sp>
      <p:cxnSp>
        <p:nvCxnSpPr>
          <p:cNvPr id="16" name="Connector 15"/>
          <p:cNvCxnSpPr/>
          <p:nvPr/>
        </p:nvCxnSpPr>
        <p:spPr>
          <a:xfrm>
            <a:off x="1234440" y="3429000"/>
            <a:ext cx="10104120" cy="0"/>
          </a:xfrm>
          <a:prstGeom prst="line">
            <a:avLst/>
          </a:prstGeom>
          <a:ln w="6350">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667512" y="3493008"/>
            <a:ext cx="493776"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24777A"/>
                </a:solidFill>
                <a:latin typeface="Arial"/>
              </a:rPr>
              <a:t>[8]</a:t>
            </a:r>
          </a:p>
        </p:txBody>
      </p:sp>
      <p:sp>
        <p:nvSpPr>
          <p:cNvPr id="18" name="TextBox 17"/>
          <p:cNvSpPr txBox="1"/>
          <p:nvPr/>
        </p:nvSpPr>
        <p:spPr>
          <a:xfrm>
            <a:off x="1234440" y="3493008"/>
            <a:ext cx="10085832" cy="521207"/>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1570" b="0">
                <a:solidFill>
                  <a:srgbClr val="173042"/>
                </a:solidFill>
                <a:latin typeface="Arial"/>
              </a:rPr>
              <a:t>IDAES documentation. ALAMOPY: ALAMO Python — algebraic surrogate modelling.</a:t>
            </a:r>
          </a:p>
        </p:txBody>
      </p:sp>
      <p:sp>
        <p:nvSpPr>
          <p:cNvPr id="19" name="TextBox 18"/>
          <p:cNvSpPr txBox="1"/>
          <p:nvPr/>
        </p:nvSpPr>
        <p:spPr>
          <a:xfrm>
            <a:off x="1234440" y="4023359"/>
            <a:ext cx="10085832" cy="237744"/>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1220" b="0">
                <a:solidFill>
                  <a:srgbClr val="24777A"/>
                </a:solidFill>
                <a:latin typeface="Arial"/>
                <a:hlinkClick r:id="rId5"/>
              </a:rPr>
              <a:t>https://idaes-pse.readthedocs.io/en/stable/explanations/modeling_extensions/surrogate/api/alamopy/index.html</a:t>
            </a:r>
          </a:p>
        </p:txBody>
      </p:sp>
      <p:cxnSp>
        <p:nvCxnSpPr>
          <p:cNvPr id="20" name="Connector 19"/>
          <p:cNvCxnSpPr/>
          <p:nvPr/>
        </p:nvCxnSpPr>
        <p:spPr>
          <a:xfrm>
            <a:off x="1234440" y="4288536"/>
            <a:ext cx="10104120" cy="0"/>
          </a:xfrm>
          <a:prstGeom prst="line">
            <a:avLst/>
          </a:prstGeom>
          <a:ln w="6350">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667512" y="4352544"/>
            <a:ext cx="493776"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24777A"/>
                </a:solidFill>
                <a:latin typeface="Arial"/>
              </a:rPr>
              <a:t>[9]</a:t>
            </a:r>
          </a:p>
        </p:txBody>
      </p:sp>
      <p:sp>
        <p:nvSpPr>
          <p:cNvPr id="22" name="TextBox 21"/>
          <p:cNvSpPr txBox="1"/>
          <p:nvPr/>
        </p:nvSpPr>
        <p:spPr>
          <a:xfrm>
            <a:off x="1234440" y="4352544"/>
            <a:ext cx="10085832" cy="521207"/>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1570" b="0">
                <a:solidFill>
                  <a:srgbClr val="173042"/>
                </a:solidFill>
                <a:latin typeface="Arial"/>
              </a:rPr>
              <a:t>de Carvalho Servia, M. Á. et al. (2025). Constraint-Guided Symbolic Regression for Data-Efficient Kinetic Model Discovery. arXiv:2507.02730 (preprint).</a:t>
            </a:r>
          </a:p>
        </p:txBody>
      </p:sp>
      <p:sp>
        <p:nvSpPr>
          <p:cNvPr id="23" name="TextBox 22"/>
          <p:cNvSpPr txBox="1"/>
          <p:nvPr/>
        </p:nvSpPr>
        <p:spPr>
          <a:xfrm>
            <a:off x="1234440" y="4882896"/>
            <a:ext cx="10085832" cy="237744"/>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1220" b="0">
                <a:solidFill>
                  <a:srgbClr val="24777A"/>
                </a:solidFill>
                <a:latin typeface="Arial"/>
                <a:hlinkClick r:id="rId6"/>
              </a:rPr>
              <a:t>https://arxiv.org/abs/2507.02730</a:t>
            </a:r>
          </a:p>
        </p:txBody>
      </p:sp>
      <p:cxnSp>
        <p:nvCxnSpPr>
          <p:cNvPr id="24" name="Connector 23"/>
          <p:cNvCxnSpPr/>
          <p:nvPr/>
        </p:nvCxnSpPr>
        <p:spPr>
          <a:xfrm>
            <a:off x="1234440" y="5148072"/>
            <a:ext cx="10104120" cy="0"/>
          </a:xfrm>
          <a:prstGeom prst="line">
            <a:avLst/>
          </a:prstGeom>
          <a:ln w="6350">
            <a:solidFill>
              <a:srgbClr val="D9E2E5"/>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667512" y="5212079"/>
            <a:ext cx="493776" cy="292608"/>
          </a:xfrm>
          <a:prstGeom prst="rect">
            <a:avLst/>
          </a:prstGeom>
          <a:noFill/>
          <a:effectLst/>
        </p:spPr>
        <p:txBody>
          <a:bodyPr wrap="square" lIns="0" tIns="0" rIns="0" bIns="0" anchor="t">
            <a:noAutofit/>
          </a:bodyPr>
          <a:lstStyle/>
          <a:p>
            <a:pPr algn="l">
              <a:lnSpc>
                <a:spcPct val="113000"/>
              </a:lnSpc>
              <a:spcBef>
                <a:spcPts val="0"/>
              </a:spcBef>
              <a:spcAft>
                <a:spcPts val="0"/>
              </a:spcAft>
            </a:pPr>
            <a:r>
              <a:rPr lang="en-GB" sz="1600" b="1">
                <a:solidFill>
                  <a:srgbClr val="24777A"/>
                </a:solidFill>
                <a:latin typeface="Arial"/>
              </a:rPr>
              <a:t>[10]</a:t>
            </a:r>
          </a:p>
        </p:txBody>
      </p:sp>
      <p:sp>
        <p:nvSpPr>
          <p:cNvPr id="26" name="TextBox 25"/>
          <p:cNvSpPr txBox="1"/>
          <p:nvPr/>
        </p:nvSpPr>
        <p:spPr>
          <a:xfrm>
            <a:off x="1234440" y="5212079"/>
            <a:ext cx="10085832" cy="521207"/>
          </a:xfrm>
          <a:prstGeom prst="rect">
            <a:avLst/>
          </a:prstGeom>
          <a:noFill/>
          <a:effectLst/>
        </p:spPr>
        <p:txBody>
          <a:bodyPr wrap="square" lIns="0" tIns="0" rIns="0" bIns="0" anchor="t">
            <a:noAutofit/>
          </a:bodyPr>
          <a:lstStyle/>
          <a:p>
            <a:pPr algn="l">
              <a:lnSpc>
                <a:spcPct val="102000"/>
              </a:lnSpc>
              <a:spcBef>
                <a:spcPts val="0"/>
              </a:spcBef>
              <a:spcAft>
                <a:spcPts val="0"/>
              </a:spcAft>
            </a:pPr>
            <a:r>
              <a:rPr lang="en-GB" sz="1570" b="0">
                <a:solidFill>
                  <a:srgbClr val="173042"/>
                </a:solidFill>
                <a:latin typeface="Arial"/>
              </a:rPr>
              <a:t>NIST. CODATA value: Faraday constant.</a:t>
            </a:r>
          </a:p>
        </p:txBody>
      </p:sp>
      <p:sp>
        <p:nvSpPr>
          <p:cNvPr id="27" name="TextBox 26"/>
          <p:cNvSpPr txBox="1"/>
          <p:nvPr/>
        </p:nvSpPr>
        <p:spPr>
          <a:xfrm>
            <a:off x="1234440" y="5742431"/>
            <a:ext cx="10085832" cy="237744"/>
          </a:xfrm>
          <a:prstGeom prst="rect">
            <a:avLst/>
          </a:prstGeom>
          <a:noFill/>
          <a:effectLst/>
        </p:spPr>
        <p:txBody>
          <a:bodyPr wrap="square" lIns="0" tIns="0" rIns="0" bIns="0" anchor="t">
            <a:noAutofit/>
          </a:bodyPr>
          <a:lstStyle/>
          <a:p>
            <a:pPr algn="l">
              <a:lnSpc>
                <a:spcPct val="100000"/>
              </a:lnSpc>
              <a:spcBef>
                <a:spcPts val="0"/>
              </a:spcBef>
              <a:spcAft>
                <a:spcPts val="0"/>
              </a:spcAft>
            </a:pPr>
            <a:r>
              <a:rPr lang="en-GB" sz="1220" b="0">
                <a:solidFill>
                  <a:srgbClr val="24777A"/>
                </a:solidFill>
                <a:latin typeface="Arial"/>
                <a:hlinkClick r:id="rId7"/>
              </a:rPr>
              <a:t>https://physics.nist.gov/cgi-bin/cuu/Value?eqf=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13599</Words>
  <Application>Microsoft Macintosh PowerPoint</Application>
  <PresentationFormat>宽屏</PresentationFormat>
  <Paragraphs>1121</Paragraphs>
  <Slides>59</Slides>
  <Notes>59</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59</vt:i4>
      </vt:variant>
    </vt:vector>
  </HeadingPairs>
  <TitlesOfParts>
    <vt:vector size="64" baseType="lpstr">
      <vt:lpstr>DejaVu Sans Mono</vt:lpstr>
      <vt:lpstr>Arial</vt:lpstr>
      <vt:lpstr>Calibri</vt:lpstr>
      <vt:lpstr>Cambria Math</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Symbolic regression for chemical engineering: from data to interpretable surrogate models</dc:title>
  <dc:subject>Undergraduate teaching: principles, a reproducible Peaks example and an illustrative green-methanol system</dc:subject>
  <dc:creator>Yuanjing Zhao</dc:creator>
  <cp:keywords>symbolic regression; surrogate modelling; chemical engineering; Peaks; green methanol; native equations</cp:keywords>
  <dc:description>British English. Equations are native editable Office Math (OMML), not screenshots. See speaker notes for derivations, caveats and sources.</dc:description>
  <cp:lastModifiedBy>Zhao, Yuanjing (PG/R - Chemistry &amp; Chem Eng)</cp:lastModifiedBy>
  <cp:revision>1</cp:revision>
  <dcterms:created xsi:type="dcterms:W3CDTF">2013-01-27T09:14:16Z</dcterms:created>
  <dcterms:modified xsi:type="dcterms:W3CDTF">2026-10-09T21:25:45Z</dcterms:modified>
  <cp:category/>
</cp:coreProperties>
</file>